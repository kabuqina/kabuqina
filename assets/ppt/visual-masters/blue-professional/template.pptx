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69720ec65c45f1" /><Relationship Type="http://schemas.openxmlformats.org/officeDocument/2006/relationships/extended-properties" Target="/docProps/app.xml" Id="R34c315ef884e4080" /><Relationship Type="http://schemas.openxmlformats.org/officeDocument/2006/relationships/officeDocument" Target="/ppt/presentation.xml" Id="R7ab5ffc5c905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816313670348a5"/>
  </p:sldMasterIdLst>
  <p:notesMasterIdLst>
    <p:notesMasterId xmlns:r="http://schemas.openxmlformats.org/officeDocument/2006/relationships" r:id="Rb373b02d6fa14ae5"/>
  </p:notesMasterIdLst>
  <p:sldIdLst>
    <p:sldId xmlns:r="http://schemas.openxmlformats.org/officeDocument/2006/relationships" id="256" r:id="Rab257c4919f54afa"/>
    <p:sldId xmlns:r="http://schemas.openxmlformats.org/officeDocument/2006/relationships" id="257" r:id="R932e7a0957174648"/>
    <p:sldId xmlns:r="http://schemas.openxmlformats.org/officeDocument/2006/relationships" id="258" r:id="Re8807bd250fd4593"/>
    <p:sldId xmlns:r="http://schemas.openxmlformats.org/officeDocument/2006/relationships" id="259" r:id="R3ebdd6629f7a4227"/>
    <p:sldId xmlns:r="http://schemas.openxmlformats.org/officeDocument/2006/relationships" id="260" r:id="R3bd6d027d8ca4a1c"/>
    <p:sldId xmlns:r="http://schemas.openxmlformats.org/officeDocument/2006/relationships" id="261" r:id="R42e27aac37274f12"/>
    <p:sldId xmlns:r="http://schemas.openxmlformats.org/officeDocument/2006/relationships" id="262" r:id="R4f4df4cdb0394484"/>
    <p:sldId xmlns:r="http://schemas.openxmlformats.org/officeDocument/2006/relationships" id="263" r:id="Rb47b16e6c66b41c1"/>
    <p:sldId xmlns:r="http://schemas.openxmlformats.org/officeDocument/2006/relationships" id="264" r:id="R36b3725703d64837"/>
    <p:sldId xmlns:r="http://schemas.openxmlformats.org/officeDocument/2006/relationships" id="265" r:id="Ra5b78da9b21941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e5078272bd4671" /><Relationship Type="http://schemas.openxmlformats.org/officeDocument/2006/relationships/slideMaster" Target="/ppt/slideMasters/slideMaster1.xml" Id="R46816313670348a5" /><Relationship Type="http://schemas.openxmlformats.org/officeDocument/2006/relationships/notesMaster" Target="/ppt/notesMasters/notesMaster1.xml" Id="Rb373b02d6fa14ae5" /><Relationship Type="http://schemas.openxmlformats.org/officeDocument/2006/relationships/presProps" Target="/ppt/presProps.xml" Id="R38981ebce0c04e9c" /><Relationship Type="http://schemas.openxmlformats.org/officeDocument/2006/relationships/viewProps" Target="/ppt/viewProps.xml" Id="R497dd45e997148c4" /><Relationship Type="http://schemas.openxmlformats.org/officeDocument/2006/relationships/tableStyles" Target="/ppt/tableStyles.xml" Id="Rba243236e2344e47" /><Relationship Type="http://schemas.openxmlformats.org/officeDocument/2006/relationships/slide" Target="/ppt/slides/slide1.xml" Id="Rab257c4919f54afa" /><Relationship Type="http://schemas.openxmlformats.org/officeDocument/2006/relationships/slide" Target="/ppt/slides/slide2.xml" Id="R932e7a0957174648" /><Relationship Type="http://schemas.openxmlformats.org/officeDocument/2006/relationships/slide" Target="/ppt/slides/slide3.xml" Id="Re8807bd250fd4593" /><Relationship Type="http://schemas.openxmlformats.org/officeDocument/2006/relationships/slide" Target="/ppt/slides/slide4.xml" Id="R3ebdd6629f7a4227" /><Relationship Type="http://schemas.openxmlformats.org/officeDocument/2006/relationships/slide" Target="/ppt/slides/slide5.xml" Id="R3bd6d027d8ca4a1c" /><Relationship Type="http://schemas.openxmlformats.org/officeDocument/2006/relationships/slide" Target="/ppt/slides/slide6.xml" Id="R42e27aac37274f12" /><Relationship Type="http://schemas.openxmlformats.org/officeDocument/2006/relationships/slide" Target="/ppt/slides/slide7.xml" Id="R4f4df4cdb0394484" /><Relationship Type="http://schemas.openxmlformats.org/officeDocument/2006/relationships/slide" Target="/ppt/slides/slide8.xml" Id="Rb47b16e6c66b41c1" /><Relationship Type="http://schemas.openxmlformats.org/officeDocument/2006/relationships/slide" Target="/ppt/slides/slide9.xml" Id="R36b3725703d64837" /><Relationship Type="http://schemas.openxmlformats.org/officeDocument/2006/relationships/slide" Target="/ppt/slides/slide10.xml" Id="Ra5b78da9b21941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79f5461efb48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9a33313b544400" /><Relationship Type="http://schemas.openxmlformats.org/officeDocument/2006/relationships/notesMaster" Target="/ppt/notesMasters/notesMaster1.xml" Id="R87ac4c899b0e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b9f0e535984d02" /><Relationship Type="http://schemas.openxmlformats.org/officeDocument/2006/relationships/notesMaster" Target="/ppt/notesMasters/notesMaster1.xml" Id="R3220d4ddae0d49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dc67b0f05415c" /><Relationship Type="http://schemas.openxmlformats.org/officeDocument/2006/relationships/notesMaster" Target="/ppt/notesMasters/notesMaster1.xml" Id="R6e74af75a6e644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93b1a6d9974208" /><Relationship Type="http://schemas.openxmlformats.org/officeDocument/2006/relationships/notesMaster" Target="/ppt/notesMasters/notesMaster1.xml" Id="Rdba96674d15849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126ea59dd4e98" /><Relationship Type="http://schemas.openxmlformats.org/officeDocument/2006/relationships/notesMaster" Target="/ppt/notesMasters/notesMaster1.xml" Id="R280d3fc3f9f946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4e4e0016014635" /><Relationship Type="http://schemas.openxmlformats.org/officeDocument/2006/relationships/notesMaster" Target="/ppt/notesMasters/notesMaster1.xml" Id="R5a4781f3352a45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6705b2bc7d419c" /><Relationship Type="http://schemas.openxmlformats.org/officeDocument/2006/relationships/notesMaster" Target="/ppt/notesMasters/notesMaster1.xml" Id="R6ca9e2e9ffc346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1b0cb0d1434bab" /><Relationship Type="http://schemas.openxmlformats.org/officeDocument/2006/relationships/notesMaster" Target="/ppt/notesMasters/notesMaster1.xml" Id="R9a7b0a9ab2194f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dfb7a782cc46ce" /><Relationship Type="http://schemas.openxmlformats.org/officeDocument/2006/relationships/notesMaster" Target="/ppt/notesMasters/notesMaster1.xml" Id="R4db7cb987e2749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ca83d91af547ef" /><Relationship Type="http://schemas.openxmlformats.org/officeDocument/2006/relationships/notesMaster" Target="/ppt/notesMasters/notesMaster1.xml" Id="R41c6eedae8cf41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3ca3e7d764b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7565cd3484aee" /><Relationship Type="http://schemas.openxmlformats.org/officeDocument/2006/relationships/slideLayout" Target="/ppt/slideLayouts/slideLayout1.xml" Id="Rec128e4bd4f249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128e4bd4f249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27ae37a1440a" /><Relationship Type="http://schemas.openxmlformats.org/officeDocument/2006/relationships/image" Target="/ppt/media/image.png" Id="R17ced21c61a944c2" /><Relationship Type="http://schemas.openxmlformats.org/officeDocument/2006/relationships/notesSlide" Target="/ppt/notesSlides/notesSlide1.xml" Id="R8d7834aba3144b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e9fd9ac464b34" /><Relationship Type="http://schemas.openxmlformats.org/officeDocument/2006/relationships/image" Target="/ppt/media/image2.png" Id="R3207f558119b4052" /><Relationship Type="http://schemas.openxmlformats.org/officeDocument/2006/relationships/notesSlide" Target="/ppt/notesSlides/notesSlide2.xml" Id="Re234746b2fd44d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3fe2a7a644e4f" /><Relationship Type="http://schemas.openxmlformats.org/officeDocument/2006/relationships/image" Target="/ppt/media/image3.png" Id="Rfaa07e4f5b944400" /><Relationship Type="http://schemas.openxmlformats.org/officeDocument/2006/relationships/notesSlide" Target="/ppt/notesSlides/notesSlide3.xml" Id="Rb5359ad7ddfd44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973a9508f4501" /><Relationship Type="http://schemas.openxmlformats.org/officeDocument/2006/relationships/image" Target="/ppt/media/image4.png" Id="R9fdaafa5692f4aac" /><Relationship Type="http://schemas.openxmlformats.org/officeDocument/2006/relationships/notesSlide" Target="/ppt/notesSlides/notesSlide4.xml" Id="Rdbef07cda5be4e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465b5d9884b8e" /><Relationship Type="http://schemas.openxmlformats.org/officeDocument/2006/relationships/image" Target="/ppt/media/image5.png" Id="R4f4fa60511be4b52" /><Relationship Type="http://schemas.openxmlformats.org/officeDocument/2006/relationships/notesSlide" Target="/ppt/notesSlides/notesSlide5.xml" Id="R9423a23c95044b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bf191b1e24828" /><Relationship Type="http://schemas.openxmlformats.org/officeDocument/2006/relationships/image" Target="/ppt/media/image6.png" Id="Re0f9d0a420094ee8" /><Relationship Type="http://schemas.openxmlformats.org/officeDocument/2006/relationships/notesSlide" Target="/ppt/notesSlides/notesSlide6.xml" Id="R33f0775fb6544b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d1a9f558e4f5c" /><Relationship Type="http://schemas.openxmlformats.org/officeDocument/2006/relationships/image" Target="/ppt/media/image7.png" Id="R77714ff8bd494e41" /><Relationship Type="http://schemas.openxmlformats.org/officeDocument/2006/relationships/notesSlide" Target="/ppt/notesSlides/notesSlide7.xml" Id="Rc2b04b754fe143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8869d0b0a476d" /><Relationship Type="http://schemas.openxmlformats.org/officeDocument/2006/relationships/image" Target="/ppt/media/image8.png" Id="R4fc79abee721423c" /><Relationship Type="http://schemas.openxmlformats.org/officeDocument/2006/relationships/notesSlide" Target="/ppt/notesSlides/notesSlide8.xml" Id="Rec1470ce09e446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49c9776a415a" /><Relationship Type="http://schemas.openxmlformats.org/officeDocument/2006/relationships/image" Target="/ppt/media/image9.png" Id="Rf2fea5355f5f4ebe" /><Relationship Type="http://schemas.openxmlformats.org/officeDocument/2006/relationships/notesSlide" Target="/ppt/notesSlides/notesSlide9.xml" Id="R9aa3f4c149144b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fcfcb3629480c" /><Relationship Type="http://schemas.openxmlformats.org/officeDocument/2006/relationships/image" Target="/ppt/media/image10.png" Id="R78347aea742e4143" /><Relationship Type="http://schemas.openxmlformats.org/officeDocument/2006/relationships/notesSlide" Target="/ppt/notesSlides/notesSlide10.xml" Id="R529bebdfa5074b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ed21c61a944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1-01">
            <a:extLst xmlns:a="http://schemas.openxmlformats.org/drawingml/2006/main">
              <a:ext uri="{FF2B5EF4-FFF2-40B4-BE49-F238E27FC236}">
                <a16:creationId xmlns:a16="http://schemas.microsoft.com/office/drawing/2014/main" id="{AF2C2F44-133A-4413-A77C-3900AD68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2352961"/>
            <a:ext cx="4136612" cy="6984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4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454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Market Outlook &amp;</a:t>
            </a:r>
          </a:p>
        </p:txBody>
      </p:sp>
      <p:sp>
        <p:nvSpPr>
          <p:cNvPr id="3" name="editable-text-01-02">
            <a:extLst xmlns:a="http://schemas.openxmlformats.org/drawingml/2006/main">
              <a:ext uri="{FF2B5EF4-FFF2-40B4-BE49-F238E27FC236}">
                <a16:creationId xmlns:a16="http://schemas.microsoft.com/office/drawing/2014/main" id="{8EC7714B-9D96-4728-AAF3-B0D61D56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2891600"/>
            <a:ext cx="4507135" cy="6984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4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454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Strategic Priorities</a:t>
            </a:r>
          </a:p>
        </p:txBody>
      </p:sp>
      <p:sp>
        <p:nvSpPr>
          <p:cNvPr id="4" name="editable-text-01-03">
            <a:extLst xmlns:a="http://schemas.openxmlformats.org/drawingml/2006/main">
              <a:ext uri="{FF2B5EF4-FFF2-40B4-BE49-F238E27FC236}">
                <a16:creationId xmlns:a16="http://schemas.microsoft.com/office/drawing/2014/main" id="{5C80F03F-3704-4CD0-B92A-446B6D8F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3652552"/>
            <a:ext cx="4764977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An analytical overview of emerging trends, shifting investor sentiment, and the key decisions shaping the next growth cycle.</a:t>
            </a:r>
          </a:p>
        </p:txBody>
      </p:sp>
      <p:sp>
        <p:nvSpPr>
          <p:cNvPr id="5" name="editable-text-01-04">
            <a:extLst xmlns:a="http://schemas.openxmlformats.org/drawingml/2006/main">
              <a:ext uri="{FF2B5EF4-FFF2-40B4-BE49-F238E27FC236}">
                <a16:creationId xmlns:a16="http://schemas.microsoft.com/office/drawing/2014/main" id="{548B66DD-3CB9-4974-9657-B5E46BA6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4305014"/>
            <a:ext cx="1685735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Q2 2026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83205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7f558119b40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2-01">
            <a:extLst xmlns:a="http://schemas.openxmlformats.org/drawingml/2006/main">
              <a:ext uri="{FF2B5EF4-FFF2-40B4-BE49-F238E27FC236}">
                <a16:creationId xmlns:a16="http://schemas.microsoft.com/office/drawing/2014/main" id="{6EB6DC64-F803-4E86-A710-C4BD0F5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7576"/>
            <a:ext cx="1153192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Table of Contents</a:t>
            </a:r>
          </a:p>
        </p:txBody>
      </p:sp>
      <p:sp>
        <p:nvSpPr>
          <p:cNvPr id="3" name="editable-text-02-02">
            <a:extLst xmlns:a="http://schemas.openxmlformats.org/drawingml/2006/main">
              <a:ext uri="{FF2B5EF4-FFF2-40B4-BE49-F238E27FC236}">
                <a16:creationId xmlns:a16="http://schemas.microsoft.com/office/drawing/2014/main" id="{BB1B6F8D-45FE-4D9D-8A1E-6FD4DBBE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873" y="419481"/>
            <a:ext cx="479203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Overview</a:t>
            </a:r>
          </a:p>
        </p:txBody>
      </p:sp>
      <p:sp>
        <p:nvSpPr>
          <p:cNvPr id="4" name="editable-text-02-03">
            <a:extLst xmlns:a="http://schemas.openxmlformats.org/drawingml/2006/main">
              <a:ext uri="{FF2B5EF4-FFF2-40B4-BE49-F238E27FC236}">
                <a16:creationId xmlns:a16="http://schemas.microsoft.com/office/drawing/2014/main" id="{E92B2884-4B42-4925-ACDD-F3DE89FF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48" y="1727645"/>
            <a:ext cx="300704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01</a:t>
            </a:r>
          </a:p>
        </p:txBody>
      </p:sp>
      <p:sp>
        <p:nvSpPr>
          <p:cNvPr id="5" name="editable-text-02-04">
            <a:extLst xmlns:a="http://schemas.openxmlformats.org/drawingml/2006/main">
              <a:ext uri="{FF2B5EF4-FFF2-40B4-BE49-F238E27FC236}">
                <a16:creationId xmlns:a16="http://schemas.microsoft.com/office/drawing/2014/main" id="{3F5E40FB-CAD1-41E1-8D0E-E5898A8F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15" y="1567339"/>
            <a:ext cx="1807178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Executive Summary</a:t>
            </a:r>
          </a:p>
        </p:txBody>
      </p:sp>
      <p:sp>
        <p:nvSpPr>
          <p:cNvPr id="6" name="editable-text-02-05">
            <a:extLst xmlns:a="http://schemas.openxmlformats.org/drawingml/2006/main">
              <a:ext uri="{FF2B5EF4-FFF2-40B4-BE49-F238E27FC236}">
                <a16:creationId xmlns:a16="http://schemas.microsoft.com/office/drawing/2014/main" id="{0F7257BD-A0D3-4265-AD2B-5F6EE60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315" y="1855089"/>
            <a:ext cx="4039172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High-level findings and key takeaways from the latest quarterly assessment.</a:t>
            </a:r>
          </a:p>
        </p:txBody>
      </p:sp>
      <p:sp>
        <p:nvSpPr>
          <p:cNvPr id="7" name="editable-text-02-06">
            <a:extLst xmlns:a="http://schemas.openxmlformats.org/drawingml/2006/main">
              <a:ext uri="{FF2B5EF4-FFF2-40B4-BE49-F238E27FC236}">
                <a16:creationId xmlns:a16="http://schemas.microsoft.com/office/drawing/2014/main" id="{3408C21D-1E5F-428E-B6C6-6A694C81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368" y="1727645"/>
            <a:ext cx="334613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02</a:t>
            </a:r>
          </a:p>
        </p:txBody>
      </p:sp>
      <p:sp>
        <p:nvSpPr>
          <p:cNvPr id="8" name="editable-text-02-07">
            <a:extLst xmlns:a="http://schemas.openxmlformats.org/drawingml/2006/main">
              <a:ext uri="{FF2B5EF4-FFF2-40B4-BE49-F238E27FC236}">
                <a16:creationId xmlns:a16="http://schemas.microsoft.com/office/drawing/2014/main" id="{42316E0C-09B8-46B7-80BA-4A6EF860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78" y="1567339"/>
            <a:ext cx="2459641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Macroeconomic Sentiment</a:t>
            </a:r>
          </a:p>
        </p:txBody>
      </p:sp>
      <p:sp>
        <p:nvSpPr>
          <p:cNvPr id="9" name="editable-text-02-08">
            <a:extLst xmlns:a="http://schemas.openxmlformats.org/drawingml/2006/main">
              <a:ext uri="{FF2B5EF4-FFF2-40B4-BE49-F238E27FC236}">
                <a16:creationId xmlns:a16="http://schemas.microsoft.com/office/drawing/2014/main" id="{C60B45DA-E38D-421C-B1D6-59708E8C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78" y="1855089"/>
            <a:ext cx="4604195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Investor perspectives on growth, inflation, and risk factors in the current environment.</a:t>
            </a:r>
          </a:p>
        </p:txBody>
      </p:sp>
      <p:sp>
        <p:nvSpPr>
          <p:cNvPr id="10" name="editable-text-02-09">
            <a:extLst xmlns:a="http://schemas.openxmlformats.org/drawingml/2006/main">
              <a:ext uri="{FF2B5EF4-FFF2-40B4-BE49-F238E27FC236}">
                <a16:creationId xmlns:a16="http://schemas.microsoft.com/office/drawing/2014/main" id="{FC8D132B-CEC0-4CEA-9B9E-7430338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48" y="3527298"/>
            <a:ext cx="337947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03</a:t>
            </a:r>
          </a:p>
        </p:txBody>
      </p:sp>
      <p:sp>
        <p:nvSpPr>
          <p:cNvPr id="11" name="editable-text-02-10">
            <a:extLst xmlns:a="http://schemas.openxmlformats.org/drawingml/2006/main">
              <a:ext uri="{FF2B5EF4-FFF2-40B4-BE49-F238E27FC236}">
                <a16:creationId xmlns:a16="http://schemas.microsoft.com/office/drawing/2014/main" id="{2CDD5D6B-8C1B-45BE-A11F-C41A5DBF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09" y="3367088"/>
            <a:ext cx="2251139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Capital Allocation Trends</a:t>
            </a:r>
          </a:p>
        </p:txBody>
      </p:sp>
      <p:sp>
        <p:nvSpPr>
          <p:cNvPr id="12" name="editable-text-02-11">
            <a:extLst xmlns:a="http://schemas.openxmlformats.org/drawingml/2006/main">
              <a:ext uri="{FF2B5EF4-FFF2-40B4-BE49-F238E27FC236}">
                <a16:creationId xmlns:a16="http://schemas.microsoft.com/office/drawing/2014/main" id="{539DB421-BFDE-4D6C-A421-346617E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09" y="3654838"/>
            <a:ext cx="4469987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How portfolios are shifting in response to policy changes and volatility signals.</a:t>
            </a:r>
          </a:p>
        </p:txBody>
      </p:sp>
      <p:sp>
        <p:nvSpPr>
          <p:cNvPr id="13" name="editable-text-02-12">
            <a:extLst xmlns:a="http://schemas.openxmlformats.org/drawingml/2006/main">
              <a:ext uri="{FF2B5EF4-FFF2-40B4-BE49-F238E27FC236}">
                <a16:creationId xmlns:a16="http://schemas.microsoft.com/office/drawing/2014/main" id="{1CC44011-4D10-4801-9B05-3BC51481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368" y="3527298"/>
            <a:ext cx="344615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04</a:t>
            </a:r>
          </a:p>
        </p:txBody>
      </p:sp>
      <p:sp>
        <p:nvSpPr>
          <p:cNvPr id="14" name="editable-text-02-13">
            <a:extLst xmlns:a="http://schemas.openxmlformats.org/drawingml/2006/main">
              <a:ext uri="{FF2B5EF4-FFF2-40B4-BE49-F238E27FC236}">
                <a16:creationId xmlns:a16="http://schemas.microsoft.com/office/drawing/2014/main" id="{015FFC28-13A1-4CE3-8D38-9408197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755" y="3367088"/>
            <a:ext cx="2593753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Strategic Recommendations</a:t>
            </a:r>
          </a:p>
        </p:txBody>
      </p:sp>
      <p:sp>
        <p:nvSpPr>
          <p:cNvPr id="15" name="editable-text-02-14">
            <a:extLst xmlns:a="http://schemas.openxmlformats.org/drawingml/2006/main">
              <a:ext uri="{FF2B5EF4-FFF2-40B4-BE49-F238E27FC236}">
                <a16:creationId xmlns:a16="http://schemas.microsoft.com/office/drawing/2014/main" id="{0825995D-B07F-42C2-8CD1-3B118E08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8755" y="3654838"/>
            <a:ext cx="4164711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Actionable priorities for leadership teams navigating an uncertain landscape.</a:t>
            </a:r>
          </a:p>
        </p:txBody>
      </p:sp>
      <p:sp>
        <p:nvSpPr>
          <p:cNvPr id="16" name="editable-text-02-15">
            <a:extLst xmlns:a="http://schemas.openxmlformats.org/drawingml/2006/main">
              <a:ext uri="{FF2B5EF4-FFF2-40B4-BE49-F238E27FC236}">
                <a16:creationId xmlns:a16="http://schemas.microsoft.com/office/drawing/2014/main" id="{EEFEC7E3-C448-4833-AD40-183AFCC7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48" y="5327047"/>
            <a:ext cx="336042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05</a:t>
            </a:r>
          </a:p>
        </p:txBody>
      </p:sp>
      <p:sp>
        <p:nvSpPr>
          <p:cNvPr id="17" name="editable-text-02-16">
            <a:extLst xmlns:a="http://schemas.openxmlformats.org/drawingml/2006/main">
              <a:ext uri="{FF2B5EF4-FFF2-40B4-BE49-F238E27FC236}">
                <a16:creationId xmlns:a16="http://schemas.microsoft.com/office/drawing/2014/main" id="{D50241F5-4434-4690-B759-05E02C93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" y="5166836"/>
            <a:ext cx="233734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Risk &amp; Opportunity Matrix</a:t>
            </a:r>
          </a:p>
        </p:txBody>
      </p:sp>
      <p:sp>
        <p:nvSpPr>
          <p:cNvPr id="18" name="editable-text-02-17">
            <a:extLst xmlns:a="http://schemas.openxmlformats.org/drawingml/2006/main">
              <a:ext uri="{FF2B5EF4-FFF2-40B4-BE49-F238E27FC236}">
                <a16:creationId xmlns:a16="http://schemas.microsoft.com/office/drawing/2014/main" id="{A4142B1D-843D-4A26-B513-CD6A9E54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02" y="5454587"/>
            <a:ext cx="4474369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Evaluating the trade-offs between defensive positioning and offensive growth bets.</a:t>
            </a:r>
          </a:p>
        </p:txBody>
      </p:sp>
      <p:sp>
        <p:nvSpPr>
          <p:cNvPr id="19" name="editable-text-02-18">
            <a:extLst xmlns:a="http://schemas.openxmlformats.org/drawingml/2006/main">
              <a:ext uri="{FF2B5EF4-FFF2-40B4-BE49-F238E27FC236}">
                <a16:creationId xmlns:a16="http://schemas.microsoft.com/office/drawing/2014/main" id="{8206EC40-1547-48B8-AA2D-FF065182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368" y="5327047"/>
            <a:ext cx="340328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11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06</a:t>
            </a:r>
          </a:p>
        </p:txBody>
      </p:sp>
      <p:sp>
        <p:nvSpPr>
          <p:cNvPr id="20" name="editable-text-02-19">
            <a:extLst xmlns:a="http://schemas.openxmlformats.org/drawingml/2006/main">
              <a:ext uri="{FF2B5EF4-FFF2-40B4-BE49-F238E27FC236}">
                <a16:creationId xmlns:a16="http://schemas.microsoft.com/office/drawing/2014/main" id="{9DB90459-F73A-4413-A32E-A4C22AC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753" y="5166836"/>
            <a:ext cx="2222754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71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Conclusion &amp; Next Steps</a:t>
            </a:r>
          </a:p>
        </p:txBody>
      </p:sp>
      <p:sp>
        <p:nvSpPr>
          <p:cNvPr id="21" name="editable-text-02-20">
            <a:extLst xmlns:a="http://schemas.openxmlformats.org/drawingml/2006/main">
              <a:ext uri="{FF2B5EF4-FFF2-40B4-BE49-F238E27FC236}">
                <a16:creationId xmlns:a16="http://schemas.microsoft.com/office/drawing/2014/main" id="{94E9C973-1A49-4F24-8C27-9AED3D22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753" y="5454587"/>
            <a:ext cx="4185095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Summary of implications and recommended follow-up actions for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7798538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07e4f5b9444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3-01">
            <a:extLst xmlns:a="http://schemas.openxmlformats.org/drawingml/2006/main">
              <a:ext uri="{FF2B5EF4-FFF2-40B4-BE49-F238E27FC236}">
                <a16:creationId xmlns:a16="http://schemas.microsoft.com/office/drawing/2014/main" id="{068C5A89-304F-425E-8197-F35272F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7576"/>
            <a:ext cx="1217486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Executive Summary</a:t>
            </a:r>
          </a:p>
        </p:txBody>
      </p:sp>
      <p:sp>
        <p:nvSpPr>
          <p:cNvPr id="3" name="editable-text-03-02">
            <a:extLst xmlns:a="http://schemas.openxmlformats.org/drawingml/2006/main">
              <a:ext uri="{FF2B5EF4-FFF2-40B4-BE49-F238E27FC236}">
                <a16:creationId xmlns:a16="http://schemas.microsoft.com/office/drawing/2014/main" id="{8057D869-138D-481B-82A4-CAA51F5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183" y="419481"/>
            <a:ext cx="661892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Key Findings</a:t>
            </a:r>
          </a:p>
        </p:txBody>
      </p:sp>
      <p:sp>
        <p:nvSpPr>
          <p:cNvPr id="4" name="editable-text-03-03">
            <a:extLst xmlns:a="http://schemas.openxmlformats.org/drawingml/2006/main">
              <a:ext uri="{FF2B5EF4-FFF2-40B4-BE49-F238E27FC236}">
                <a16:creationId xmlns:a16="http://schemas.microsoft.com/office/drawing/2014/main" id="{411B0CA9-8380-45DE-8698-4DF429EA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728091"/>
            <a:ext cx="8823579" cy="463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Sentiment has shifted measurably from the prior quarter</a:t>
            </a:r>
          </a:p>
        </p:txBody>
      </p:sp>
      <p:sp>
        <p:nvSpPr>
          <p:cNvPr id="5" name="editable-text-03-04">
            <a:extLst xmlns:a="http://schemas.openxmlformats.org/drawingml/2006/main">
              <a:ext uri="{FF2B5EF4-FFF2-40B4-BE49-F238E27FC236}">
                <a16:creationId xmlns:a16="http://schemas.microsoft.com/office/drawing/2014/main" id="{6B553ADE-D86D-4560-A6AB-2F154A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1431131"/>
            <a:ext cx="783336" cy="533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3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343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73%</a:t>
            </a:r>
          </a:p>
        </p:txBody>
      </p:sp>
      <p:sp>
        <p:nvSpPr>
          <p:cNvPr id="6" name="editable-text-03-05">
            <a:extLst xmlns:a="http://schemas.openxmlformats.org/drawingml/2006/main">
              <a:ext uri="{FF2B5EF4-FFF2-40B4-BE49-F238E27FC236}">
                <a16:creationId xmlns:a16="http://schemas.microsoft.com/office/drawing/2014/main" id="{A1D0A752-B860-4ACE-A5B5-C33F0986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1941100"/>
            <a:ext cx="173917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80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Bullish on three-year outlook</a:t>
            </a:r>
          </a:p>
        </p:txBody>
      </p:sp>
      <p:sp>
        <p:nvSpPr>
          <p:cNvPr id="7" name="editable-text-03-06">
            <a:extLst xmlns:a="http://schemas.openxmlformats.org/drawingml/2006/main">
              <a:ext uri="{FF2B5EF4-FFF2-40B4-BE49-F238E27FC236}">
                <a16:creationId xmlns:a16="http://schemas.microsoft.com/office/drawing/2014/main" id="{9755FC56-3B7D-4E4A-A86B-5A96DF39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2173605"/>
            <a:ext cx="3203067" cy="5508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An all-time series high, reflecting renewed confidence in medium-term fundamentals despite near-term uncertainty.</a:t>
            </a:r>
          </a:p>
        </p:txBody>
      </p:sp>
      <p:sp>
        <p:nvSpPr>
          <p:cNvPr id="8" name="editable-text-03-07">
            <a:extLst xmlns:a="http://schemas.openxmlformats.org/drawingml/2006/main">
              <a:ext uri="{FF2B5EF4-FFF2-40B4-BE49-F238E27FC236}">
                <a16:creationId xmlns:a16="http://schemas.microsoft.com/office/drawing/2014/main" id="{3172E259-E4F2-4D7D-B396-25921C14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67" y="2873312"/>
            <a:ext cx="2785110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Highest reading since the survey began in 2018</a:t>
            </a:r>
          </a:p>
        </p:txBody>
      </p:sp>
      <p:sp>
        <p:nvSpPr>
          <p:cNvPr id="9" name="editable-text-03-08">
            <a:extLst xmlns:a="http://schemas.openxmlformats.org/drawingml/2006/main">
              <a:ext uri="{FF2B5EF4-FFF2-40B4-BE49-F238E27FC236}">
                <a16:creationId xmlns:a16="http://schemas.microsoft.com/office/drawing/2014/main" id="{36884037-D37C-4CA8-9FCC-E326E6D6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67" y="3386042"/>
            <a:ext cx="3110389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Cross-sector consensus, led by tech and industrials</a:t>
            </a:r>
          </a:p>
        </p:txBody>
      </p:sp>
      <p:sp>
        <p:nvSpPr>
          <p:cNvPr id="10" name="editable-text-03-09">
            <a:extLst xmlns:a="http://schemas.openxmlformats.org/drawingml/2006/main">
              <a:ext uri="{FF2B5EF4-FFF2-40B4-BE49-F238E27FC236}">
                <a16:creationId xmlns:a16="http://schemas.microsoft.com/office/drawing/2014/main" id="{F102B001-7BBC-4BE4-A171-97AB6917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67" y="3898773"/>
            <a:ext cx="3249740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Driven by clarity on rate trajectory and AI capex</a:t>
            </a:r>
          </a:p>
        </p:txBody>
      </p:sp>
      <p:sp>
        <p:nvSpPr>
          <p:cNvPr id="11" name="editable-text-03-10">
            <a:extLst xmlns:a="http://schemas.openxmlformats.org/drawingml/2006/main">
              <a:ext uri="{FF2B5EF4-FFF2-40B4-BE49-F238E27FC236}">
                <a16:creationId xmlns:a16="http://schemas.microsoft.com/office/drawing/2014/main" id="{F6F1D2C9-1C17-4934-B15B-ED72187A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4461034"/>
            <a:ext cx="121349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↑</a:t>
            </a:r>
          </a:p>
        </p:txBody>
      </p:sp>
      <p:sp>
        <p:nvSpPr>
          <p:cNvPr id="12" name="editable-text-03-11">
            <a:extLst xmlns:a="http://schemas.openxmlformats.org/drawingml/2006/main">
              <a:ext uri="{FF2B5EF4-FFF2-40B4-BE49-F238E27FC236}">
                <a16:creationId xmlns:a16="http://schemas.microsoft.com/office/drawing/2014/main" id="{F22F0201-FA06-4E2E-87E0-2DDDFEBF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9" y="4461034"/>
            <a:ext cx="1563624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+11 pts vs. prior quarter</a:t>
            </a:r>
          </a:p>
        </p:txBody>
      </p:sp>
      <p:sp>
        <p:nvSpPr>
          <p:cNvPr id="13" name="editable-text-03-12">
            <a:extLst xmlns:a="http://schemas.openxmlformats.org/drawingml/2006/main">
              <a:ext uri="{FF2B5EF4-FFF2-40B4-BE49-F238E27FC236}">
                <a16:creationId xmlns:a16="http://schemas.microsoft.com/office/drawing/2014/main" id="{5D8E1C2A-616E-47CF-9FDD-B0FB183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647" y="1431131"/>
            <a:ext cx="798100" cy="533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3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343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55%</a:t>
            </a:r>
          </a:p>
        </p:txBody>
      </p:sp>
      <p:sp>
        <p:nvSpPr>
          <p:cNvPr id="14" name="editable-text-03-13">
            <a:extLst xmlns:a="http://schemas.openxmlformats.org/drawingml/2006/main">
              <a:ext uri="{FF2B5EF4-FFF2-40B4-BE49-F238E27FC236}">
                <a16:creationId xmlns:a16="http://schemas.microsoft.com/office/drawing/2014/main" id="{8A87C91A-9600-4724-9B09-EC43848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647" y="1941100"/>
            <a:ext cx="2032064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80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Expect recession before year-end</a:t>
            </a:r>
          </a:p>
        </p:txBody>
      </p:sp>
      <p:sp>
        <p:nvSpPr>
          <p:cNvPr id="15" name="editable-text-03-14">
            <a:extLst xmlns:a="http://schemas.openxmlformats.org/drawingml/2006/main">
              <a:ext uri="{FF2B5EF4-FFF2-40B4-BE49-F238E27FC236}">
                <a16:creationId xmlns:a16="http://schemas.microsoft.com/office/drawing/2014/main" id="{CDCCD58C-B807-4D18-A88F-FA500DF0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647" y="2173605"/>
            <a:ext cx="3322034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Down significantly from the prior reading, indicating easing fears of a severe or prolonged contraction.</a:t>
            </a:r>
          </a:p>
        </p:txBody>
      </p:sp>
      <p:sp>
        <p:nvSpPr>
          <p:cNvPr id="16" name="editable-text-03-15">
            <a:extLst xmlns:a="http://schemas.openxmlformats.org/drawingml/2006/main">
              <a:ext uri="{FF2B5EF4-FFF2-40B4-BE49-F238E27FC236}">
                <a16:creationId xmlns:a16="http://schemas.microsoft.com/office/drawing/2014/main" id="{215934E8-B898-47DB-9AB1-5582F1C7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278" y="2696242"/>
            <a:ext cx="3112008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Soft-landing scenario now the modal expectation</a:t>
            </a:r>
          </a:p>
        </p:txBody>
      </p:sp>
      <p:sp>
        <p:nvSpPr>
          <p:cNvPr id="17" name="editable-text-03-16">
            <a:extLst xmlns:a="http://schemas.openxmlformats.org/drawingml/2006/main">
              <a:ext uri="{FF2B5EF4-FFF2-40B4-BE49-F238E27FC236}">
                <a16:creationId xmlns:a16="http://schemas.microsoft.com/office/drawing/2014/main" id="{978CCC2D-9BDB-445D-B996-4CB456EB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278" y="3209068"/>
            <a:ext cx="3275552" cy="2540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Median timeline pushed from Q2 to Q4</a:t>
            </a:r>
          </a:p>
        </p:txBody>
      </p:sp>
      <p:sp>
        <p:nvSpPr>
          <p:cNvPr id="18" name="editable-text-03-17">
            <a:extLst xmlns:a="http://schemas.openxmlformats.org/drawingml/2006/main">
              <a:ext uri="{FF2B5EF4-FFF2-40B4-BE49-F238E27FC236}">
                <a16:creationId xmlns:a16="http://schemas.microsoft.com/office/drawing/2014/main" id="{CC6BAC5B-06E4-405C-960A-A7E2F765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278" y="3488246"/>
            <a:ext cx="3191542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Severity expectations also moderated meaningfully</a:t>
            </a:r>
          </a:p>
        </p:txBody>
      </p:sp>
      <p:sp>
        <p:nvSpPr>
          <p:cNvPr id="19" name="editable-text-03-18">
            <a:extLst xmlns:a="http://schemas.openxmlformats.org/drawingml/2006/main">
              <a:ext uri="{FF2B5EF4-FFF2-40B4-BE49-F238E27FC236}">
                <a16:creationId xmlns:a16="http://schemas.microsoft.com/office/drawing/2014/main" id="{E76F7F17-FD95-434A-8133-91A878D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647" y="4050506"/>
            <a:ext cx="121349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↓</a:t>
            </a:r>
          </a:p>
        </p:txBody>
      </p:sp>
      <p:sp>
        <p:nvSpPr>
          <p:cNvPr id="20" name="editable-text-03-19">
            <a:extLst xmlns:a="http://schemas.openxmlformats.org/drawingml/2006/main">
              <a:ext uri="{FF2B5EF4-FFF2-40B4-BE49-F238E27FC236}">
                <a16:creationId xmlns:a16="http://schemas.microsoft.com/office/drawing/2014/main" id="{ADACBF83-B223-4107-A11F-A05F49A6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50506"/>
            <a:ext cx="1584293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059669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-36 pts vs. prior quarter</a:t>
            </a:r>
          </a:p>
        </p:txBody>
      </p:sp>
      <p:sp>
        <p:nvSpPr>
          <p:cNvPr id="21" name="editable-text-03-20">
            <a:extLst xmlns:a="http://schemas.openxmlformats.org/drawingml/2006/main">
              <a:ext uri="{FF2B5EF4-FFF2-40B4-BE49-F238E27FC236}">
                <a16:creationId xmlns:a16="http://schemas.microsoft.com/office/drawing/2014/main" id="{AE5AAF44-C3F2-4458-B226-B36BB479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358" y="1431131"/>
            <a:ext cx="927735" cy="533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3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343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4.5%</a:t>
            </a:r>
          </a:p>
        </p:txBody>
      </p:sp>
      <p:sp>
        <p:nvSpPr>
          <p:cNvPr id="22" name="editable-text-03-21">
            <a:extLst xmlns:a="http://schemas.openxmlformats.org/drawingml/2006/main">
              <a:ext uri="{FF2B5EF4-FFF2-40B4-BE49-F238E27FC236}">
                <a16:creationId xmlns:a16="http://schemas.microsoft.com/office/drawing/2014/main" id="{DBA61B69-2027-426A-9A20-972DDD7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358" y="1941100"/>
            <a:ext cx="1711833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080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Median inflation expectation</a:t>
            </a:r>
          </a:p>
        </p:txBody>
      </p:sp>
      <p:sp>
        <p:nvSpPr>
          <p:cNvPr id="23" name="editable-text-03-22">
            <a:extLst xmlns:a="http://schemas.openxmlformats.org/drawingml/2006/main">
              <a:ext uri="{FF2B5EF4-FFF2-40B4-BE49-F238E27FC236}">
                <a16:creationId xmlns:a16="http://schemas.microsoft.com/office/drawing/2014/main" id="{ADD4A0B4-E1EC-4C96-BCA3-EF5F5A99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358" y="2173605"/>
            <a:ext cx="3313938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Investors expect price pressures to remain elevated through the end of the current calendar year.</a:t>
            </a:r>
          </a:p>
        </p:txBody>
      </p:sp>
      <p:sp>
        <p:nvSpPr>
          <p:cNvPr id="24" name="editable-text-03-23">
            <a:extLst xmlns:a="http://schemas.openxmlformats.org/drawingml/2006/main">
              <a:ext uri="{FF2B5EF4-FFF2-40B4-BE49-F238E27FC236}">
                <a16:creationId xmlns:a16="http://schemas.microsoft.com/office/drawing/2014/main" id="{F41C0645-A6A1-4BF1-BF88-97A3C182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95" y="2696242"/>
            <a:ext cx="3282791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Wage and services inflation remain the stickiest</a:t>
            </a:r>
          </a:p>
        </p:txBody>
      </p:sp>
      <p:sp>
        <p:nvSpPr>
          <p:cNvPr id="25" name="editable-text-03-24">
            <a:extLst xmlns:a="http://schemas.openxmlformats.org/drawingml/2006/main">
              <a:ext uri="{FF2B5EF4-FFF2-40B4-BE49-F238E27FC236}">
                <a16:creationId xmlns:a16="http://schemas.microsoft.com/office/drawing/2014/main" id="{B33279AD-289D-49C7-81CF-B0A12415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95" y="3209068"/>
            <a:ext cx="2601659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Energy disinflation slower than originally modeled</a:t>
            </a:r>
          </a:p>
        </p:txBody>
      </p:sp>
      <p:sp>
        <p:nvSpPr>
          <p:cNvPr id="26" name="editable-text-03-25">
            <a:extLst xmlns:a="http://schemas.openxmlformats.org/drawingml/2006/main">
              <a:ext uri="{FF2B5EF4-FFF2-40B4-BE49-F238E27FC236}">
                <a16:creationId xmlns:a16="http://schemas.microsoft.com/office/drawing/2014/main" id="{214C4EDE-F883-42A1-8160-AD50EB2E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895" y="3721799"/>
            <a:ext cx="3197447" cy="487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568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Long-run anchor steady at 3% for the next decade</a:t>
            </a:r>
          </a:p>
        </p:txBody>
      </p:sp>
      <p:sp>
        <p:nvSpPr>
          <p:cNvPr id="27" name="editable-text-03-26">
            <a:extLst xmlns:a="http://schemas.openxmlformats.org/drawingml/2006/main">
              <a:ext uri="{FF2B5EF4-FFF2-40B4-BE49-F238E27FC236}">
                <a16:creationId xmlns:a16="http://schemas.microsoft.com/office/drawing/2014/main" id="{732E8A8A-E9AC-4831-8553-C9BA3CF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358" y="4284059"/>
            <a:ext cx="121349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DC2626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DC2626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↑</a:t>
            </a:r>
          </a:p>
        </p:txBody>
      </p:sp>
      <p:sp>
        <p:nvSpPr>
          <p:cNvPr id="28" name="editable-text-03-27">
            <a:extLst xmlns:a="http://schemas.openxmlformats.org/drawingml/2006/main">
              <a:ext uri="{FF2B5EF4-FFF2-40B4-BE49-F238E27FC236}">
                <a16:creationId xmlns:a16="http://schemas.microsoft.com/office/drawing/2014/main" id="{86CD25F1-D6C1-49B3-AB77-50604ED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992" y="4284059"/>
            <a:ext cx="1649349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DC2626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DC2626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+0.3 pts vs. prior quarter</a:t>
            </a:r>
          </a:p>
        </p:txBody>
      </p:sp>
    </p:spTree>
    <p:extLst>
      <p:ext uri="{BB962C8B-B14F-4D97-AF65-F5344CB8AC3E}">
        <p14:creationId xmlns:p14="http://schemas.microsoft.com/office/powerpoint/2010/main" val="21033318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aafa5692f4a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4-01">
            <a:extLst xmlns:a="http://schemas.openxmlformats.org/drawingml/2006/main">
              <a:ext uri="{FF2B5EF4-FFF2-40B4-BE49-F238E27FC236}">
                <a16:creationId xmlns:a16="http://schemas.microsoft.com/office/drawing/2014/main" id="{C92E19E9-1B84-47B0-90A5-74A4A5D4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7576"/>
            <a:ext cx="1654778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Macroeconomic Sentiment</a:t>
            </a:r>
          </a:p>
        </p:txBody>
      </p:sp>
      <p:sp>
        <p:nvSpPr>
          <p:cNvPr id="3" name="editable-text-04-02">
            <a:extLst xmlns:a="http://schemas.openxmlformats.org/drawingml/2006/main">
              <a:ext uri="{FF2B5EF4-FFF2-40B4-BE49-F238E27FC236}">
                <a16:creationId xmlns:a16="http://schemas.microsoft.com/office/drawing/2014/main" id="{7FA02D30-DF80-49C5-9484-6825984F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222" y="419481"/>
            <a:ext cx="732854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Data Overview</a:t>
            </a:r>
          </a:p>
        </p:txBody>
      </p:sp>
      <p:sp>
        <p:nvSpPr>
          <p:cNvPr id="4" name="editable-text-04-03">
            <a:extLst xmlns:a="http://schemas.openxmlformats.org/drawingml/2006/main">
              <a:ext uri="{FF2B5EF4-FFF2-40B4-BE49-F238E27FC236}">
                <a16:creationId xmlns:a16="http://schemas.microsoft.com/office/drawing/2014/main" id="{9781E2EB-F34E-4B6E-AC81-523E3171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728091"/>
            <a:ext cx="7904417" cy="463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Current perspectives on the economy and markets</a:t>
            </a:r>
          </a:p>
        </p:txBody>
      </p:sp>
      <p:sp>
        <p:nvSpPr>
          <p:cNvPr id="5" name="editable-text-04-04">
            <a:extLst xmlns:a="http://schemas.openxmlformats.org/drawingml/2006/main">
              <a:ext uri="{FF2B5EF4-FFF2-40B4-BE49-F238E27FC236}">
                <a16:creationId xmlns:a16="http://schemas.microsoft.com/office/drawing/2014/main" id="{712DAD7B-5C24-4119-AAF6-B81B852F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1439990"/>
            <a:ext cx="56207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22%</a:t>
            </a:r>
          </a:p>
        </p:txBody>
      </p:sp>
      <p:sp>
        <p:nvSpPr>
          <p:cNvPr id="6" name="editable-text-04-05">
            <a:extLst xmlns:a="http://schemas.openxmlformats.org/drawingml/2006/main">
              <a:ext uri="{FF2B5EF4-FFF2-40B4-BE49-F238E27FC236}">
                <a16:creationId xmlns:a16="http://schemas.microsoft.com/office/drawing/2014/main" id="{96DBFC8B-65D4-46E3-BA04-8C4DF82C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69" y="1579626"/>
            <a:ext cx="1009650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of respondents</a:t>
            </a:r>
          </a:p>
        </p:txBody>
      </p:sp>
      <p:sp>
        <p:nvSpPr>
          <p:cNvPr id="7" name="editable-text-04-06">
            <a:extLst xmlns:a="http://schemas.openxmlformats.org/drawingml/2006/main">
              <a:ext uri="{FF2B5EF4-FFF2-40B4-BE49-F238E27FC236}">
                <a16:creationId xmlns:a16="http://schemas.microsoft.com/office/drawing/2014/main" id="{6C5CC810-7AC7-44A6-AF7D-4DF188A0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1807464"/>
            <a:ext cx="2333149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Bullish for the current calendar year</a:t>
            </a:r>
          </a:p>
        </p:txBody>
      </p:sp>
      <p:sp>
        <p:nvSpPr>
          <p:cNvPr id="8" name="editable-text-04-07">
            <a:extLst xmlns:a="http://schemas.openxmlformats.org/drawingml/2006/main">
              <a:ext uri="{FF2B5EF4-FFF2-40B4-BE49-F238E27FC236}">
                <a16:creationId xmlns:a16="http://schemas.microsoft.com/office/drawing/2014/main" id="{62CB6B3D-7A2A-4DE3-B0C5-C2A8D152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2082165"/>
            <a:ext cx="3116771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Steady from prior quarter, anchored by tariff and policy uncertainty.</a:t>
            </a:r>
          </a:p>
        </p:txBody>
      </p:sp>
      <p:sp>
        <p:nvSpPr>
          <p:cNvPr id="9" name="editable-text-04-08">
            <a:extLst xmlns:a="http://schemas.openxmlformats.org/drawingml/2006/main">
              <a:ext uri="{FF2B5EF4-FFF2-40B4-BE49-F238E27FC236}">
                <a16:creationId xmlns:a16="http://schemas.microsoft.com/office/drawing/2014/main" id="{685194B8-4235-49A5-90B4-FD413B38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55" y="1439990"/>
            <a:ext cx="520636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51%</a:t>
            </a:r>
          </a:p>
        </p:txBody>
      </p:sp>
      <p:sp>
        <p:nvSpPr>
          <p:cNvPr id="10" name="editable-text-04-09">
            <a:extLst xmlns:a="http://schemas.openxmlformats.org/drawingml/2006/main">
              <a:ext uri="{FF2B5EF4-FFF2-40B4-BE49-F238E27FC236}">
                <a16:creationId xmlns:a16="http://schemas.microsoft.com/office/drawing/2014/main" id="{BB4CAC62-D150-4914-91AE-453DC41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760" y="1579626"/>
            <a:ext cx="1009650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of respondents</a:t>
            </a:r>
          </a:p>
        </p:txBody>
      </p:sp>
      <p:sp>
        <p:nvSpPr>
          <p:cNvPr id="11" name="editable-text-04-10">
            <a:extLst xmlns:a="http://schemas.openxmlformats.org/drawingml/2006/main">
              <a:ext uri="{FF2B5EF4-FFF2-40B4-BE49-F238E27FC236}">
                <a16:creationId xmlns:a16="http://schemas.microsoft.com/office/drawing/2014/main" id="{6FA6E17A-ECA0-43AF-91E5-A64F5BF5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55" y="1807464"/>
            <a:ext cx="2146364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Bullish for the next calendar year</a:t>
            </a:r>
          </a:p>
        </p:txBody>
      </p:sp>
      <p:sp>
        <p:nvSpPr>
          <p:cNvPr id="12" name="editable-text-04-11">
            <a:extLst xmlns:a="http://schemas.openxmlformats.org/drawingml/2006/main">
              <a:ext uri="{FF2B5EF4-FFF2-40B4-BE49-F238E27FC236}">
                <a16:creationId xmlns:a16="http://schemas.microsoft.com/office/drawing/2014/main" id="{D57E6192-3C90-4A87-8C26-5D1ED534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55" y="2082165"/>
            <a:ext cx="3272504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Up from 38% last quarter as the rate path firms up.</a:t>
            </a:r>
          </a:p>
        </p:txBody>
      </p:sp>
      <p:sp>
        <p:nvSpPr>
          <p:cNvPr id="13" name="editable-text-04-12">
            <a:extLst xmlns:a="http://schemas.openxmlformats.org/drawingml/2006/main">
              <a:ext uri="{FF2B5EF4-FFF2-40B4-BE49-F238E27FC236}">
                <a16:creationId xmlns:a16="http://schemas.microsoft.com/office/drawing/2014/main" id="{E22DF46A-DE89-45F9-8144-67FBB34B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975" y="1439990"/>
            <a:ext cx="583121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60%</a:t>
            </a:r>
          </a:p>
        </p:txBody>
      </p:sp>
      <p:sp>
        <p:nvSpPr>
          <p:cNvPr id="14" name="editable-text-04-13">
            <a:extLst xmlns:a="http://schemas.openxmlformats.org/drawingml/2006/main">
              <a:ext uri="{FF2B5EF4-FFF2-40B4-BE49-F238E27FC236}">
                <a16:creationId xmlns:a16="http://schemas.microsoft.com/office/drawing/2014/main" id="{41042982-8BFF-41E0-A946-29DF7F70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764" y="1579626"/>
            <a:ext cx="1009650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of respondents</a:t>
            </a:r>
          </a:p>
        </p:txBody>
      </p:sp>
      <p:sp>
        <p:nvSpPr>
          <p:cNvPr id="15" name="editable-text-04-14">
            <a:extLst xmlns:a="http://schemas.openxmlformats.org/drawingml/2006/main">
              <a:ext uri="{FF2B5EF4-FFF2-40B4-BE49-F238E27FC236}">
                <a16:creationId xmlns:a16="http://schemas.microsoft.com/office/drawing/2014/main" id="{60276C5E-3BB8-4012-AF89-FC8E8C35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975" y="1807464"/>
            <a:ext cx="3369659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More bullish on the economy than three months ago</a:t>
            </a:r>
          </a:p>
        </p:txBody>
      </p:sp>
      <p:sp>
        <p:nvSpPr>
          <p:cNvPr id="16" name="editable-text-04-15">
            <a:extLst xmlns:a="http://schemas.openxmlformats.org/drawingml/2006/main">
              <a:ext uri="{FF2B5EF4-FFF2-40B4-BE49-F238E27FC236}">
                <a16:creationId xmlns:a16="http://schemas.microsoft.com/office/drawing/2014/main" id="{6096BC7C-9506-4924-86AB-06176CDE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975" y="2082165"/>
            <a:ext cx="3397282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A 22-point improvement, the largest sentiment swing in two years.</a:t>
            </a:r>
          </a:p>
        </p:txBody>
      </p:sp>
      <p:sp>
        <p:nvSpPr>
          <p:cNvPr id="17" name="editable-text-04-16">
            <a:extLst xmlns:a="http://schemas.openxmlformats.org/drawingml/2006/main">
              <a:ext uri="{FF2B5EF4-FFF2-40B4-BE49-F238E27FC236}">
                <a16:creationId xmlns:a16="http://schemas.microsoft.com/office/drawing/2014/main" id="{56BA5942-C087-45DF-8B2F-C13CCC1F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2810637"/>
            <a:ext cx="567404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53%</a:t>
            </a:r>
          </a:p>
        </p:txBody>
      </p:sp>
      <p:sp>
        <p:nvSpPr>
          <p:cNvPr id="18" name="editable-text-04-17">
            <a:extLst xmlns:a="http://schemas.openxmlformats.org/drawingml/2006/main">
              <a:ext uri="{FF2B5EF4-FFF2-40B4-BE49-F238E27FC236}">
                <a16:creationId xmlns:a16="http://schemas.microsoft.com/office/drawing/2014/main" id="{961BF775-1A35-44D8-9597-C35ACDE4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3" y="2950369"/>
            <a:ext cx="1009650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of respondents</a:t>
            </a:r>
          </a:p>
        </p:txBody>
      </p:sp>
      <p:sp>
        <p:nvSpPr>
          <p:cNvPr id="19" name="editable-text-04-18">
            <a:extLst xmlns:a="http://schemas.openxmlformats.org/drawingml/2006/main">
              <a:ext uri="{FF2B5EF4-FFF2-40B4-BE49-F238E27FC236}">
                <a16:creationId xmlns:a16="http://schemas.microsoft.com/office/drawing/2014/main" id="{63548837-60A0-4DC5-A5D4-0C1C99C6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3178207"/>
            <a:ext cx="3042285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More bullish on equities than three months ago</a:t>
            </a:r>
          </a:p>
        </p:txBody>
      </p:sp>
      <p:sp>
        <p:nvSpPr>
          <p:cNvPr id="20" name="editable-text-04-19">
            <a:extLst xmlns:a="http://schemas.openxmlformats.org/drawingml/2006/main">
              <a:ext uri="{FF2B5EF4-FFF2-40B4-BE49-F238E27FC236}">
                <a16:creationId xmlns:a16="http://schemas.microsoft.com/office/drawing/2014/main" id="{145AA3FA-1056-403C-B1BC-F211E03F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3452908"/>
            <a:ext cx="3095149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Tech and financials led the upgrade; energy and utilities lag.</a:t>
            </a:r>
          </a:p>
        </p:txBody>
      </p:sp>
      <p:sp>
        <p:nvSpPr>
          <p:cNvPr id="21" name="editable-text-04-20">
            <a:extLst xmlns:a="http://schemas.openxmlformats.org/drawingml/2006/main">
              <a:ext uri="{FF2B5EF4-FFF2-40B4-BE49-F238E27FC236}">
                <a16:creationId xmlns:a16="http://schemas.microsoft.com/office/drawing/2014/main" id="{2C50685D-424E-46B5-9C21-3A7699AD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55" y="2810637"/>
            <a:ext cx="649891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3.6%</a:t>
            </a:r>
          </a:p>
        </p:txBody>
      </p:sp>
      <p:sp>
        <p:nvSpPr>
          <p:cNvPr id="22" name="editable-text-04-21">
            <a:extLst xmlns:a="http://schemas.openxmlformats.org/drawingml/2006/main">
              <a:ext uri="{FF2B5EF4-FFF2-40B4-BE49-F238E27FC236}">
                <a16:creationId xmlns:a16="http://schemas.microsoft.com/office/drawing/2014/main" id="{6E4F23F7-C339-4B2C-8E32-93F69EE4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014" y="2950369"/>
            <a:ext cx="50958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median</a:t>
            </a:r>
          </a:p>
        </p:txBody>
      </p:sp>
      <p:sp>
        <p:nvSpPr>
          <p:cNvPr id="23" name="editable-text-04-22">
            <a:extLst xmlns:a="http://schemas.openxmlformats.org/drawingml/2006/main">
              <a:ext uri="{FF2B5EF4-FFF2-40B4-BE49-F238E27FC236}">
                <a16:creationId xmlns:a16="http://schemas.microsoft.com/office/drawing/2014/main" id="{09128FC6-AECB-4148-BF06-70B3A8D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55" y="3178207"/>
            <a:ext cx="2913507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Expected inflation rate for the next two years</a:t>
            </a:r>
          </a:p>
        </p:txBody>
      </p:sp>
      <p:sp>
        <p:nvSpPr>
          <p:cNvPr id="24" name="editable-text-04-23">
            <a:extLst xmlns:a="http://schemas.openxmlformats.org/drawingml/2006/main">
              <a:ext uri="{FF2B5EF4-FFF2-40B4-BE49-F238E27FC236}">
                <a16:creationId xmlns:a16="http://schemas.microsoft.com/office/drawing/2014/main" id="{9DAF87B4-A610-413F-AC9F-17EB206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55" y="3452908"/>
            <a:ext cx="2820924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Down 0.4 pts; long-run expectations remain anchored at 3.0%.</a:t>
            </a:r>
          </a:p>
        </p:txBody>
      </p:sp>
      <p:sp>
        <p:nvSpPr>
          <p:cNvPr id="25" name="editable-text-04-24">
            <a:extLst xmlns:a="http://schemas.openxmlformats.org/drawingml/2006/main">
              <a:ext uri="{FF2B5EF4-FFF2-40B4-BE49-F238E27FC236}">
                <a16:creationId xmlns:a16="http://schemas.microsoft.com/office/drawing/2014/main" id="{E6ED8DCF-A4AD-419A-A657-20C72FE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975" y="2810637"/>
            <a:ext cx="622364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3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2.7%</a:t>
            </a:r>
          </a:p>
        </p:txBody>
      </p:sp>
      <p:sp>
        <p:nvSpPr>
          <p:cNvPr id="26" name="editable-text-04-25">
            <a:extLst xmlns:a="http://schemas.openxmlformats.org/drawingml/2006/main">
              <a:ext uri="{FF2B5EF4-FFF2-40B4-BE49-F238E27FC236}">
                <a16:creationId xmlns:a16="http://schemas.microsoft.com/office/drawing/2014/main" id="{E281D290-C23A-46D4-967B-9022183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102" y="2950369"/>
            <a:ext cx="50958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median</a:t>
            </a:r>
          </a:p>
        </p:txBody>
      </p:sp>
      <p:sp>
        <p:nvSpPr>
          <p:cNvPr id="27" name="editable-text-04-26">
            <a:extLst xmlns:a="http://schemas.openxmlformats.org/drawingml/2006/main">
              <a:ext uri="{FF2B5EF4-FFF2-40B4-BE49-F238E27FC236}">
                <a16:creationId xmlns:a16="http://schemas.microsoft.com/office/drawing/2014/main" id="{9468693C-308F-4EDB-99FC-4C9E583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975" y="3178207"/>
            <a:ext cx="3153442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Expected real GDP growth for the next two years</a:t>
            </a:r>
          </a:p>
        </p:txBody>
      </p:sp>
      <p:sp>
        <p:nvSpPr>
          <p:cNvPr id="28" name="editable-text-04-27">
            <a:extLst xmlns:a="http://schemas.openxmlformats.org/drawingml/2006/main">
              <a:ext uri="{FF2B5EF4-FFF2-40B4-BE49-F238E27FC236}">
                <a16:creationId xmlns:a16="http://schemas.microsoft.com/office/drawing/2014/main" id="{A15B77F3-E8F0-4AFE-BBD5-3B98BB0F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975" y="3452908"/>
            <a:ext cx="335575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A modest upgrade reflecting easing recession fears.</a:t>
            </a:r>
          </a:p>
        </p:txBody>
      </p:sp>
    </p:spTree>
    <p:extLst>
      <p:ext uri="{BB962C8B-B14F-4D97-AF65-F5344CB8AC3E}">
        <p14:creationId xmlns:p14="http://schemas.microsoft.com/office/powerpoint/2010/main" val="6281179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fa60511be4b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5-01">
            <a:extLst xmlns:a="http://schemas.openxmlformats.org/drawingml/2006/main">
              <a:ext uri="{FF2B5EF4-FFF2-40B4-BE49-F238E27FC236}">
                <a16:creationId xmlns:a16="http://schemas.microsoft.com/office/drawing/2014/main" id="{9BE88D24-FED8-4D16-998A-CEC81C87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7576"/>
            <a:ext cx="1195864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Investor Priorities</a:t>
            </a:r>
          </a:p>
        </p:txBody>
      </p:sp>
      <p:sp>
        <p:nvSpPr>
          <p:cNvPr id="3" name="editable-text-05-02">
            <a:extLst xmlns:a="http://schemas.openxmlformats.org/drawingml/2006/main">
              <a:ext uri="{FF2B5EF4-FFF2-40B4-BE49-F238E27FC236}">
                <a16:creationId xmlns:a16="http://schemas.microsoft.com/office/drawing/2014/main" id="{FAD4B467-5436-4CB5-8B75-483E66A1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544" y="419481"/>
            <a:ext cx="444532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Analysis</a:t>
            </a:r>
          </a:p>
        </p:txBody>
      </p:sp>
      <p:sp>
        <p:nvSpPr>
          <p:cNvPr id="4" name="editable-text-05-03">
            <a:extLst xmlns:a="http://schemas.openxmlformats.org/drawingml/2006/main">
              <a:ext uri="{FF2B5EF4-FFF2-40B4-BE49-F238E27FC236}">
                <a16:creationId xmlns:a16="http://schemas.microsoft.com/office/drawing/2014/main" id="{B06FD630-C9CB-477F-817F-905F0251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728091"/>
            <a:ext cx="8385429" cy="463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What investors want companies to focus on right now</a:t>
            </a:r>
          </a:p>
        </p:txBody>
      </p:sp>
      <p:sp>
        <p:nvSpPr>
          <p:cNvPr id="5" name="editable-text-05-04">
            <a:extLst xmlns:a="http://schemas.openxmlformats.org/drawingml/2006/main">
              <a:ext uri="{FF2B5EF4-FFF2-40B4-BE49-F238E27FC236}">
                <a16:creationId xmlns:a16="http://schemas.microsoft.com/office/drawing/2014/main" id="{EF2501A4-51FD-4581-982E-05CC622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08" y="1335881"/>
            <a:ext cx="4937093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Growth and protecting the top line remain the leading priority, cited by a clear majority as essential in the current cycle.</a:t>
            </a:r>
          </a:p>
        </p:txBody>
      </p:sp>
      <p:sp>
        <p:nvSpPr>
          <p:cNvPr id="6" name="editable-text-05-05">
            <a:extLst xmlns:a="http://schemas.openxmlformats.org/drawingml/2006/main">
              <a:ext uri="{FF2B5EF4-FFF2-40B4-BE49-F238E27FC236}">
                <a16:creationId xmlns:a16="http://schemas.microsoft.com/office/drawing/2014/main" id="{3E2A86B2-5F23-465A-8A3C-E6C5C670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08" y="1801654"/>
            <a:ext cx="4751642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Cash flow resilience has risen sharply in importance as liquidity conditions tightened across credit markets through Q3.</a:t>
            </a:r>
          </a:p>
        </p:txBody>
      </p:sp>
      <p:sp>
        <p:nvSpPr>
          <p:cNvPr id="7" name="editable-text-05-06">
            <a:extLst xmlns:a="http://schemas.openxmlformats.org/drawingml/2006/main">
              <a:ext uri="{FF2B5EF4-FFF2-40B4-BE49-F238E27FC236}">
                <a16:creationId xmlns:a16="http://schemas.microsoft.com/office/drawing/2014/main" id="{7702992B-EA4E-4DFC-B1D1-3B64F8DD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08" y="2267331"/>
            <a:ext cx="5004054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Supply chain stability ranks consistently high, reflecting the lasting operational scars of recent global disruptions.</a:t>
            </a:r>
          </a:p>
        </p:txBody>
      </p:sp>
      <p:sp>
        <p:nvSpPr>
          <p:cNvPr id="8" name="editable-text-05-07">
            <a:extLst xmlns:a="http://schemas.openxmlformats.org/drawingml/2006/main">
              <a:ext uri="{FF2B5EF4-FFF2-40B4-BE49-F238E27FC236}">
                <a16:creationId xmlns:a16="http://schemas.microsoft.com/office/drawing/2014/main" id="{CD75E528-31E3-458E-BFD9-42CD7216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08" y="2733104"/>
            <a:ext cx="5250180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Margin preservation and cost discipline have moved from defensive levers to first-line strategy in investor conversations.</a:t>
            </a:r>
          </a:p>
        </p:txBody>
      </p:sp>
      <p:sp>
        <p:nvSpPr>
          <p:cNvPr id="9" name="editable-text-05-08">
            <a:extLst xmlns:a="http://schemas.openxmlformats.org/drawingml/2006/main">
              <a:ext uri="{FF2B5EF4-FFF2-40B4-BE49-F238E27FC236}">
                <a16:creationId xmlns:a16="http://schemas.microsoft.com/office/drawing/2014/main" id="{FFC99DB0-845A-4CF8-ABF5-A0B78B77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808" y="3198781"/>
            <a:ext cx="5219319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AI capex remains the most-discussed structural theme, but with rising attention to monetization timelines.</a:t>
            </a:r>
          </a:p>
        </p:txBody>
      </p:sp>
      <p:sp>
        <p:nvSpPr>
          <p:cNvPr id="10" name="editable-text-05-09">
            <a:extLst xmlns:a="http://schemas.openxmlformats.org/drawingml/2006/main">
              <a:ext uri="{FF2B5EF4-FFF2-40B4-BE49-F238E27FC236}">
                <a16:creationId xmlns:a16="http://schemas.microsoft.com/office/drawing/2014/main" id="{B7C9BB7C-BC62-4EA3-93CF-3AC8D64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666" y="1467898"/>
            <a:ext cx="4553807" cy="4482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"The shift from growth-at-all-costs to profitable, sustainable expansion is the defining theme of this cycle."</a:t>
            </a:r>
          </a:p>
        </p:txBody>
      </p:sp>
      <p:sp>
        <p:nvSpPr>
          <p:cNvPr id="11" name="editable-text-05-10">
            <a:extLst xmlns:a="http://schemas.openxmlformats.org/drawingml/2006/main">
              <a:ext uri="{FF2B5EF4-FFF2-40B4-BE49-F238E27FC236}">
                <a16:creationId xmlns:a16="http://schemas.microsoft.com/office/drawing/2014/main" id="{32B70D19-24D4-490C-B9BD-9E46476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0666" y="1959293"/>
            <a:ext cx="3587020" cy="2921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85" b="0">
                <a:solidFill>
                  <a:srgbClr val="6B6B6B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785" b="0">
                <a:solidFill>
                  <a:srgbClr val="6B6B6B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Senior PM, multi-strategy fund</a:t>
            </a:r>
          </a:p>
        </p:txBody>
      </p:sp>
      <p:sp>
        <p:nvSpPr>
          <p:cNvPr id="12" name="editable-text-05-11">
            <a:extLst xmlns:a="http://schemas.openxmlformats.org/drawingml/2006/main">
              <a:ext uri="{FF2B5EF4-FFF2-40B4-BE49-F238E27FC236}">
                <a16:creationId xmlns:a16="http://schemas.microsoft.com/office/drawing/2014/main" id="{69DCB241-F84A-4342-BD7F-1470F428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848" y="2637377"/>
            <a:ext cx="304229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63%</a:t>
            </a:r>
          </a:p>
        </p:txBody>
      </p:sp>
      <p:sp>
        <p:nvSpPr>
          <p:cNvPr id="13" name="editable-text-05-12">
            <a:extLst xmlns:a="http://schemas.openxmlformats.org/drawingml/2006/main">
              <a:ext uri="{FF2B5EF4-FFF2-40B4-BE49-F238E27FC236}">
                <a16:creationId xmlns:a16="http://schemas.microsoft.com/office/drawing/2014/main" id="{9672607A-1677-4050-A852-C6068C40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848" y="2861310"/>
            <a:ext cx="1126331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Prioritize top-line growth</a:t>
            </a:r>
          </a:p>
        </p:txBody>
      </p:sp>
      <p:sp>
        <p:nvSpPr>
          <p:cNvPr id="14" name="editable-text-05-13">
            <a:extLst xmlns:a="http://schemas.openxmlformats.org/drawingml/2006/main">
              <a:ext uri="{FF2B5EF4-FFF2-40B4-BE49-F238E27FC236}">
                <a16:creationId xmlns:a16="http://schemas.microsoft.com/office/drawing/2014/main" id="{A0CC4787-C108-4C88-9FAB-98D1025A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823" y="2637377"/>
            <a:ext cx="300704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55%</a:t>
            </a:r>
          </a:p>
        </p:txBody>
      </p:sp>
      <p:sp>
        <p:nvSpPr>
          <p:cNvPr id="15" name="editable-text-05-14">
            <a:extLst xmlns:a="http://schemas.openxmlformats.org/drawingml/2006/main">
              <a:ext uri="{FF2B5EF4-FFF2-40B4-BE49-F238E27FC236}">
                <a16:creationId xmlns:a16="http://schemas.microsoft.com/office/drawing/2014/main" id="{BAF19AF2-7B3C-4FE6-A531-C4526784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823" y="2861310"/>
            <a:ext cx="1248061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Prioritize cash flow resilience</a:t>
            </a:r>
          </a:p>
        </p:txBody>
      </p:sp>
      <p:sp>
        <p:nvSpPr>
          <p:cNvPr id="16" name="editable-text-05-15">
            <a:extLst xmlns:a="http://schemas.openxmlformats.org/drawingml/2006/main">
              <a:ext uri="{FF2B5EF4-FFF2-40B4-BE49-F238E27FC236}">
                <a16:creationId xmlns:a16="http://schemas.microsoft.com/office/drawing/2014/main" id="{26C22F72-2837-4DA4-B9CC-2EB5F777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94" y="2637377"/>
            <a:ext cx="302895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33%</a:t>
            </a:r>
          </a:p>
        </p:txBody>
      </p:sp>
      <p:sp>
        <p:nvSpPr>
          <p:cNvPr id="17" name="editable-text-05-16">
            <a:extLst xmlns:a="http://schemas.openxmlformats.org/drawingml/2006/main">
              <a:ext uri="{FF2B5EF4-FFF2-40B4-BE49-F238E27FC236}">
                <a16:creationId xmlns:a16="http://schemas.microsoft.com/office/drawing/2014/main" id="{3162FCDE-C613-422B-B8E3-C5F3D74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894" y="2861310"/>
            <a:ext cx="1059942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Prioritize supply chain stability</a:t>
            </a:r>
          </a:p>
        </p:txBody>
      </p:sp>
      <p:sp>
        <p:nvSpPr>
          <p:cNvPr id="18" name="editable-text-05-17">
            <a:extLst xmlns:a="http://schemas.openxmlformats.org/drawingml/2006/main">
              <a:ext uri="{FF2B5EF4-FFF2-40B4-BE49-F238E27FC236}">
                <a16:creationId xmlns:a16="http://schemas.microsoft.com/office/drawing/2014/main" id="{AF37DE9B-79F1-48F2-B913-4B336A91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834" y="3455194"/>
            <a:ext cx="4969574" cy="55083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Notably absent from the top of the list: ESG-led capital allocation, which has dropped 24 points year-over-year as investors recalibrate toward returns-first mandates.</a:t>
            </a:r>
          </a:p>
        </p:txBody>
      </p:sp>
    </p:spTree>
    <p:extLst>
      <p:ext uri="{BB962C8B-B14F-4D97-AF65-F5344CB8AC3E}">
        <p14:creationId xmlns:p14="http://schemas.microsoft.com/office/powerpoint/2010/main" val="11391109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9d0a420094e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6-01">
            <a:extLst xmlns:a="http://schemas.openxmlformats.org/drawingml/2006/main">
              <a:ext uri="{FF2B5EF4-FFF2-40B4-BE49-F238E27FC236}">
                <a16:creationId xmlns:a16="http://schemas.microsoft.com/office/drawing/2014/main" id="{46B5F1D0-400F-43F2-BE69-5E160E7A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7576"/>
            <a:ext cx="80572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Risk Factors</a:t>
            </a:r>
          </a:p>
        </p:txBody>
      </p:sp>
      <p:sp>
        <p:nvSpPr>
          <p:cNvPr id="3" name="editable-text-06-02">
            <a:extLst xmlns:a="http://schemas.openxmlformats.org/drawingml/2006/main">
              <a:ext uri="{FF2B5EF4-FFF2-40B4-BE49-F238E27FC236}">
                <a16:creationId xmlns:a16="http://schemas.microsoft.com/office/drawing/2014/main" id="{6AEEECDB-02A1-4D6A-A3BC-D26FB51C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8069" y="419481"/>
            <a:ext cx="433007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Ranking</a:t>
            </a:r>
          </a:p>
        </p:txBody>
      </p:sp>
      <p:sp>
        <p:nvSpPr>
          <p:cNvPr id="4" name="editable-text-06-03">
            <a:extLst xmlns:a="http://schemas.openxmlformats.org/drawingml/2006/main">
              <a:ext uri="{FF2B5EF4-FFF2-40B4-BE49-F238E27FC236}">
                <a16:creationId xmlns:a16="http://schemas.microsoft.com/office/drawing/2014/main" id="{D7F1206A-5E1F-4A01-871D-1DE6DA52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728091"/>
            <a:ext cx="9202960" cy="463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Most important macroeconomic concerns among investors</a:t>
            </a:r>
          </a:p>
        </p:txBody>
      </p:sp>
      <p:sp>
        <p:nvSpPr>
          <p:cNvPr id="5" name="editable-text-06-04">
            <a:extLst xmlns:a="http://schemas.openxmlformats.org/drawingml/2006/main">
              <a:ext uri="{FF2B5EF4-FFF2-40B4-BE49-F238E27FC236}">
                <a16:creationId xmlns:a16="http://schemas.microsoft.com/office/drawing/2014/main" id="{44D6891D-77AF-43C3-BDEB-308A9E2F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2523173"/>
            <a:ext cx="161458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Consumer price inflation</a:t>
            </a:r>
          </a:p>
        </p:txBody>
      </p:sp>
      <p:sp>
        <p:nvSpPr>
          <p:cNvPr id="6" name="editable-text-06-05">
            <a:extLst xmlns:a="http://schemas.openxmlformats.org/drawingml/2006/main">
              <a:ext uri="{FF2B5EF4-FFF2-40B4-BE49-F238E27FC236}">
                <a16:creationId xmlns:a16="http://schemas.microsoft.com/office/drawing/2014/main" id="{B5CE7053-19E5-46D8-8C46-B1F40E45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954" y="2516791"/>
            <a:ext cx="297466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79%</a:t>
            </a:r>
          </a:p>
        </p:txBody>
      </p:sp>
      <p:sp>
        <p:nvSpPr>
          <p:cNvPr id="7" name="editable-text-06-06">
            <a:extLst xmlns:a="http://schemas.openxmlformats.org/drawingml/2006/main">
              <a:ext uri="{FF2B5EF4-FFF2-40B4-BE49-F238E27FC236}">
                <a16:creationId xmlns:a16="http://schemas.microsoft.com/office/drawing/2014/main" id="{BF49CFC9-E5A3-4DA4-91D4-078B7376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2932367"/>
            <a:ext cx="225675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Interest rates &amp; central bank policy</a:t>
            </a:r>
          </a:p>
        </p:txBody>
      </p:sp>
      <p:sp>
        <p:nvSpPr>
          <p:cNvPr id="8" name="editable-text-06-07">
            <a:extLst xmlns:a="http://schemas.openxmlformats.org/drawingml/2006/main">
              <a:ext uri="{FF2B5EF4-FFF2-40B4-BE49-F238E27FC236}">
                <a16:creationId xmlns:a16="http://schemas.microsoft.com/office/drawing/2014/main" id="{04BE16CA-2706-4A3D-93BF-3C88418F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6763" y="2926080"/>
            <a:ext cx="305657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69%</a:t>
            </a:r>
          </a:p>
        </p:txBody>
      </p:sp>
      <p:sp>
        <p:nvSpPr>
          <p:cNvPr id="9" name="editable-text-06-08">
            <a:extLst xmlns:a="http://schemas.openxmlformats.org/drawingml/2006/main">
              <a:ext uri="{FF2B5EF4-FFF2-40B4-BE49-F238E27FC236}">
                <a16:creationId xmlns:a16="http://schemas.microsoft.com/office/drawing/2014/main" id="{7EA2B7DB-1570-4B3F-8429-09498E1F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3341656"/>
            <a:ext cx="1139762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Geopolitical risks</a:t>
            </a:r>
          </a:p>
        </p:txBody>
      </p:sp>
      <p:sp>
        <p:nvSpPr>
          <p:cNvPr id="10" name="editable-text-06-09">
            <a:extLst xmlns:a="http://schemas.openxmlformats.org/drawingml/2006/main">
              <a:ext uri="{FF2B5EF4-FFF2-40B4-BE49-F238E27FC236}">
                <a16:creationId xmlns:a16="http://schemas.microsoft.com/office/drawing/2014/main" id="{170E1B89-0703-403F-A02A-D58BD33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001" y="3335369"/>
            <a:ext cx="304419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39%</a:t>
            </a:r>
          </a:p>
        </p:txBody>
      </p:sp>
      <p:sp>
        <p:nvSpPr>
          <p:cNvPr id="11" name="editable-text-06-10">
            <a:extLst xmlns:a="http://schemas.openxmlformats.org/drawingml/2006/main">
              <a:ext uri="{FF2B5EF4-FFF2-40B4-BE49-F238E27FC236}">
                <a16:creationId xmlns:a16="http://schemas.microsoft.com/office/drawing/2014/main" id="{BE26D778-BCEC-486F-9003-72B40B7B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3750945"/>
            <a:ext cx="243382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Liquidity tightening in capital markets</a:t>
            </a:r>
          </a:p>
        </p:txBody>
      </p:sp>
      <p:sp>
        <p:nvSpPr>
          <p:cNvPr id="12" name="editable-text-06-11">
            <a:extLst xmlns:a="http://schemas.openxmlformats.org/drawingml/2006/main">
              <a:ext uri="{FF2B5EF4-FFF2-40B4-BE49-F238E27FC236}">
                <a16:creationId xmlns:a16="http://schemas.microsoft.com/office/drawing/2014/main" id="{892CCB3B-EF05-47FF-923A-FA4BEB1A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288" y="3744659"/>
            <a:ext cx="296132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37%</a:t>
            </a:r>
          </a:p>
        </p:txBody>
      </p:sp>
      <p:sp>
        <p:nvSpPr>
          <p:cNvPr id="13" name="editable-text-06-12">
            <a:extLst xmlns:a="http://schemas.openxmlformats.org/drawingml/2006/main">
              <a:ext uri="{FF2B5EF4-FFF2-40B4-BE49-F238E27FC236}">
                <a16:creationId xmlns:a16="http://schemas.microsoft.com/office/drawing/2014/main" id="{065A27A1-48D5-4887-BA6B-C187B27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60234"/>
            <a:ext cx="1336929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Asset price volatility</a:t>
            </a:r>
          </a:p>
        </p:txBody>
      </p:sp>
      <p:sp>
        <p:nvSpPr>
          <p:cNvPr id="14" name="editable-text-06-13">
            <a:extLst xmlns:a="http://schemas.openxmlformats.org/drawingml/2006/main">
              <a:ext uri="{FF2B5EF4-FFF2-40B4-BE49-F238E27FC236}">
                <a16:creationId xmlns:a16="http://schemas.microsoft.com/office/drawing/2014/main" id="{A0D24BA7-8B5A-4CDF-AB91-D056526A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1811" y="4153853"/>
            <a:ext cx="300609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25%</a:t>
            </a:r>
          </a:p>
        </p:txBody>
      </p:sp>
      <p:sp>
        <p:nvSpPr>
          <p:cNvPr id="15" name="editable-text-06-14">
            <a:extLst xmlns:a="http://schemas.openxmlformats.org/drawingml/2006/main">
              <a:ext uri="{FF2B5EF4-FFF2-40B4-BE49-F238E27FC236}">
                <a16:creationId xmlns:a16="http://schemas.microsoft.com/office/drawing/2014/main" id="{6AF94EDE-42FE-4B44-A8F2-1D4F523F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569524"/>
            <a:ext cx="198053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Public-sector debt &amp; spending</a:t>
            </a:r>
          </a:p>
        </p:txBody>
      </p:sp>
      <p:sp>
        <p:nvSpPr>
          <p:cNvPr id="16" name="editable-text-06-15">
            <a:extLst xmlns:a="http://schemas.openxmlformats.org/drawingml/2006/main">
              <a:ext uri="{FF2B5EF4-FFF2-40B4-BE49-F238E27FC236}">
                <a16:creationId xmlns:a16="http://schemas.microsoft.com/office/drawing/2014/main" id="{479AE6A1-93AD-4CA2-890E-361F4B4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2383" y="4563142"/>
            <a:ext cx="300038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22%</a:t>
            </a:r>
          </a:p>
        </p:txBody>
      </p:sp>
      <p:sp>
        <p:nvSpPr>
          <p:cNvPr id="17" name="editable-text-06-16">
            <a:extLst xmlns:a="http://schemas.openxmlformats.org/drawingml/2006/main">
              <a:ext uri="{FF2B5EF4-FFF2-40B4-BE49-F238E27FC236}">
                <a16:creationId xmlns:a16="http://schemas.microsoft.com/office/drawing/2014/main" id="{712C9F17-073C-42DA-87F8-A23FC98C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978813"/>
            <a:ext cx="179736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Climate &amp; ESG-related risks</a:t>
            </a:r>
          </a:p>
        </p:txBody>
      </p:sp>
      <p:sp>
        <p:nvSpPr>
          <p:cNvPr id="18" name="editable-text-06-17">
            <a:extLst xmlns:a="http://schemas.openxmlformats.org/drawingml/2006/main">
              <a:ext uri="{FF2B5EF4-FFF2-40B4-BE49-F238E27FC236}">
                <a16:creationId xmlns:a16="http://schemas.microsoft.com/office/drawing/2014/main" id="{21021197-E86D-4D9B-AE96-3517C3E9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433" y="4972431"/>
            <a:ext cx="280988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85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18%</a:t>
            </a:r>
          </a:p>
        </p:txBody>
      </p:sp>
    </p:spTree>
    <p:extLst>
      <p:ext uri="{BB962C8B-B14F-4D97-AF65-F5344CB8AC3E}">
        <p14:creationId xmlns:p14="http://schemas.microsoft.com/office/powerpoint/2010/main" val="20423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14ff8bd494e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7-01">
            <a:extLst xmlns:a="http://schemas.openxmlformats.org/drawingml/2006/main">
              <a:ext uri="{FF2B5EF4-FFF2-40B4-BE49-F238E27FC236}">
                <a16:creationId xmlns:a16="http://schemas.microsoft.com/office/drawing/2014/main" id="{BFC80D8E-38DB-4F6B-93D7-70AD5B0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021" y="2269522"/>
            <a:ext cx="455867" cy="10731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72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“</a:t>
            </a:r>
          </a:p>
        </p:txBody>
      </p:sp>
      <p:sp>
        <p:nvSpPr>
          <p:cNvPr id="3" name="editable-text-07-02">
            <a:extLst xmlns:a="http://schemas.openxmlformats.org/drawingml/2006/main">
              <a:ext uri="{FF2B5EF4-FFF2-40B4-BE49-F238E27FC236}">
                <a16:creationId xmlns:a16="http://schemas.microsoft.com/office/drawing/2014/main" id="{418F51D1-9A5E-4B6A-BD7E-FEA7234E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604" y="3101340"/>
            <a:ext cx="7902988" cy="67846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6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16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In this environment, the companies that will win are those that can balance operational discipline with strategic flexibility.</a:t>
            </a:r>
          </a:p>
        </p:txBody>
      </p:sp>
      <p:sp>
        <p:nvSpPr>
          <p:cNvPr id="4" name="editable-text-07-03">
            <a:extLst xmlns:a="http://schemas.openxmlformats.org/drawingml/2006/main">
              <a:ext uri="{FF2B5EF4-FFF2-40B4-BE49-F238E27FC236}">
                <a16:creationId xmlns:a16="http://schemas.microsoft.com/office/drawing/2014/main" id="{4B7DF715-33C4-47E4-A359-338676C7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876" y="3962972"/>
            <a:ext cx="2154936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1">
                <a:solidFill>
                  <a:srgbClr val="111111">
                    <a:alpha val="0"/>
                  </a:srgbClr>
                </a:solidFill>
                <a:latin typeface="Inter"/>
                <a:ea typeface="Inter"/>
                <a:cs typeface="Inter"/>
              </a:rPr>
              <a:t>Senior Partner, Strategy Practice</a:t>
            </a:r>
          </a:p>
        </p:txBody>
      </p:sp>
      <p:sp>
        <p:nvSpPr>
          <p:cNvPr id="5" name="editable-text-07-04">
            <a:extLst xmlns:a="http://schemas.openxmlformats.org/drawingml/2006/main">
              <a:ext uri="{FF2B5EF4-FFF2-40B4-BE49-F238E27FC236}">
                <a16:creationId xmlns:a16="http://schemas.microsoft.com/office/drawing/2014/main" id="{94456D55-6851-4E51-B3EB-94EEF82F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617" y="3962972"/>
            <a:ext cx="219560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— Global Investment Forum 2026</a:t>
            </a:r>
          </a:p>
        </p:txBody>
      </p:sp>
    </p:spTree>
    <p:extLst>
      <p:ext uri="{BB962C8B-B14F-4D97-AF65-F5344CB8AC3E}">
        <p14:creationId xmlns:p14="http://schemas.microsoft.com/office/powerpoint/2010/main" val="16236959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79abee72142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8-01">
            <a:extLst xmlns:a="http://schemas.openxmlformats.org/drawingml/2006/main">
              <a:ext uri="{FF2B5EF4-FFF2-40B4-BE49-F238E27FC236}">
                <a16:creationId xmlns:a16="http://schemas.microsoft.com/office/drawing/2014/main" id="{85DDF0D9-5444-4665-AAAF-9B4B4692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7576"/>
            <a:ext cx="1196816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Strategic Roadmap</a:t>
            </a:r>
          </a:p>
        </p:txBody>
      </p:sp>
      <p:sp>
        <p:nvSpPr>
          <p:cNvPr id="3" name="editable-text-08-02">
            <a:extLst xmlns:a="http://schemas.openxmlformats.org/drawingml/2006/main">
              <a:ext uri="{FF2B5EF4-FFF2-40B4-BE49-F238E27FC236}">
                <a16:creationId xmlns:a16="http://schemas.microsoft.com/office/drawing/2014/main" id="{43D22C3F-C2A8-4CB7-A1C3-4F0495E9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5498" y="419481"/>
            <a:ext cx="425577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Process</a:t>
            </a:r>
          </a:p>
        </p:txBody>
      </p:sp>
      <p:sp>
        <p:nvSpPr>
          <p:cNvPr id="4" name="editable-text-08-03">
            <a:extLst xmlns:a="http://schemas.openxmlformats.org/drawingml/2006/main">
              <a:ext uri="{FF2B5EF4-FFF2-40B4-BE49-F238E27FC236}">
                <a16:creationId xmlns:a16="http://schemas.microsoft.com/office/drawing/2014/main" id="{08CB9F49-A6C4-4E89-A312-C80FF046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728091"/>
            <a:ext cx="8820055" cy="463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Recommended approach to navigating the current cycle</a:t>
            </a:r>
          </a:p>
        </p:txBody>
      </p:sp>
      <p:sp>
        <p:nvSpPr>
          <p:cNvPr id="5" name="editable-text-08-04">
            <a:extLst xmlns:a="http://schemas.openxmlformats.org/drawingml/2006/main">
              <a:ext uri="{FF2B5EF4-FFF2-40B4-BE49-F238E27FC236}">
                <a16:creationId xmlns:a16="http://schemas.microsoft.com/office/drawing/2014/main" id="{2C912A5D-8C6D-425F-9A17-1A84BE15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702" y="3152489"/>
            <a:ext cx="97822" cy="203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1</a:t>
            </a:r>
          </a:p>
        </p:txBody>
      </p:sp>
      <p:sp>
        <p:nvSpPr>
          <p:cNvPr id="6" name="editable-text-08-05">
            <a:extLst xmlns:a="http://schemas.openxmlformats.org/drawingml/2006/main">
              <a:ext uri="{FF2B5EF4-FFF2-40B4-BE49-F238E27FC236}">
                <a16:creationId xmlns:a16="http://schemas.microsoft.com/office/drawing/2014/main" id="{6BB12351-1103-4161-B271-F4DC4423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022" y="3528346"/>
            <a:ext cx="1069086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Assess Resilience</a:t>
            </a:r>
          </a:p>
        </p:txBody>
      </p:sp>
      <p:sp>
        <p:nvSpPr>
          <p:cNvPr id="7" name="editable-text-08-06">
            <a:extLst xmlns:a="http://schemas.openxmlformats.org/drawingml/2006/main">
              <a:ext uri="{FF2B5EF4-FFF2-40B4-BE49-F238E27FC236}">
                <a16:creationId xmlns:a16="http://schemas.microsoft.com/office/drawing/2014/main" id="{2A5975AA-6A5E-43C0-97BF-C5AA11A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011" y="3730371"/>
            <a:ext cx="1237202" cy="904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Evaluate balance sheet strength and operational buffers under stress scenarios.</a:t>
            </a:r>
          </a:p>
        </p:txBody>
      </p:sp>
      <p:sp>
        <p:nvSpPr>
          <p:cNvPr id="8" name="editable-text-08-07">
            <a:extLst xmlns:a="http://schemas.openxmlformats.org/drawingml/2006/main">
              <a:ext uri="{FF2B5EF4-FFF2-40B4-BE49-F238E27FC236}">
                <a16:creationId xmlns:a16="http://schemas.microsoft.com/office/drawing/2014/main" id="{F64A79E1-402F-4E39-9122-D8D35DC4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2" y="3240977"/>
            <a:ext cx="116586" cy="203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2</a:t>
            </a:r>
          </a:p>
        </p:txBody>
      </p:sp>
      <p:sp>
        <p:nvSpPr>
          <p:cNvPr id="9" name="editable-text-08-08">
            <a:extLst xmlns:a="http://schemas.openxmlformats.org/drawingml/2006/main">
              <a:ext uri="{FF2B5EF4-FFF2-40B4-BE49-F238E27FC236}">
                <a16:creationId xmlns:a16="http://schemas.microsoft.com/office/drawing/2014/main" id="{D0018917-EB8D-4BF8-9292-4C00C8A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648" y="3616833"/>
            <a:ext cx="1312545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Protect Core Revenue</a:t>
            </a:r>
          </a:p>
        </p:txBody>
      </p:sp>
      <p:sp>
        <p:nvSpPr>
          <p:cNvPr id="10" name="editable-text-08-09">
            <a:extLst xmlns:a="http://schemas.openxmlformats.org/drawingml/2006/main">
              <a:ext uri="{FF2B5EF4-FFF2-40B4-BE49-F238E27FC236}">
                <a16:creationId xmlns:a16="http://schemas.microsoft.com/office/drawing/2014/main" id="{1240CA85-6ED4-496C-B9E7-AD2FFB92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32" y="3818858"/>
            <a:ext cx="1412081" cy="72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Defend market position and pricing power in segments with durable demand.</a:t>
            </a:r>
          </a:p>
        </p:txBody>
      </p:sp>
      <p:sp>
        <p:nvSpPr>
          <p:cNvPr id="11" name="editable-text-08-10">
            <a:extLst xmlns:a="http://schemas.openxmlformats.org/drawingml/2006/main">
              <a:ext uri="{FF2B5EF4-FFF2-40B4-BE49-F238E27FC236}">
                <a16:creationId xmlns:a16="http://schemas.microsoft.com/office/drawing/2014/main" id="{8EDE8972-5248-4D35-BBD4-C3326C5C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935" y="3240977"/>
            <a:ext cx="118491" cy="203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3</a:t>
            </a:r>
          </a:p>
        </p:txBody>
      </p:sp>
      <p:sp>
        <p:nvSpPr>
          <p:cNvPr id="12" name="editable-text-08-11">
            <a:extLst xmlns:a="http://schemas.openxmlformats.org/drawingml/2006/main">
              <a:ext uri="{FF2B5EF4-FFF2-40B4-BE49-F238E27FC236}">
                <a16:creationId xmlns:a16="http://schemas.microsoft.com/office/drawing/2014/main" id="{FCA70546-23B9-4E19-98C0-95A1E3A8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6504" y="3616833"/>
            <a:ext cx="91925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Optimize Costs</a:t>
            </a:r>
          </a:p>
        </p:txBody>
      </p:sp>
      <p:sp>
        <p:nvSpPr>
          <p:cNvPr id="13" name="editable-text-08-12">
            <a:extLst xmlns:a="http://schemas.openxmlformats.org/drawingml/2006/main">
              <a:ext uri="{FF2B5EF4-FFF2-40B4-BE49-F238E27FC236}">
                <a16:creationId xmlns:a16="http://schemas.microsoft.com/office/drawing/2014/main" id="{40C9F9E0-77A5-4E78-BFA1-F6C19BB2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953" y="3818858"/>
            <a:ext cx="1346264" cy="72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Streamline overhead while preserving capacity for high-return investments.</a:t>
            </a:r>
          </a:p>
        </p:txBody>
      </p:sp>
      <p:sp>
        <p:nvSpPr>
          <p:cNvPr id="14" name="editable-text-08-13">
            <a:extLst xmlns:a="http://schemas.openxmlformats.org/drawingml/2006/main">
              <a:ext uri="{FF2B5EF4-FFF2-40B4-BE49-F238E27FC236}">
                <a16:creationId xmlns:a16="http://schemas.microsoft.com/office/drawing/2014/main" id="{50A9BE76-D1A6-4744-9C3D-7771799F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290" y="3240977"/>
            <a:ext cx="122111" cy="203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170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4</a:t>
            </a:r>
          </a:p>
        </p:txBody>
      </p:sp>
      <p:sp>
        <p:nvSpPr>
          <p:cNvPr id="15" name="editable-text-08-14">
            <a:extLst xmlns:a="http://schemas.openxmlformats.org/drawingml/2006/main">
              <a:ext uri="{FF2B5EF4-FFF2-40B4-BE49-F238E27FC236}">
                <a16:creationId xmlns:a16="http://schemas.microsoft.com/office/drawing/2014/main" id="{99092101-BF57-4C35-8378-1B4634F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090" y="3616833"/>
            <a:ext cx="1036701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Selective Growth</a:t>
            </a:r>
          </a:p>
        </p:txBody>
      </p:sp>
      <p:sp>
        <p:nvSpPr>
          <p:cNvPr id="16" name="editable-text-08-15">
            <a:extLst xmlns:a="http://schemas.openxmlformats.org/drawingml/2006/main">
              <a:ext uri="{FF2B5EF4-FFF2-40B4-BE49-F238E27FC236}">
                <a16:creationId xmlns:a16="http://schemas.microsoft.com/office/drawing/2014/main" id="{D803A01F-4985-42C8-BC90-DA4676C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2161" y="3818858"/>
            <a:ext cx="1412462" cy="72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Deploy capital toward opportunities with clear path to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5693213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ea5355f5f4e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9-01">
            <a:extLst xmlns:a="http://schemas.openxmlformats.org/drawingml/2006/main">
              <a:ext uri="{FF2B5EF4-FFF2-40B4-BE49-F238E27FC236}">
                <a16:creationId xmlns:a16="http://schemas.microsoft.com/office/drawing/2014/main" id="{BF7C80C0-AFB2-4CC8-AC38-A0EE83B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417576"/>
            <a:ext cx="592169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1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Deep Dive</a:t>
            </a:r>
          </a:p>
        </p:txBody>
      </p:sp>
      <p:sp>
        <p:nvSpPr>
          <p:cNvPr id="3" name="editable-text-09-02">
            <a:extLst xmlns:a="http://schemas.openxmlformats.org/drawingml/2006/main">
              <a:ext uri="{FF2B5EF4-FFF2-40B4-BE49-F238E27FC236}">
                <a16:creationId xmlns:a16="http://schemas.microsoft.com/office/drawing/2014/main" id="{D59E6B6A-199C-4E4D-9390-469D67CB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252" y="419481"/>
            <a:ext cx="875824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00" b="0">
                <a:solidFill>
                  <a:srgbClr val="1E2BFA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Detailed Analysis</a:t>
            </a:r>
          </a:p>
        </p:txBody>
      </p:sp>
      <p:sp>
        <p:nvSpPr>
          <p:cNvPr id="4" name="editable-text-09-03">
            <a:extLst xmlns:a="http://schemas.openxmlformats.org/drawingml/2006/main">
              <a:ext uri="{FF2B5EF4-FFF2-40B4-BE49-F238E27FC236}">
                <a16:creationId xmlns:a16="http://schemas.microsoft.com/office/drawing/2014/main" id="{4C0D53A4-E8FF-4672-BA18-1934A45E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" y="728091"/>
            <a:ext cx="9193911" cy="4635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295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Changes in investment practices and valuation frameworks</a:t>
            </a:r>
          </a:p>
        </p:txBody>
      </p:sp>
      <p:sp>
        <p:nvSpPr>
          <p:cNvPr id="5" name="editable-text-09-04">
            <a:extLst xmlns:a="http://schemas.openxmlformats.org/drawingml/2006/main">
              <a:ext uri="{FF2B5EF4-FFF2-40B4-BE49-F238E27FC236}">
                <a16:creationId xmlns:a16="http://schemas.microsoft.com/office/drawing/2014/main" id="{B1B436EC-DCFA-497C-9832-8ED5C62D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1431131"/>
            <a:ext cx="1834229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Assuming higher cost of capital</a:t>
            </a:r>
          </a:p>
        </p:txBody>
      </p:sp>
      <p:sp>
        <p:nvSpPr>
          <p:cNvPr id="6" name="editable-text-09-05">
            <a:extLst xmlns:a="http://schemas.openxmlformats.org/drawingml/2006/main">
              <a:ext uri="{FF2B5EF4-FFF2-40B4-BE49-F238E27FC236}">
                <a16:creationId xmlns:a16="http://schemas.microsoft.com/office/drawing/2014/main" id="{33417E13-3415-40A5-84F8-2C93DEAE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1653445"/>
            <a:ext cx="4305872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Using elevated discount rates to reflect tighter monetary conditions</a:t>
            </a:r>
          </a:p>
        </p:txBody>
      </p:sp>
      <p:sp>
        <p:nvSpPr>
          <p:cNvPr id="7" name="editable-text-09-06">
            <a:extLst xmlns:a="http://schemas.openxmlformats.org/drawingml/2006/main">
              <a:ext uri="{FF2B5EF4-FFF2-40B4-BE49-F238E27FC236}">
                <a16:creationId xmlns:a16="http://schemas.microsoft.com/office/drawing/2014/main" id="{60FDA22E-310E-474B-8910-2404C25B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1871091"/>
            <a:ext cx="3781711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Shifting hurdle rates for internal capital allocation decisions</a:t>
            </a:r>
          </a:p>
        </p:txBody>
      </p:sp>
      <p:sp>
        <p:nvSpPr>
          <p:cNvPr id="8" name="editable-text-09-07">
            <a:extLst xmlns:a="http://schemas.openxmlformats.org/drawingml/2006/main">
              <a:ext uri="{FF2B5EF4-FFF2-40B4-BE49-F238E27FC236}">
                <a16:creationId xmlns:a16="http://schemas.microsoft.com/office/drawing/2014/main" id="{243CAC62-E0EB-40BE-A24D-FB6E94EA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2088642"/>
            <a:ext cx="3497390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Emphasizing shorter payback periods for new projects</a:t>
            </a:r>
          </a:p>
        </p:txBody>
      </p:sp>
      <p:sp>
        <p:nvSpPr>
          <p:cNvPr id="9" name="editable-text-09-08">
            <a:extLst xmlns:a="http://schemas.openxmlformats.org/drawingml/2006/main">
              <a:ext uri="{FF2B5EF4-FFF2-40B4-BE49-F238E27FC236}">
                <a16:creationId xmlns:a16="http://schemas.microsoft.com/office/drawing/2014/main" id="{28ABCF1C-0B25-448D-A190-9FFE28F6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2590705"/>
            <a:ext cx="2206276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More conservative valuation approach</a:t>
            </a:r>
          </a:p>
        </p:txBody>
      </p:sp>
      <p:sp>
        <p:nvSpPr>
          <p:cNvPr id="10" name="editable-text-09-09">
            <a:extLst xmlns:a="http://schemas.openxmlformats.org/drawingml/2006/main">
              <a:ext uri="{FF2B5EF4-FFF2-40B4-BE49-F238E27FC236}">
                <a16:creationId xmlns:a16="http://schemas.microsoft.com/office/drawing/2014/main" id="{1279EB64-434C-4389-8A82-474DEFF3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2813018"/>
            <a:ext cx="4005072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Greater weight assigned to downside and bear-case scenarios</a:t>
            </a:r>
          </a:p>
        </p:txBody>
      </p:sp>
      <p:sp>
        <p:nvSpPr>
          <p:cNvPr id="11" name="editable-text-09-10">
            <a:extLst xmlns:a="http://schemas.openxmlformats.org/drawingml/2006/main">
              <a:ext uri="{FF2B5EF4-FFF2-40B4-BE49-F238E27FC236}">
                <a16:creationId xmlns:a16="http://schemas.microsoft.com/office/drawing/2014/main" id="{9FACC2D9-2428-4400-BB8C-070AABE5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3030665"/>
            <a:ext cx="3835051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Reduced reliance on long-dated terminal value assumptions</a:t>
            </a:r>
          </a:p>
        </p:txBody>
      </p:sp>
      <p:sp>
        <p:nvSpPr>
          <p:cNvPr id="12" name="editable-text-09-11">
            <a:extLst xmlns:a="http://schemas.openxmlformats.org/drawingml/2006/main">
              <a:ext uri="{FF2B5EF4-FFF2-40B4-BE49-F238E27FC236}">
                <a16:creationId xmlns:a16="http://schemas.microsoft.com/office/drawing/2014/main" id="{78EE2DA9-D428-47E6-AE26-758D5498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3248216"/>
            <a:ext cx="3107531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Increased sensitivity analysis around key drivers</a:t>
            </a:r>
          </a:p>
        </p:txBody>
      </p:sp>
      <p:sp>
        <p:nvSpPr>
          <p:cNvPr id="13" name="editable-text-09-12">
            <a:extLst xmlns:a="http://schemas.openxmlformats.org/drawingml/2006/main">
              <a:ext uri="{FF2B5EF4-FFF2-40B4-BE49-F238E27FC236}">
                <a16:creationId xmlns:a16="http://schemas.microsoft.com/office/drawing/2014/main" id="{04B4D610-E97E-4949-8056-76488769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" y="3750278"/>
            <a:ext cx="173088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Value over growth momentum</a:t>
            </a:r>
          </a:p>
        </p:txBody>
      </p:sp>
      <p:sp>
        <p:nvSpPr>
          <p:cNvPr id="14" name="editable-text-09-13">
            <a:extLst xmlns:a="http://schemas.openxmlformats.org/drawingml/2006/main">
              <a:ext uri="{FF2B5EF4-FFF2-40B4-BE49-F238E27FC236}">
                <a16:creationId xmlns:a16="http://schemas.microsoft.com/office/drawing/2014/main" id="{D99B50E0-AD57-41C4-A6E3-A41B3E6E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3972592"/>
            <a:ext cx="300361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Pivoting toward earnings-supported valuations</a:t>
            </a:r>
          </a:p>
        </p:txBody>
      </p:sp>
      <p:sp>
        <p:nvSpPr>
          <p:cNvPr id="15" name="editable-text-09-14">
            <a:extLst xmlns:a="http://schemas.openxmlformats.org/drawingml/2006/main">
              <a:ext uri="{FF2B5EF4-FFF2-40B4-BE49-F238E27FC236}">
                <a16:creationId xmlns:a16="http://schemas.microsoft.com/office/drawing/2014/main" id="{C585681B-EC02-4F35-99C7-ACF9E771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4190238"/>
            <a:ext cx="3855339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Favoring demonstrable unit economics over scale narratives</a:t>
            </a:r>
          </a:p>
        </p:txBody>
      </p:sp>
      <p:sp>
        <p:nvSpPr>
          <p:cNvPr id="16" name="editable-text-09-15">
            <a:extLst xmlns:a="http://schemas.openxmlformats.org/drawingml/2006/main">
              <a:ext uri="{FF2B5EF4-FFF2-40B4-BE49-F238E27FC236}">
                <a16:creationId xmlns:a16="http://schemas.microsoft.com/office/drawing/2014/main" id="{1A576AA7-673E-445D-B4E3-F385E51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58" y="4407789"/>
            <a:ext cx="3707797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Reassessing premium multiples for unprofitable segments</a:t>
            </a:r>
          </a:p>
        </p:txBody>
      </p:sp>
      <p:sp>
        <p:nvSpPr>
          <p:cNvPr id="17" name="editable-text-09-16">
            <a:extLst xmlns:a="http://schemas.openxmlformats.org/drawingml/2006/main">
              <a:ext uri="{FF2B5EF4-FFF2-40B4-BE49-F238E27FC236}">
                <a16:creationId xmlns:a16="http://schemas.microsoft.com/office/drawing/2014/main" id="{B511B55C-9093-4F38-81D1-4CD1C46D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1131"/>
            <a:ext cx="1871186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Cash flow &amp; balance sheet focus</a:t>
            </a:r>
          </a:p>
        </p:txBody>
      </p:sp>
      <p:sp>
        <p:nvSpPr>
          <p:cNvPr id="18" name="editable-text-09-17">
            <a:extLst xmlns:a="http://schemas.openxmlformats.org/drawingml/2006/main">
              <a:ext uri="{FF2B5EF4-FFF2-40B4-BE49-F238E27FC236}">
                <a16:creationId xmlns:a16="http://schemas.microsoft.com/office/drawing/2014/main" id="{C2280C85-A2AC-407C-B75E-519B6B56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1653445"/>
            <a:ext cx="403231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Prioritizing free cash flow generation as a key screening metric</a:t>
            </a:r>
          </a:p>
        </p:txBody>
      </p:sp>
      <p:sp>
        <p:nvSpPr>
          <p:cNvPr id="19" name="editable-text-09-18">
            <a:extLst xmlns:a="http://schemas.openxmlformats.org/drawingml/2006/main">
              <a:ext uri="{FF2B5EF4-FFF2-40B4-BE49-F238E27FC236}">
                <a16:creationId xmlns:a16="http://schemas.microsoft.com/office/drawing/2014/main" id="{C705A369-5362-466E-A615-13011F7B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1871091"/>
            <a:ext cx="3978307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Analyzing working capital needs under inflationary input costs</a:t>
            </a:r>
          </a:p>
        </p:txBody>
      </p:sp>
      <p:sp>
        <p:nvSpPr>
          <p:cNvPr id="20" name="editable-text-09-19">
            <a:extLst xmlns:a="http://schemas.openxmlformats.org/drawingml/2006/main">
              <a:ext uri="{FF2B5EF4-FFF2-40B4-BE49-F238E27FC236}">
                <a16:creationId xmlns:a16="http://schemas.microsoft.com/office/drawing/2014/main" id="{4956E799-0A31-47D3-94E1-8743EAB5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2088642"/>
            <a:ext cx="3369945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Reviewing leverage ratios and refinancing schedules</a:t>
            </a:r>
          </a:p>
        </p:txBody>
      </p:sp>
      <p:sp>
        <p:nvSpPr>
          <p:cNvPr id="21" name="editable-text-09-20">
            <a:extLst xmlns:a="http://schemas.openxmlformats.org/drawingml/2006/main">
              <a:ext uri="{FF2B5EF4-FFF2-40B4-BE49-F238E27FC236}">
                <a16:creationId xmlns:a16="http://schemas.microsoft.com/office/drawing/2014/main" id="{0FE9056A-9A91-4596-A740-C664962A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705"/>
            <a:ext cx="1547908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Bottom-up stock selection</a:t>
            </a:r>
          </a:p>
        </p:txBody>
      </p:sp>
      <p:sp>
        <p:nvSpPr>
          <p:cNvPr id="22" name="editable-text-09-21">
            <a:extLst xmlns:a="http://schemas.openxmlformats.org/drawingml/2006/main">
              <a:ext uri="{FF2B5EF4-FFF2-40B4-BE49-F238E27FC236}">
                <a16:creationId xmlns:a16="http://schemas.microsoft.com/office/drawing/2014/main" id="{4E3C5EA0-74B3-49A4-BD4F-536E376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2813018"/>
            <a:ext cx="3286887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Reducing macro-driven top-down factor exposures</a:t>
            </a:r>
          </a:p>
        </p:txBody>
      </p:sp>
      <p:sp>
        <p:nvSpPr>
          <p:cNvPr id="23" name="editable-text-09-22">
            <a:extLst xmlns:a="http://schemas.openxmlformats.org/drawingml/2006/main">
              <a:ext uri="{FF2B5EF4-FFF2-40B4-BE49-F238E27FC236}">
                <a16:creationId xmlns:a16="http://schemas.microsoft.com/office/drawing/2014/main" id="{38FED97F-AFEF-4F91-8443-ADA84DB2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3030665"/>
            <a:ext cx="347405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Intensifying fundamental research at the security level</a:t>
            </a:r>
          </a:p>
        </p:txBody>
      </p:sp>
      <p:sp>
        <p:nvSpPr>
          <p:cNvPr id="24" name="editable-text-09-23">
            <a:extLst xmlns:a="http://schemas.openxmlformats.org/drawingml/2006/main">
              <a:ext uri="{FF2B5EF4-FFF2-40B4-BE49-F238E27FC236}">
                <a16:creationId xmlns:a16="http://schemas.microsoft.com/office/drawing/2014/main" id="{9909426A-B0DB-41C6-9AE5-63AEB10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3248216"/>
            <a:ext cx="3507105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Building conviction through differentiated data sources</a:t>
            </a:r>
          </a:p>
        </p:txBody>
      </p:sp>
      <p:sp>
        <p:nvSpPr>
          <p:cNvPr id="25" name="editable-text-09-24">
            <a:extLst xmlns:a="http://schemas.openxmlformats.org/drawingml/2006/main">
              <a:ext uri="{FF2B5EF4-FFF2-40B4-BE49-F238E27FC236}">
                <a16:creationId xmlns:a16="http://schemas.microsoft.com/office/drawing/2014/main" id="{577F2B1F-36AC-45FD-80A8-E1885948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0278"/>
            <a:ext cx="1436370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1080" b="0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Shorter-term orientation</a:t>
            </a:r>
          </a:p>
        </p:txBody>
      </p:sp>
      <p:sp>
        <p:nvSpPr>
          <p:cNvPr id="26" name="editable-text-09-25">
            <a:extLst xmlns:a="http://schemas.openxmlformats.org/drawingml/2006/main">
              <a:ext uri="{FF2B5EF4-FFF2-40B4-BE49-F238E27FC236}">
                <a16:creationId xmlns:a16="http://schemas.microsoft.com/office/drawing/2014/main" id="{1A926715-DF54-442A-A07F-5AA802A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3972592"/>
            <a:ext cx="3559683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Narrowing forecasting windows for revenue and margin</a:t>
            </a:r>
          </a:p>
        </p:txBody>
      </p:sp>
      <p:sp>
        <p:nvSpPr>
          <p:cNvPr id="27" name="editable-text-09-26">
            <a:extLst xmlns:a="http://schemas.openxmlformats.org/drawingml/2006/main">
              <a:ext uri="{FF2B5EF4-FFF2-40B4-BE49-F238E27FC236}">
                <a16:creationId xmlns:a16="http://schemas.microsoft.com/office/drawing/2014/main" id="{DA4F1758-97CC-460F-B92F-26592E7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4190238"/>
            <a:ext cx="2979896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More frequent reassessment of position sizing</a:t>
            </a:r>
          </a:p>
        </p:txBody>
      </p:sp>
      <p:sp>
        <p:nvSpPr>
          <p:cNvPr id="28" name="editable-text-09-27">
            <a:extLst xmlns:a="http://schemas.openxmlformats.org/drawingml/2006/main">
              <a:ext uri="{FF2B5EF4-FFF2-40B4-BE49-F238E27FC236}">
                <a16:creationId xmlns:a16="http://schemas.microsoft.com/office/drawing/2014/main" id="{1F68543D-6921-4F3C-9FEF-E744EC6B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478" y="4407789"/>
            <a:ext cx="2875407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Active hedging around event-driven volatility</a:t>
            </a:r>
          </a:p>
        </p:txBody>
      </p:sp>
    </p:spTree>
    <p:extLst>
      <p:ext uri="{BB962C8B-B14F-4D97-AF65-F5344CB8AC3E}">
        <p14:creationId xmlns:p14="http://schemas.microsoft.com/office/powerpoint/2010/main" val="4891699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47aea742e41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10-01">
            <a:extLst xmlns:a="http://schemas.openxmlformats.org/drawingml/2006/main">
              <a:ext uri="{FF2B5EF4-FFF2-40B4-BE49-F238E27FC236}">
                <a16:creationId xmlns:a16="http://schemas.microsoft.com/office/drawing/2014/main" id="{D4087BC0-DE50-4A16-B9EA-FF04A335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085" y="2356866"/>
            <a:ext cx="2495836" cy="6984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54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4545" b="1">
                <a:solidFill>
                  <a:srgbClr val="111111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Thank You</a:t>
            </a:r>
          </a:p>
        </p:txBody>
      </p:sp>
      <p:sp>
        <p:nvSpPr>
          <p:cNvPr id="3" name="editable-text-10-02">
            <a:extLst xmlns:a="http://schemas.openxmlformats.org/drawingml/2006/main">
              <a:ext uri="{FF2B5EF4-FFF2-40B4-BE49-F238E27FC236}">
                <a16:creationId xmlns:a16="http://schemas.microsoft.com/office/drawing/2014/main" id="{BCC3F180-5505-4069-8FE4-A7EE4EF4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261" y="3079909"/>
            <a:ext cx="5013484" cy="3738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6B6B6B">
                    <a:alpha val="0"/>
                  </a:srgbClr>
                </a:solidFill>
                <a:latin typeface="Inter"/>
                <a:ea typeface="Inter"/>
                <a:cs typeface="Inter"/>
              </a:rPr>
              <a:t>For questions or a deeper discussion of these findings, please reach out to the research team.</a:t>
            </a:r>
          </a:p>
        </p:txBody>
      </p:sp>
      <p:sp>
        <p:nvSpPr>
          <p:cNvPr id="4" name="editable-text-10-03">
            <a:extLst xmlns:a="http://schemas.openxmlformats.org/drawingml/2006/main">
              <a:ext uri="{FF2B5EF4-FFF2-40B4-BE49-F238E27FC236}">
                <a16:creationId xmlns:a16="http://schemas.microsoft.com/office/drawing/2014/main" id="{BE4CA14A-7228-4FE4-B46F-049E9FF7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641" y="3772948"/>
            <a:ext cx="1206913" cy="1778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FDFAE7">
                    <a:alpha val="0"/>
                  </a:srgbClr>
                </a:solidFill>
                <a:latin typeface="Space Grotesk"/>
                <a:ea typeface="Space Grotesk"/>
                <a:cs typeface="Space Grotesk"/>
              </a:rPr>
              <a:t>Download Full Report</a:t>
            </a:r>
          </a:p>
        </p:txBody>
      </p:sp>
      <p:sp>
        <p:nvSpPr>
          <p:cNvPr id="5" name="editable-text-10-04">
            <a:extLst xmlns:a="http://schemas.openxmlformats.org/drawingml/2006/main">
              <a:ext uri="{FF2B5EF4-FFF2-40B4-BE49-F238E27FC236}">
                <a16:creationId xmlns:a16="http://schemas.microsoft.com/office/drawing/2014/main" id="{3327E068-C02D-44F5-8A31-C94C521A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192" y="4320254"/>
            <a:ext cx="3057716" cy="1968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defRPr>
            </a:pPr>
            <a:r>
              <a:rPr sz="1185" b="0">
                <a:solidFill>
                  <a:srgbClr val="9A9A9A">
                    <a:alpha val="0"/>
                  </a:srgbClr>
                </a:solidFill>
                <a:latin typeface="Inter"/>
                <a:ea typeface="Inter"/>
                <a:cs typeface="Inter"/>
              </a:rPr>
              <a:t>research@company.com · www.company.com</a:t>
            </a:r>
          </a:p>
        </p:txBody>
      </p:sp>
    </p:spTree>
    <p:extLst>
      <p:ext uri="{BB962C8B-B14F-4D97-AF65-F5344CB8AC3E}">
        <p14:creationId xmlns:p14="http://schemas.microsoft.com/office/powerpoint/2010/main" val="761620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2026-06-08T02:00:48.7540000Z</dcterms:created>
  <dcterms:modified xsi:type="dcterms:W3CDTF">2026-06-08T02:00:48.7540000Z</dcterms:modified>
</coreProperties>
</file>