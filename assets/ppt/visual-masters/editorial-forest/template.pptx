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68c2896d3294064" /><Relationship Type="http://schemas.openxmlformats.org/officeDocument/2006/relationships/extended-properties" Target="/docProps/app.xml" Id="Rf8e3e4a1cdf54d63" /><Relationship Type="http://schemas.openxmlformats.org/officeDocument/2006/relationships/officeDocument" Target="/ppt/presentation.xml" Id="R5426743b402a41f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83c2fadf8734e46"/>
  </p:sldMasterIdLst>
  <p:notesMasterIdLst>
    <p:notesMasterId xmlns:r="http://schemas.openxmlformats.org/officeDocument/2006/relationships" r:id="R2f5f162c1e494d17"/>
  </p:notesMasterIdLst>
  <p:sldIdLst>
    <p:sldId xmlns:r="http://schemas.openxmlformats.org/officeDocument/2006/relationships" id="256" r:id="R7e3c72e80a8b4499"/>
    <p:sldId xmlns:r="http://schemas.openxmlformats.org/officeDocument/2006/relationships" id="257" r:id="Rf850e462198c48f5"/>
    <p:sldId xmlns:r="http://schemas.openxmlformats.org/officeDocument/2006/relationships" id="258" r:id="R5a812694024b4b72"/>
    <p:sldId xmlns:r="http://schemas.openxmlformats.org/officeDocument/2006/relationships" id="259" r:id="Re89643367bad4271"/>
    <p:sldId xmlns:r="http://schemas.openxmlformats.org/officeDocument/2006/relationships" id="260" r:id="R28f8d9dc34594757"/>
    <p:sldId xmlns:r="http://schemas.openxmlformats.org/officeDocument/2006/relationships" id="261" r:id="Ra7cb8be123f542c8"/>
    <p:sldId xmlns:r="http://schemas.openxmlformats.org/officeDocument/2006/relationships" id="262" r:id="R3ae1a6b1dd1549e4"/>
    <p:sldId xmlns:r="http://schemas.openxmlformats.org/officeDocument/2006/relationships" id="263" r:id="R421b449e9dd74255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1bd2c2141a04986" /><Relationship Type="http://schemas.openxmlformats.org/officeDocument/2006/relationships/slideMaster" Target="/ppt/slideMasters/slideMaster1.xml" Id="Rb83c2fadf8734e46" /><Relationship Type="http://schemas.openxmlformats.org/officeDocument/2006/relationships/notesMaster" Target="/ppt/notesMasters/notesMaster1.xml" Id="R2f5f162c1e494d17" /><Relationship Type="http://schemas.openxmlformats.org/officeDocument/2006/relationships/presProps" Target="/ppt/presProps.xml" Id="R7190b1e0fb014ab1" /><Relationship Type="http://schemas.openxmlformats.org/officeDocument/2006/relationships/viewProps" Target="/ppt/viewProps.xml" Id="R90d76b52ee894194" /><Relationship Type="http://schemas.openxmlformats.org/officeDocument/2006/relationships/tableStyles" Target="/ppt/tableStyles.xml" Id="Re614043af0484238" /><Relationship Type="http://schemas.openxmlformats.org/officeDocument/2006/relationships/slide" Target="/ppt/slides/slide1.xml" Id="R7e3c72e80a8b4499" /><Relationship Type="http://schemas.openxmlformats.org/officeDocument/2006/relationships/slide" Target="/ppt/slides/slide2.xml" Id="Rf850e462198c48f5" /><Relationship Type="http://schemas.openxmlformats.org/officeDocument/2006/relationships/slide" Target="/ppt/slides/slide3.xml" Id="R5a812694024b4b72" /><Relationship Type="http://schemas.openxmlformats.org/officeDocument/2006/relationships/slide" Target="/ppt/slides/slide4.xml" Id="Re89643367bad4271" /><Relationship Type="http://schemas.openxmlformats.org/officeDocument/2006/relationships/slide" Target="/ppt/slides/slide5.xml" Id="R28f8d9dc34594757" /><Relationship Type="http://schemas.openxmlformats.org/officeDocument/2006/relationships/slide" Target="/ppt/slides/slide6.xml" Id="Ra7cb8be123f542c8" /><Relationship Type="http://schemas.openxmlformats.org/officeDocument/2006/relationships/slide" Target="/ppt/slides/slide7.xml" Id="R3ae1a6b1dd1549e4" /><Relationship Type="http://schemas.openxmlformats.org/officeDocument/2006/relationships/slide" Target="/ppt/slides/slide8.xml" Id="R421b449e9dd7425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d52c6cdda2da40a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2d27e5d69e64b05" /><Relationship Type="http://schemas.openxmlformats.org/officeDocument/2006/relationships/notesMaster" Target="/ppt/notesMasters/notesMaster1.xml" Id="R4c03d22e9016422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34fedcf4696435b" /><Relationship Type="http://schemas.openxmlformats.org/officeDocument/2006/relationships/notesMaster" Target="/ppt/notesMasters/notesMaster1.xml" Id="R3027b2b63dd246b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730b7ee59d4d15" /><Relationship Type="http://schemas.openxmlformats.org/officeDocument/2006/relationships/notesMaster" Target="/ppt/notesMasters/notesMaster1.xml" Id="Rfd978e7568ec440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29496d582f24125" /><Relationship Type="http://schemas.openxmlformats.org/officeDocument/2006/relationships/notesMaster" Target="/ppt/notesMasters/notesMaster1.xml" Id="R9117f27e69104d0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a75e6bdcf5fc4c7e" /><Relationship Type="http://schemas.openxmlformats.org/officeDocument/2006/relationships/notesMaster" Target="/ppt/notesMasters/notesMaster1.xml" Id="R6accc120f980469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fb1681f73a54108" /><Relationship Type="http://schemas.openxmlformats.org/officeDocument/2006/relationships/notesMaster" Target="/ppt/notesMasters/notesMaster1.xml" Id="Recbb09e8183640ae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24329573df4df3" /><Relationship Type="http://schemas.openxmlformats.org/officeDocument/2006/relationships/notesMaster" Target="/ppt/notesMasters/notesMaster1.xml" Id="R97fd06177ad94c3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563f086ad89b4aad" /><Relationship Type="http://schemas.openxmlformats.org/officeDocument/2006/relationships/notesMaster" Target="/ppt/notesMasters/notesMaster1.xml" Id="R0b8a55bf5be14f8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4cd5c84588a47e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c26e641615d4a2b" /><Relationship Type="http://schemas.openxmlformats.org/officeDocument/2006/relationships/slideLayout" Target="/ppt/slideLayouts/slideLayout1.xml" Id="Rbb2386ca876d4c8d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bb2386ca876d4c8d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4cf38885e1d4edb" /><Relationship Type="http://schemas.openxmlformats.org/officeDocument/2006/relationships/image" Target="/ppt/media/image.png" Id="R9db20760d2d54b3d" /><Relationship Type="http://schemas.openxmlformats.org/officeDocument/2006/relationships/notesSlide" Target="/ppt/notesSlides/notesSlide1.xml" Id="R003e6729e43540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a9baeb650f4c58" /><Relationship Type="http://schemas.openxmlformats.org/officeDocument/2006/relationships/image" Target="/ppt/media/image2.png" Id="Rc07c85ababc44338" /><Relationship Type="http://schemas.openxmlformats.org/officeDocument/2006/relationships/notesSlide" Target="/ppt/notesSlides/notesSlide2.xml" Id="R23e27edb7a03406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32a2f5448a540ff" /><Relationship Type="http://schemas.openxmlformats.org/officeDocument/2006/relationships/image" Target="/ppt/media/image3.png" Id="R594453b9ed65448c" /><Relationship Type="http://schemas.openxmlformats.org/officeDocument/2006/relationships/notesSlide" Target="/ppt/notesSlides/notesSlide3.xml" Id="R8d4d1b1b2aac47b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15884a5ae3342f0" /><Relationship Type="http://schemas.openxmlformats.org/officeDocument/2006/relationships/image" Target="/ppt/media/image4.png" Id="Re1002caaedae4219" /><Relationship Type="http://schemas.openxmlformats.org/officeDocument/2006/relationships/notesSlide" Target="/ppt/notesSlides/notesSlide4.xml" Id="Rd61e5c89af564be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bfd1a3e1bae4c0f" /><Relationship Type="http://schemas.openxmlformats.org/officeDocument/2006/relationships/image" Target="/ppt/media/image5.png" Id="R259ee7ae690e4380" /><Relationship Type="http://schemas.openxmlformats.org/officeDocument/2006/relationships/notesSlide" Target="/ppt/notesSlides/notesSlide5.xml" Id="R0004998feea447e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b32446bcd842ee" /><Relationship Type="http://schemas.openxmlformats.org/officeDocument/2006/relationships/image" Target="/ppt/media/image6.png" Id="R54c39f96fb01492f" /><Relationship Type="http://schemas.openxmlformats.org/officeDocument/2006/relationships/notesSlide" Target="/ppt/notesSlides/notesSlide6.xml" Id="R46f0017eefc2438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a8d56cba64850" /><Relationship Type="http://schemas.openxmlformats.org/officeDocument/2006/relationships/image" Target="/ppt/media/image7.png" Id="Rbe3d593022364583" /><Relationship Type="http://schemas.openxmlformats.org/officeDocument/2006/relationships/notesSlide" Target="/ppt/notesSlides/notesSlide7.xml" Id="R691ef83a8cc5463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ab1b2dfda0431f" /><Relationship Type="http://schemas.openxmlformats.org/officeDocument/2006/relationships/image" Target="/ppt/media/image8.png" Id="Ra735eca0eee0443b" /><Relationship Type="http://schemas.openxmlformats.org/officeDocument/2006/relationships/notesSlide" Target="/ppt/notesSlides/notesSlide8.xml" Id="R4bb1f7bbdba34eb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b20760d2d54b3d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1-01">
            <a:extLst xmlns:a="http://schemas.openxmlformats.org/drawingml/2006/main">
              <a:ext uri="{FF2B5EF4-FFF2-40B4-BE49-F238E27FC236}">
                <a16:creationId xmlns:a16="http://schemas.microsoft.com/office/drawing/2014/main" id="{3B470E3F-69AB-4ED1-B8C5-533AC73F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992410"/>
            <a:ext cx="186080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A Presentation Template</a:t>
            </a:r>
          </a:p>
        </p:txBody>
      </p:sp>
      <p:sp>
        <p:nvSpPr>
          <p:cNvPr id="3" name="editable-text-01-02">
            <a:extLst xmlns:a="http://schemas.openxmlformats.org/drawingml/2006/main">
              <a:ext uri="{FF2B5EF4-FFF2-40B4-BE49-F238E27FC236}">
                <a16:creationId xmlns:a16="http://schemas.microsoft.com/office/drawing/2014/main" id="{F230B273-8D29-48A7-AA74-5F544810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53058" y="941260"/>
            <a:ext cx="287084" cy="2730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575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4" name="editable-text-01-03">
            <a:extLst xmlns:a="http://schemas.openxmlformats.org/drawingml/2006/main">
              <a:ext uri="{FF2B5EF4-FFF2-40B4-BE49-F238E27FC236}">
                <a16:creationId xmlns:a16="http://schemas.microsoft.com/office/drawing/2014/main" id="{BD280927-FB67-4B96-A6DB-C4CD0BA93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1422368"/>
            <a:ext cx="5296948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Quarterly</a:t>
            </a:r>
          </a:p>
        </p:txBody>
      </p:sp>
      <p:sp>
        <p:nvSpPr>
          <p:cNvPr id="5" name="editable-text-01-04">
            <a:extLst xmlns:a="http://schemas.openxmlformats.org/drawingml/2006/main">
              <a:ext uri="{FF2B5EF4-FFF2-40B4-BE49-F238E27FC236}">
                <a16:creationId xmlns:a16="http://schemas.microsoft.com/office/drawing/2014/main" id="{89DE3A7B-0621-47CA-8E04-D232BD1D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2707577"/>
            <a:ext cx="3988879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Review</a:t>
            </a:r>
          </a:p>
        </p:txBody>
      </p:sp>
      <p:sp>
        <p:nvSpPr>
          <p:cNvPr id="6" name="editable-text-01-05">
            <a:extLst xmlns:a="http://schemas.openxmlformats.org/drawingml/2006/main">
              <a:ext uri="{FF2B5EF4-FFF2-40B4-BE49-F238E27FC236}">
                <a16:creationId xmlns:a16="http://schemas.microsoft.com/office/drawing/2014/main" id="{2CC0A937-426D-4C4A-BAA5-049C7F484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3992785"/>
            <a:ext cx="2602992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2026</a:t>
            </a:r>
          </a:p>
        </p:txBody>
      </p:sp>
      <p:sp>
        <p:nvSpPr>
          <p:cNvPr id="7" name="editable-text-01-06">
            <a:extLst xmlns:a="http://schemas.openxmlformats.org/drawingml/2006/main">
              <a:ext uri="{FF2B5EF4-FFF2-40B4-BE49-F238E27FC236}">
                <a16:creationId xmlns:a16="http://schemas.microsoft.com/office/drawing/2014/main" id="{CE09FAB0-DBAD-4A60-BD49-448FB8EC7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6213920"/>
            <a:ext cx="1354931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Studio Placeholder</a:t>
            </a:r>
          </a:p>
        </p:txBody>
      </p:sp>
      <p:sp>
        <p:nvSpPr>
          <p:cNvPr id="8" name="editable-text-01-07">
            <a:extLst xmlns:a="http://schemas.openxmlformats.org/drawingml/2006/main">
              <a:ext uri="{FF2B5EF4-FFF2-40B4-BE49-F238E27FC236}">
                <a16:creationId xmlns:a16="http://schemas.microsoft.com/office/drawing/2014/main" id="{7B4756A7-2C83-4A1A-A94F-C0F5F9955A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1529" y="6213920"/>
            <a:ext cx="2159603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Presented by Name Placeholder</a:t>
            </a:r>
          </a:p>
        </p:txBody>
      </p:sp>
    </p:spTree>
    <p:extLst>
      <p:ext uri="{BB962C8B-B14F-4D97-AF65-F5344CB8AC3E}">
        <p14:creationId xmlns:p14="http://schemas.microsoft.com/office/powerpoint/2010/main" val="100916305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07c85ababc44338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2-01">
            <a:extLst xmlns:a="http://schemas.openxmlformats.org/drawingml/2006/main">
              <a:ext uri="{FF2B5EF4-FFF2-40B4-BE49-F238E27FC236}">
                <a16:creationId xmlns:a16="http://schemas.microsoft.com/office/drawing/2014/main" id="{CFC334ED-251A-468D-B44A-DB4A081B54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4532"/>
            <a:ext cx="1995869" cy="8699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Agenda.</a:t>
            </a:r>
          </a:p>
        </p:txBody>
      </p:sp>
      <p:sp>
        <p:nvSpPr>
          <p:cNvPr id="3" name="editable-text-02-02">
            <a:extLst xmlns:a="http://schemas.openxmlformats.org/drawingml/2006/main">
              <a:ext uri="{FF2B5EF4-FFF2-40B4-BE49-F238E27FC236}">
                <a16:creationId xmlns:a16="http://schemas.microsoft.com/office/drawing/2014/main" id="{E95D701B-BA14-4E0D-8699-BAE3710CC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0961" y="971550"/>
            <a:ext cx="225713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Five topics · ninety minutes</a:t>
            </a:r>
          </a:p>
        </p:txBody>
      </p:sp>
      <p:sp>
        <p:nvSpPr>
          <p:cNvPr id="4" name="editable-text-02-03">
            <a:extLst xmlns:a="http://schemas.openxmlformats.org/drawingml/2006/main">
              <a:ext uri="{FF2B5EF4-FFF2-40B4-BE49-F238E27FC236}">
                <a16:creationId xmlns:a16="http://schemas.microsoft.com/office/drawing/2014/main" id="{48C020F2-EC4B-4313-890D-C648DBC57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1639253"/>
            <a:ext cx="28251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01</a:t>
            </a:r>
          </a:p>
        </p:txBody>
      </p:sp>
      <p:sp>
        <p:nvSpPr>
          <p:cNvPr id="5" name="editable-text-02-04">
            <a:extLst xmlns:a="http://schemas.openxmlformats.org/drawingml/2006/main">
              <a:ext uri="{FF2B5EF4-FFF2-40B4-BE49-F238E27FC236}">
                <a16:creationId xmlns:a16="http://schemas.microsoft.com/office/drawing/2014/main" id="{508382AC-8CDE-46E0-A37E-A7E2A4737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1931384"/>
            <a:ext cx="1483805" cy="7683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Where</a:t>
            </a:r>
          </a:p>
        </p:txBody>
      </p:sp>
      <p:sp>
        <p:nvSpPr>
          <p:cNvPr id="6" name="editable-text-02-05">
            <a:extLst xmlns:a="http://schemas.openxmlformats.org/drawingml/2006/main">
              <a:ext uri="{FF2B5EF4-FFF2-40B4-BE49-F238E27FC236}">
                <a16:creationId xmlns:a16="http://schemas.microsoft.com/office/drawing/2014/main" id="{2564B65B-DFFA-4986-952C-D7A7BCCBB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2454116"/>
            <a:ext cx="1913668" cy="7683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we stand</a:t>
            </a:r>
          </a:p>
        </p:txBody>
      </p:sp>
      <p:sp>
        <p:nvSpPr>
          <p:cNvPr id="7" name="editable-text-02-06">
            <a:extLst xmlns:a="http://schemas.openxmlformats.org/drawingml/2006/main">
              <a:ext uri="{FF2B5EF4-FFF2-40B4-BE49-F238E27FC236}">
                <a16:creationId xmlns:a16="http://schemas.microsoft.com/office/drawing/2014/main" id="{6A7AFF24-3619-45F5-90D3-115D2C1D6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2976753"/>
            <a:ext cx="1300353" cy="7683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7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today.</a:t>
            </a:r>
          </a:p>
        </p:txBody>
      </p:sp>
      <p:sp>
        <p:nvSpPr>
          <p:cNvPr id="8" name="editable-text-02-07">
            <a:extLst xmlns:a="http://schemas.openxmlformats.org/drawingml/2006/main">
              <a:ext uri="{FF2B5EF4-FFF2-40B4-BE49-F238E27FC236}">
                <a16:creationId xmlns:a16="http://schemas.microsoft.com/office/drawing/2014/main" id="{59C0B858-9A23-41A7-8DB2-2665F45B8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5861018"/>
            <a:ext cx="806291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Context</a:t>
            </a:r>
          </a:p>
        </p:txBody>
      </p:sp>
      <p:sp>
        <p:nvSpPr>
          <p:cNvPr id="9" name="editable-text-02-08">
            <a:extLst xmlns:a="http://schemas.openxmlformats.org/drawingml/2006/main">
              <a:ext uri="{FF2B5EF4-FFF2-40B4-BE49-F238E27FC236}">
                <a16:creationId xmlns:a16="http://schemas.microsoft.com/office/drawing/2014/main" id="{6DDD4956-E20E-4DD0-8522-4E44C6F8C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1639253"/>
            <a:ext cx="28251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02</a:t>
            </a:r>
          </a:p>
        </p:txBody>
      </p:sp>
      <p:sp>
        <p:nvSpPr>
          <p:cNvPr id="10" name="editable-text-02-09">
            <a:extLst xmlns:a="http://schemas.openxmlformats.org/drawingml/2006/main">
              <a:ext uri="{FF2B5EF4-FFF2-40B4-BE49-F238E27FC236}">
                <a16:creationId xmlns:a16="http://schemas.microsoft.com/office/drawing/2014/main" id="{761B90EF-BB1E-4895-9811-CAE3E5FA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1963103"/>
            <a:ext cx="1927479" cy="527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150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big shift.</a:t>
            </a:r>
          </a:p>
        </p:txBody>
      </p:sp>
      <p:sp>
        <p:nvSpPr>
          <p:cNvPr id="11" name="editable-text-02-10">
            <a:extLst xmlns:a="http://schemas.openxmlformats.org/drawingml/2006/main">
              <a:ext uri="{FF2B5EF4-FFF2-40B4-BE49-F238E27FC236}">
                <a16:creationId xmlns:a16="http://schemas.microsoft.com/office/drawing/2014/main" id="{18F92771-559A-41A4-A6FD-8052A0F20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3334226"/>
            <a:ext cx="806291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Insight</a:t>
            </a:r>
          </a:p>
        </p:txBody>
      </p:sp>
      <p:sp>
        <p:nvSpPr>
          <p:cNvPr id="12" name="editable-text-02-11">
            <a:extLst xmlns:a="http://schemas.openxmlformats.org/drawingml/2006/main">
              <a:ext uri="{FF2B5EF4-FFF2-40B4-BE49-F238E27FC236}">
                <a16:creationId xmlns:a16="http://schemas.microsoft.com/office/drawing/2014/main" id="{7B47C03E-19C5-45E2-B1EF-7F5831E0F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59" y="1652016"/>
            <a:ext cx="28251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03</a:t>
            </a:r>
          </a:p>
        </p:txBody>
      </p:sp>
      <p:sp>
        <p:nvSpPr>
          <p:cNvPr id="13" name="editable-text-02-12">
            <a:extLst xmlns:a="http://schemas.openxmlformats.org/drawingml/2006/main">
              <a:ext uri="{FF2B5EF4-FFF2-40B4-BE49-F238E27FC236}">
                <a16:creationId xmlns:a16="http://schemas.microsoft.com/office/drawing/2014/main" id="{959EBE1D-3A16-4B88-9A04-37F9A137B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59" y="1975866"/>
            <a:ext cx="2397728" cy="527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15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By the numbers.</a:t>
            </a:r>
          </a:p>
        </p:txBody>
      </p:sp>
      <p:sp>
        <p:nvSpPr>
          <p:cNvPr id="14" name="editable-text-02-13">
            <a:extLst xmlns:a="http://schemas.openxmlformats.org/drawingml/2006/main">
              <a:ext uri="{FF2B5EF4-FFF2-40B4-BE49-F238E27FC236}">
                <a16:creationId xmlns:a16="http://schemas.microsoft.com/office/drawing/2014/main" id="{9AD97C80-27BE-4D6C-BD67-913A45917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5759" y="3321558"/>
            <a:ext cx="477012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Data</a:t>
            </a:r>
          </a:p>
        </p:txBody>
      </p:sp>
      <p:sp>
        <p:nvSpPr>
          <p:cNvPr id="15" name="editable-text-02-14">
            <a:extLst xmlns:a="http://schemas.openxmlformats.org/drawingml/2006/main">
              <a:ext uri="{FF2B5EF4-FFF2-40B4-BE49-F238E27FC236}">
                <a16:creationId xmlns:a16="http://schemas.microsoft.com/office/drawing/2014/main" id="{CAA4F244-B95C-4DBA-9673-ECCB87D53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4166140"/>
            <a:ext cx="28251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04</a:t>
            </a:r>
          </a:p>
        </p:txBody>
      </p:sp>
      <p:sp>
        <p:nvSpPr>
          <p:cNvPr id="16" name="editable-text-02-15">
            <a:extLst xmlns:a="http://schemas.openxmlformats.org/drawingml/2006/main">
              <a:ext uri="{FF2B5EF4-FFF2-40B4-BE49-F238E27FC236}">
                <a16:creationId xmlns:a16="http://schemas.microsoft.com/office/drawing/2014/main" id="{B7D8E36E-3AC5-48F9-AE9A-EB18E6C5B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4489990"/>
            <a:ext cx="1923479" cy="8755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150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How we’ll get there.</a:t>
            </a:r>
          </a:p>
        </p:txBody>
      </p:sp>
      <p:sp>
        <p:nvSpPr>
          <p:cNvPr id="17" name="editable-text-02-16">
            <a:extLst xmlns:a="http://schemas.openxmlformats.org/drawingml/2006/main">
              <a:ext uri="{FF2B5EF4-FFF2-40B4-BE49-F238E27FC236}">
                <a16:creationId xmlns:a16="http://schemas.microsoft.com/office/drawing/2014/main" id="{6692D2A6-7B61-49D8-B7C3-821FA159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9749" y="5861018"/>
            <a:ext cx="477012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Plan</a:t>
            </a:r>
          </a:p>
        </p:txBody>
      </p:sp>
      <p:sp>
        <p:nvSpPr>
          <p:cNvPr id="18" name="editable-text-02-17">
            <a:extLst xmlns:a="http://schemas.openxmlformats.org/drawingml/2006/main">
              <a:ext uri="{FF2B5EF4-FFF2-40B4-BE49-F238E27FC236}">
                <a16:creationId xmlns:a16="http://schemas.microsoft.com/office/drawing/2014/main" id="{A5764D49-AF4B-45F6-8C16-581BD5170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995" y="4166140"/>
            <a:ext cx="28251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05</a:t>
            </a:r>
          </a:p>
        </p:txBody>
      </p:sp>
      <p:sp>
        <p:nvSpPr>
          <p:cNvPr id="19" name="editable-text-02-18">
            <a:extLst xmlns:a="http://schemas.openxmlformats.org/drawingml/2006/main">
              <a:ext uri="{FF2B5EF4-FFF2-40B4-BE49-F238E27FC236}">
                <a16:creationId xmlns:a16="http://schemas.microsoft.com/office/drawing/2014/main" id="{451B1A1B-C2E9-4F24-8192-33F318A95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995" y="4489990"/>
            <a:ext cx="2281333" cy="87553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150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150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What it adds up to.</a:t>
            </a:r>
          </a:p>
        </p:txBody>
      </p:sp>
      <p:sp>
        <p:nvSpPr>
          <p:cNvPr id="20" name="editable-text-02-19">
            <a:extLst xmlns:a="http://schemas.openxmlformats.org/drawingml/2006/main">
              <a:ext uri="{FF2B5EF4-FFF2-40B4-BE49-F238E27FC236}">
                <a16:creationId xmlns:a16="http://schemas.microsoft.com/office/drawing/2014/main" id="{16C59629-C595-46A1-B67B-E884584A5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2995" y="5861018"/>
            <a:ext cx="916019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Outcomes</a:t>
            </a:r>
          </a:p>
        </p:txBody>
      </p:sp>
    </p:spTree>
    <p:extLst>
      <p:ext uri="{BB962C8B-B14F-4D97-AF65-F5344CB8AC3E}">
        <p14:creationId xmlns:p14="http://schemas.microsoft.com/office/powerpoint/2010/main" val="59699870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94453b9ed65448c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3-01">
            <a:extLst xmlns:a="http://schemas.openxmlformats.org/drawingml/2006/main">
              <a:ext uri="{FF2B5EF4-FFF2-40B4-BE49-F238E27FC236}">
                <a16:creationId xmlns:a16="http://schemas.microsoft.com/office/drawing/2014/main" id="{7AB3EE4A-6FE4-42DC-AFCC-F90E0475C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831818"/>
            <a:ext cx="75142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The shift</a:t>
            </a:r>
          </a:p>
        </p:txBody>
      </p:sp>
      <p:sp>
        <p:nvSpPr>
          <p:cNvPr id="3" name="editable-text-03-02">
            <a:extLst xmlns:a="http://schemas.openxmlformats.org/drawingml/2006/main">
              <a:ext uri="{FF2B5EF4-FFF2-40B4-BE49-F238E27FC236}">
                <a16:creationId xmlns:a16="http://schemas.microsoft.com/office/drawing/2014/main" id="{B7903DD7-995E-4DB4-996E-54129CB753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1114044"/>
            <a:ext cx="9583865" cy="397754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875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7875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next twelve months are about doing fewer things, and doing them with more conviction.</a:t>
            </a:r>
          </a:p>
        </p:txBody>
      </p:sp>
      <p:sp>
        <p:nvSpPr>
          <p:cNvPr id="4" name="editable-text-03-03">
            <a:extLst xmlns:a="http://schemas.openxmlformats.org/drawingml/2006/main">
              <a:ext uri="{FF2B5EF4-FFF2-40B4-BE49-F238E27FC236}">
                <a16:creationId xmlns:a16="http://schemas.microsoft.com/office/drawing/2014/main" id="{0F909206-3279-421A-B921-AD40392487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5334000"/>
            <a:ext cx="2225326" cy="4254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75" b="1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2475" b="1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Name Placeholder</a:t>
            </a:r>
          </a:p>
        </p:txBody>
      </p:sp>
      <p:sp>
        <p:nvSpPr>
          <p:cNvPr id="5" name="editable-text-03-04">
            <a:extLst xmlns:a="http://schemas.openxmlformats.org/drawingml/2006/main">
              <a:ext uri="{FF2B5EF4-FFF2-40B4-BE49-F238E27FC236}">
                <a16:creationId xmlns:a16="http://schemas.microsoft.com/office/drawing/2014/main" id="{3E8F779D-B52C-4B0B-B9D4-B44C19F3B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32" y="5810250"/>
            <a:ext cx="1992916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Role Placeholder</a:t>
            </a:r>
          </a:p>
        </p:txBody>
      </p:sp>
      <p:sp>
        <p:nvSpPr>
          <p:cNvPr id="6" name="editable-text-03-05">
            <a:extLst xmlns:a="http://schemas.openxmlformats.org/drawingml/2006/main">
              <a:ext uri="{FF2B5EF4-FFF2-40B4-BE49-F238E27FC236}">
                <a16:creationId xmlns:a16="http://schemas.microsoft.com/office/drawing/2014/main" id="{4800985D-5542-4DFA-8EAB-948D91578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4197" y="5810250"/>
            <a:ext cx="1259872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Section 02</a:t>
            </a:r>
          </a:p>
        </p:txBody>
      </p:sp>
    </p:spTree>
    <p:extLst>
      <p:ext uri="{BB962C8B-B14F-4D97-AF65-F5344CB8AC3E}">
        <p14:creationId xmlns:p14="http://schemas.microsoft.com/office/powerpoint/2010/main" val="713962858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002caaedae4219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4-01">
            <a:extLst xmlns:a="http://schemas.openxmlformats.org/drawingml/2006/main">
              <a:ext uri="{FF2B5EF4-FFF2-40B4-BE49-F238E27FC236}">
                <a16:creationId xmlns:a16="http://schemas.microsoft.com/office/drawing/2014/main" id="{0D50235F-AC49-422B-A9CC-6F368F24C6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7409" y="3178778"/>
            <a:ext cx="2895219" cy="5270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3150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150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[ image · 880 × 760 ]</a:t>
            </a:r>
          </a:p>
        </p:txBody>
      </p:sp>
      <p:sp>
        <p:nvSpPr>
          <p:cNvPr id="3" name="editable-text-04-02">
            <a:extLst xmlns:a="http://schemas.openxmlformats.org/drawingml/2006/main">
              <a:ext uri="{FF2B5EF4-FFF2-40B4-BE49-F238E27FC236}">
                <a16:creationId xmlns:a16="http://schemas.microsoft.com/office/drawing/2014/main" id="{59106252-8175-45E7-B7D6-85BCBEB17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5794820"/>
            <a:ext cx="71475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Visual 01</a:t>
            </a:r>
          </a:p>
        </p:txBody>
      </p:sp>
      <p:sp>
        <p:nvSpPr>
          <p:cNvPr id="4" name="editable-text-04-03">
            <a:extLst xmlns:a="http://schemas.openxmlformats.org/drawingml/2006/main">
              <a:ext uri="{FF2B5EF4-FFF2-40B4-BE49-F238E27FC236}">
                <a16:creationId xmlns:a16="http://schemas.microsoft.com/office/drawing/2014/main" id="{C1C03FEE-0C13-4EE7-8259-7BBA4E010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8025" y="5794820"/>
            <a:ext cx="139141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Replace with photo</a:t>
            </a:r>
          </a:p>
        </p:txBody>
      </p:sp>
      <p:sp>
        <p:nvSpPr>
          <p:cNvPr id="5" name="editable-text-04-04">
            <a:extLst xmlns:a="http://schemas.openxmlformats.org/drawingml/2006/main">
              <a:ext uri="{FF2B5EF4-FFF2-40B4-BE49-F238E27FC236}">
                <a16:creationId xmlns:a16="http://schemas.microsoft.com/office/drawing/2014/main" id="{5015E528-32D1-41E1-A6D5-2EDC6ADE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749332"/>
            <a:ext cx="106841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The big shift</a:t>
            </a:r>
          </a:p>
        </p:txBody>
      </p:sp>
      <p:sp>
        <p:nvSpPr>
          <p:cNvPr id="6" name="editable-text-04-05">
            <a:extLst xmlns:a="http://schemas.openxmlformats.org/drawingml/2006/main">
              <a:ext uri="{FF2B5EF4-FFF2-40B4-BE49-F238E27FC236}">
                <a16:creationId xmlns:a16="http://schemas.microsoft.com/office/drawing/2014/main" id="{AD4D8CBF-D13A-409D-B32C-A85E5E8022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961644"/>
            <a:ext cx="3560064" cy="20403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Fewer bets, stronger commitments.</a:t>
            </a:r>
          </a:p>
        </p:txBody>
      </p:sp>
      <p:sp>
        <p:nvSpPr>
          <p:cNvPr id="7" name="editable-text-04-06">
            <a:extLst xmlns:a="http://schemas.openxmlformats.org/drawingml/2006/main">
              <a:ext uri="{FF2B5EF4-FFF2-40B4-BE49-F238E27FC236}">
                <a16:creationId xmlns:a16="http://schemas.microsoft.com/office/drawing/2014/main" id="{C78591E4-C241-4CDC-AB13-4E28E417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3098197"/>
            <a:ext cx="4333780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Placeholder body copy sits here as a stand‑in for the supporting narrative. Open with the point you want the audience to remember when they walk out of the room.</a:t>
            </a:r>
          </a:p>
        </p:txBody>
      </p:sp>
      <p:sp>
        <p:nvSpPr>
          <p:cNvPr id="8" name="editable-text-04-07">
            <a:extLst xmlns:a="http://schemas.openxmlformats.org/drawingml/2006/main">
              <a:ext uri="{FF2B5EF4-FFF2-40B4-BE49-F238E27FC236}">
                <a16:creationId xmlns:a16="http://schemas.microsoft.com/office/drawing/2014/main" id="{C698BF26-284A-4C56-BCDE-411639054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3764375"/>
            <a:ext cx="4256056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Use the second paragraph to add proof — a customer, a moment in market, a number that earns the claim. Keep one idea per paragraph; trust the audience to follow.</a:t>
            </a:r>
          </a:p>
        </p:txBody>
      </p:sp>
      <p:sp>
        <p:nvSpPr>
          <p:cNvPr id="9" name="editable-text-04-08">
            <a:extLst xmlns:a="http://schemas.openxmlformats.org/drawingml/2006/main">
              <a:ext uri="{FF2B5EF4-FFF2-40B4-BE49-F238E27FC236}">
                <a16:creationId xmlns:a16="http://schemas.microsoft.com/office/drawing/2014/main" id="{62211640-1FB8-497A-A58E-10308D553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5699760"/>
            <a:ext cx="41405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Owner</a:t>
            </a:r>
          </a:p>
        </p:txBody>
      </p:sp>
      <p:sp>
        <p:nvSpPr>
          <p:cNvPr id="10" name="editable-text-04-09">
            <a:extLst xmlns:a="http://schemas.openxmlformats.org/drawingml/2006/main">
              <a:ext uri="{FF2B5EF4-FFF2-40B4-BE49-F238E27FC236}">
                <a16:creationId xmlns:a16="http://schemas.microsoft.com/office/drawing/2014/main" id="{9F349D4E-5F5C-4035-847D-45A62BE41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4968" y="5886641"/>
            <a:ext cx="1020032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Team Placeholder</a:t>
            </a:r>
          </a:p>
        </p:txBody>
      </p:sp>
      <p:sp>
        <p:nvSpPr>
          <p:cNvPr id="11" name="editable-text-04-10">
            <a:extLst xmlns:a="http://schemas.openxmlformats.org/drawingml/2006/main">
              <a:ext uri="{FF2B5EF4-FFF2-40B4-BE49-F238E27FC236}">
                <a16:creationId xmlns:a16="http://schemas.microsoft.com/office/drawing/2014/main" id="{B0A267A2-9FC4-4954-A2DA-EFAE5100B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877" y="5699760"/>
            <a:ext cx="71475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Timeframe</a:t>
            </a:r>
          </a:p>
        </p:txBody>
      </p:sp>
      <p:sp>
        <p:nvSpPr>
          <p:cNvPr id="12" name="editable-text-04-11">
            <a:extLst xmlns:a="http://schemas.openxmlformats.org/drawingml/2006/main">
              <a:ext uri="{FF2B5EF4-FFF2-40B4-BE49-F238E27FC236}">
                <a16:creationId xmlns:a16="http://schemas.microsoft.com/office/drawing/2014/main" id="{E4DD049A-52C5-4C82-8DF7-F0099834C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2877" y="5886641"/>
            <a:ext cx="488061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Q2 — Q4</a:t>
            </a:r>
          </a:p>
        </p:txBody>
      </p:sp>
      <p:sp>
        <p:nvSpPr>
          <p:cNvPr id="13" name="editable-text-04-12">
            <a:extLst xmlns:a="http://schemas.openxmlformats.org/drawingml/2006/main">
              <a:ext uri="{FF2B5EF4-FFF2-40B4-BE49-F238E27FC236}">
                <a16:creationId xmlns:a16="http://schemas.microsoft.com/office/drawing/2014/main" id="{237B08C9-46FF-456F-9264-BAFB13771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691" y="5699760"/>
            <a:ext cx="48920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Status</a:t>
            </a:r>
          </a:p>
        </p:txBody>
      </p:sp>
      <p:sp>
        <p:nvSpPr>
          <p:cNvPr id="14" name="editable-text-04-13">
            <a:extLst xmlns:a="http://schemas.openxmlformats.org/drawingml/2006/main">
              <a:ext uri="{FF2B5EF4-FFF2-40B4-BE49-F238E27FC236}">
                <a16:creationId xmlns:a16="http://schemas.microsoft.com/office/drawing/2014/main" id="{61836E7E-1AF9-4116-A272-15DBFB4A7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0691" y="5886641"/>
            <a:ext cx="507302" cy="2031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1A1A17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On track</a:t>
            </a:r>
          </a:p>
        </p:txBody>
      </p:sp>
    </p:spTree>
    <p:extLst>
      <p:ext uri="{BB962C8B-B14F-4D97-AF65-F5344CB8AC3E}">
        <p14:creationId xmlns:p14="http://schemas.microsoft.com/office/powerpoint/2010/main" val="24896027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59ee7ae690e4380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5-01">
            <a:extLst xmlns:a="http://schemas.openxmlformats.org/drawingml/2006/main">
              <a:ext uri="{FF2B5EF4-FFF2-40B4-BE49-F238E27FC236}">
                <a16:creationId xmlns:a16="http://schemas.microsoft.com/office/drawing/2014/main" id="{34A6A460-3D9F-4BE2-A3A2-07143AD62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32"/>
            <a:ext cx="114766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By the numbers</a:t>
            </a:r>
          </a:p>
        </p:txBody>
      </p:sp>
      <p:sp>
        <p:nvSpPr>
          <p:cNvPr id="3" name="editable-text-05-02">
            <a:extLst xmlns:a="http://schemas.openxmlformats.org/drawingml/2006/main">
              <a:ext uri="{FF2B5EF4-FFF2-40B4-BE49-F238E27FC236}">
                <a16:creationId xmlns:a16="http://schemas.microsoft.com/office/drawing/2014/main" id="{87223D55-F69B-417D-AB9B-2C9CB63A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71144"/>
            <a:ext cx="4205097" cy="7683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725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Revenue by quarter,</a:t>
            </a:r>
          </a:p>
        </p:txBody>
      </p:sp>
      <p:sp>
        <p:nvSpPr>
          <p:cNvPr id="4" name="editable-text-05-03">
            <a:extLst xmlns:a="http://schemas.openxmlformats.org/drawingml/2006/main">
              <a:ext uri="{FF2B5EF4-FFF2-40B4-BE49-F238E27FC236}">
                <a16:creationId xmlns:a16="http://schemas.microsoft.com/office/drawing/2014/main" id="{4A125B36-4B51-4657-9164-F03CED202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04544"/>
            <a:ext cx="3016377" cy="7683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725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725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year over year.</a:t>
            </a:r>
          </a:p>
        </p:txBody>
      </p:sp>
      <p:sp>
        <p:nvSpPr>
          <p:cNvPr id="5" name="editable-text-05-04">
            <a:extLst xmlns:a="http://schemas.openxmlformats.org/drawingml/2006/main">
              <a:ext uri="{FF2B5EF4-FFF2-40B4-BE49-F238E27FC236}">
                <a16:creationId xmlns:a16="http://schemas.microsoft.com/office/drawing/2014/main" id="{FA80691A-6E55-474C-833B-8F1E9BDA3A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79781" y="787432"/>
            <a:ext cx="6782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This year</a:t>
            </a:r>
          </a:p>
        </p:txBody>
      </p:sp>
      <p:sp>
        <p:nvSpPr>
          <p:cNvPr id="6" name="editable-text-05-05">
            <a:extLst xmlns:a="http://schemas.openxmlformats.org/drawingml/2006/main">
              <a:ext uri="{FF2B5EF4-FFF2-40B4-BE49-F238E27FC236}">
                <a16:creationId xmlns:a16="http://schemas.microsoft.com/office/drawing/2014/main" id="{C2DA4A03-13E5-441D-A11B-5ABC5D921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9825" y="787432"/>
            <a:ext cx="6782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Last year</a:t>
            </a:r>
          </a:p>
        </p:txBody>
      </p:sp>
      <p:sp>
        <p:nvSpPr>
          <p:cNvPr id="7" name="editable-text-05-06">
            <a:extLst xmlns:a="http://schemas.openxmlformats.org/drawingml/2006/main">
              <a:ext uri="{FF2B5EF4-FFF2-40B4-BE49-F238E27FC236}">
                <a16:creationId xmlns:a16="http://schemas.microsoft.com/office/drawing/2014/main" id="{B59137D5-810E-40AE-AE4D-AF7E2A733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1925" y="2638044"/>
            <a:ext cx="335375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100</a:t>
            </a:r>
          </a:p>
        </p:txBody>
      </p:sp>
      <p:sp>
        <p:nvSpPr>
          <p:cNvPr id="8" name="editable-text-05-07">
            <a:extLst xmlns:a="http://schemas.openxmlformats.org/drawingml/2006/main">
              <a:ext uri="{FF2B5EF4-FFF2-40B4-BE49-F238E27FC236}">
                <a16:creationId xmlns:a16="http://schemas.microsoft.com/office/drawing/2014/main" id="{BEBE0369-129C-4659-9FB0-024E33352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" y="3312700"/>
            <a:ext cx="23622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75</a:t>
            </a:r>
          </a:p>
        </p:txBody>
      </p:sp>
      <p:sp>
        <p:nvSpPr>
          <p:cNvPr id="9" name="editable-text-05-08">
            <a:extLst xmlns:a="http://schemas.openxmlformats.org/drawingml/2006/main">
              <a:ext uri="{FF2B5EF4-FFF2-40B4-BE49-F238E27FC236}">
                <a16:creationId xmlns:a16="http://schemas.microsoft.com/office/drawing/2014/main" id="{4CF3AD0D-0D9F-4A39-A0B8-8364C91CD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" y="3987451"/>
            <a:ext cx="23622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50</a:t>
            </a:r>
          </a:p>
        </p:txBody>
      </p:sp>
      <p:sp>
        <p:nvSpPr>
          <p:cNvPr id="10" name="editable-text-05-09">
            <a:extLst xmlns:a="http://schemas.openxmlformats.org/drawingml/2006/main">
              <a:ext uri="{FF2B5EF4-FFF2-40B4-BE49-F238E27FC236}">
                <a16:creationId xmlns:a16="http://schemas.microsoft.com/office/drawing/2014/main" id="{7FBF11BA-CD5C-4039-80BA-39442FE4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1080" y="4662107"/>
            <a:ext cx="23622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25</a:t>
            </a:r>
          </a:p>
        </p:txBody>
      </p:sp>
      <p:sp>
        <p:nvSpPr>
          <p:cNvPr id="11" name="editable-text-05-10">
            <a:extLst xmlns:a="http://schemas.openxmlformats.org/drawingml/2006/main">
              <a:ext uri="{FF2B5EF4-FFF2-40B4-BE49-F238E27FC236}">
                <a16:creationId xmlns:a16="http://schemas.microsoft.com/office/drawing/2014/main" id="{87295D1B-BC26-4B35-8131-3B22554A1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045" y="5336762"/>
            <a:ext cx="137255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0</a:t>
            </a:r>
          </a:p>
        </p:txBody>
      </p:sp>
      <p:sp>
        <p:nvSpPr>
          <p:cNvPr id="12" name="editable-text-05-11">
            <a:extLst xmlns:a="http://schemas.openxmlformats.org/drawingml/2006/main">
              <a:ext uri="{FF2B5EF4-FFF2-40B4-BE49-F238E27FC236}">
                <a16:creationId xmlns:a16="http://schemas.microsoft.com/office/drawing/2014/main" id="{A1E5AA8B-FD50-44C8-89BC-52DEAC22A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3323" y="3501962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62</a:t>
            </a:r>
          </a:p>
        </p:txBody>
      </p:sp>
      <p:sp>
        <p:nvSpPr>
          <p:cNvPr id="13" name="editable-text-05-12">
            <a:extLst xmlns:a="http://schemas.openxmlformats.org/drawingml/2006/main">
              <a:ext uri="{FF2B5EF4-FFF2-40B4-BE49-F238E27FC236}">
                <a16:creationId xmlns:a16="http://schemas.microsoft.com/office/drawing/2014/main" id="{1752716C-E170-4009-BA03-338E8E96B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35187" y="3909155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48</a:t>
            </a:r>
          </a:p>
        </p:txBody>
      </p:sp>
      <p:sp>
        <p:nvSpPr>
          <p:cNvPr id="14" name="editable-text-05-13">
            <a:extLst xmlns:a="http://schemas.openxmlformats.org/drawingml/2006/main">
              <a:ext uri="{FF2B5EF4-FFF2-40B4-BE49-F238E27FC236}">
                <a16:creationId xmlns:a16="http://schemas.microsoft.com/office/drawing/2014/main" id="{93B911F6-F765-4C3A-A5B2-5684453F7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4330" y="3152966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74</a:t>
            </a:r>
          </a:p>
        </p:txBody>
      </p:sp>
      <p:sp>
        <p:nvSpPr>
          <p:cNvPr id="15" name="editable-text-05-14">
            <a:extLst xmlns:a="http://schemas.openxmlformats.org/drawingml/2006/main">
              <a:ext uri="{FF2B5EF4-FFF2-40B4-BE49-F238E27FC236}">
                <a16:creationId xmlns:a16="http://schemas.microsoft.com/office/drawing/2014/main" id="{DD92F472-9A1A-48A3-9244-9E3724F4B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6098" y="3705511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55</a:t>
            </a:r>
          </a:p>
        </p:txBody>
      </p:sp>
      <p:sp>
        <p:nvSpPr>
          <p:cNvPr id="16" name="editable-text-05-15">
            <a:extLst xmlns:a="http://schemas.openxmlformats.org/drawingml/2006/main">
              <a:ext uri="{FF2B5EF4-FFF2-40B4-BE49-F238E27FC236}">
                <a16:creationId xmlns:a16="http://schemas.microsoft.com/office/drawing/2014/main" id="{21CDA7E1-D341-4AD5-8AB3-417FC511C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5146" y="2949416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81</a:t>
            </a:r>
          </a:p>
        </p:txBody>
      </p:sp>
      <p:sp>
        <p:nvSpPr>
          <p:cNvPr id="17" name="editable-text-05-16">
            <a:extLst xmlns:a="http://schemas.openxmlformats.org/drawingml/2006/main">
              <a:ext uri="{FF2B5EF4-FFF2-40B4-BE49-F238E27FC236}">
                <a16:creationId xmlns:a16="http://schemas.microsoft.com/office/drawing/2014/main" id="{1C06A503-7874-442F-8523-47E12C4C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7010" y="3356515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67</a:t>
            </a:r>
          </a:p>
        </p:txBody>
      </p:sp>
      <p:sp>
        <p:nvSpPr>
          <p:cNvPr id="18" name="editable-text-05-17">
            <a:extLst xmlns:a="http://schemas.openxmlformats.org/drawingml/2006/main">
              <a:ext uri="{FF2B5EF4-FFF2-40B4-BE49-F238E27FC236}">
                <a16:creationId xmlns:a16="http://schemas.microsoft.com/office/drawing/2014/main" id="{EB574129-628F-4FA8-8547-1A3D62F72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058" y="2745772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88</a:t>
            </a:r>
          </a:p>
        </p:txBody>
      </p:sp>
      <p:sp>
        <p:nvSpPr>
          <p:cNvPr id="19" name="editable-text-05-18">
            <a:extLst xmlns:a="http://schemas.openxmlformats.org/drawingml/2006/main">
              <a:ext uri="{FF2B5EF4-FFF2-40B4-BE49-F238E27FC236}">
                <a16:creationId xmlns:a16="http://schemas.microsoft.com/office/drawing/2014/main" id="{DB978266-AD02-4908-985C-E0102B5C0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7827" y="3211163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72</a:t>
            </a:r>
          </a:p>
        </p:txBody>
      </p:sp>
      <p:sp>
        <p:nvSpPr>
          <p:cNvPr id="20" name="editable-text-05-19">
            <a:extLst xmlns:a="http://schemas.openxmlformats.org/drawingml/2006/main">
              <a:ext uri="{FF2B5EF4-FFF2-40B4-BE49-F238E27FC236}">
                <a16:creationId xmlns:a16="http://schemas.microsoft.com/office/drawing/2014/main" id="{1F107200-28B9-49E0-898E-7E87417AC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46875" y="2629376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92</a:t>
            </a:r>
          </a:p>
        </p:txBody>
      </p:sp>
      <p:sp>
        <p:nvSpPr>
          <p:cNvPr id="21" name="editable-text-05-20">
            <a:extLst xmlns:a="http://schemas.openxmlformats.org/drawingml/2006/main">
              <a:ext uri="{FF2B5EF4-FFF2-40B4-BE49-F238E27FC236}">
                <a16:creationId xmlns:a16="http://schemas.microsoft.com/office/drawing/2014/main" id="{4C6E2AA2-3B62-409B-B6F8-D1D71BBD4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8738" y="3036570"/>
            <a:ext cx="221075" cy="234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350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78</a:t>
            </a:r>
          </a:p>
        </p:txBody>
      </p:sp>
      <p:sp>
        <p:nvSpPr>
          <p:cNvPr id="22" name="editable-text-05-21">
            <a:extLst xmlns:a="http://schemas.openxmlformats.org/drawingml/2006/main">
              <a:ext uri="{FF2B5EF4-FFF2-40B4-BE49-F238E27FC236}">
                <a16:creationId xmlns:a16="http://schemas.microsoft.com/office/drawing/2014/main" id="{E5897307-ADF2-46C6-A774-B214B15C4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3165" y="5673376"/>
            <a:ext cx="26270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Q1</a:t>
            </a:r>
          </a:p>
        </p:txBody>
      </p:sp>
      <p:sp>
        <p:nvSpPr>
          <p:cNvPr id="23" name="editable-text-05-22">
            <a:extLst xmlns:a="http://schemas.openxmlformats.org/drawingml/2006/main">
              <a:ext uri="{FF2B5EF4-FFF2-40B4-BE49-F238E27FC236}">
                <a16:creationId xmlns:a16="http://schemas.microsoft.com/office/drawing/2014/main" id="{A0C16F49-0692-45C4-BCEC-B9BA22A7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8453" y="5673376"/>
            <a:ext cx="26270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Q2</a:t>
            </a:r>
          </a:p>
        </p:txBody>
      </p:sp>
      <p:sp>
        <p:nvSpPr>
          <p:cNvPr id="24" name="editable-text-05-23">
            <a:extLst xmlns:a="http://schemas.openxmlformats.org/drawingml/2006/main">
              <a:ext uri="{FF2B5EF4-FFF2-40B4-BE49-F238E27FC236}">
                <a16:creationId xmlns:a16="http://schemas.microsoft.com/office/drawing/2014/main" id="{1C7CB909-9A84-4AFA-9B62-95BD333A6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3742" y="5673376"/>
            <a:ext cx="26270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Q3</a:t>
            </a:r>
          </a:p>
        </p:txBody>
      </p:sp>
      <p:sp>
        <p:nvSpPr>
          <p:cNvPr id="25" name="editable-text-05-24">
            <a:extLst xmlns:a="http://schemas.openxmlformats.org/drawingml/2006/main">
              <a:ext uri="{FF2B5EF4-FFF2-40B4-BE49-F238E27FC236}">
                <a16:creationId xmlns:a16="http://schemas.microsoft.com/office/drawing/2014/main" id="{114C3478-3016-4034-9A3F-7D0198F7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5673376"/>
            <a:ext cx="262700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Q4</a:t>
            </a:r>
          </a:p>
        </p:txBody>
      </p:sp>
      <p:sp>
        <p:nvSpPr>
          <p:cNvPr id="26" name="editable-text-05-25">
            <a:extLst xmlns:a="http://schemas.openxmlformats.org/drawingml/2006/main">
              <a:ext uri="{FF2B5EF4-FFF2-40B4-BE49-F238E27FC236}">
                <a16:creationId xmlns:a16="http://schemas.microsoft.com/office/drawing/2014/main" id="{BDFA1C07-4AB7-459F-AD14-DE0AA2660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8406" y="5673376"/>
            <a:ext cx="374904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FE7D4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YTD</a:t>
            </a:r>
          </a:p>
        </p:txBody>
      </p:sp>
      <p:sp>
        <p:nvSpPr>
          <p:cNvPr id="27" name="editable-text-05-26">
            <a:extLst xmlns:a="http://schemas.openxmlformats.org/drawingml/2006/main">
              <a:ext uri="{FF2B5EF4-FFF2-40B4-BE49-F238E27FC236}">
                <a16:creationId xmlns:a16="http://schemas.microsoft.com/office/drawing/2014/main" id="{256BA97E-E93F-4A1C-AF53-643843742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40888"/>
            <a:ext cx="208635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Source · Internal data, 2026</a:t>
            </a:r>
          </a:p>
        </p:txBody>
      </p:sp>
      <p:sp>
        <p:nvSpPr>
          <p:cNvPr id="28" name="editable-text-05-27">
            <a:extLst xmlns:a="http://schemas.openxmlformats.org/drawingml/2006/main">
              <a:ext uri="{FF2B5EF4-FFF2-40B4-BE49-F238E27FC236}">
                <a16:creationId xmlns:a16="http://schemas.microsoft.com/office/drawing/2014/main" id="{0F156485-B798-40E8-95F2-A6F6D6AD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625" y="6340888"/>
            <a:ext cx="11354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Indexed to plan</a:t>
            </a:r>
          </a:p>
        </p:txBody>
      </p:sp>
    </p:spTree>
    <p:extLst>
      <p:ext uri="{BB962C8B-B14F-4D97-AF65-F5344CB8AC3E}">
        <p14:creationId xmlns:p14="http://schemas.microsoft.com/office/powerpoint/2010/main" val="5659604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4c39f96fb01492f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6-01">
            <a:extLst xmlns:a="http://schemas.openxmlformats.org/drawingml/2006/main">
              <a:ext uri="{FF2B5EF4-FFF2-40B4-BE49-F238E27FC236}">
                <a16:creationId xmlns:a16="http://schemas.microsoft.com/office/drawing/2014/main" id="{A4F4A0B9-7F2D-4E45-9B6C-77329DD893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32"/>
            <a:ext cx="154381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How we’ll get there</a:t>
            </a:r>
          </a:p>
        </p:txBody>
      </p:sp>
      <p:sp>
        <p:nvSpPr>
          <p:cNvPr id="3" name="editable-text-06-02">
            <a:extLst xmlns:a="http://schemas.openxmlformats.org/drawingml/2006/main">
              <a:ext uri="{FF2B5EF4-FFF2-40B4-BE49-F238E27FC236}">
                <a16:creationId xmlns:a16="http://schemas.microsoft.com/office/drawing/2014/main" id="{B87478B0-177E-4294-9C54-171C6DFD1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7425" y="635032"/>
            <a:ext cx="8306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Four steps</a:t>
            </a:r>
          </a:p>
        </p:txBody>
      </p:sp>
      <p:sp>
        <p:nvSpPr>
          <p:cNvPr id="4" name="editable-text-06-03">
            <a:extLst xmlns:a="http://schemas.openxmlformats.org/drawingml/2006/main">
              <a:ext uri="{FF2B5EF4-FFF2-40B4-BE49-F238E27FC236}">
                <a16:creationId xmlns:a16="http://schemas.microsoft.com/office/drawing/2014/main" id="{FE0C839A-E708-47A0-A445-8CBEF9380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96576"/>
            <a:ext cx="3439478" cy="8699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 simple plan,</a:t>
            </a:r>
          </a:p>
        </p:txBody>
      </p:sp>
      <p:sp>
        <p:nvSpPr>
          <p:cNvPr id="5" name="editable-text-06-04">
            <a:extLst xmlns:a="http://schemas.openxmlformats.org/drawingml/2006/main">
              <a:ext uri="{FF2B5EF4-FFF2-40B4-BE49-F238E27FC236}">
                <a16:creationId xmlns:a16="http://schemas.microsoft.com/office/drawing/2014/main" id="{4FB20DD6-72ED-4583-97B8-EA04C94D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81697"/>
            <a:ext cx="3439573" cy="8699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5400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in four moves.</a:t>
            </a:r>
          </a:p>
        </p:txBody>
      </p:sp>
      <p:sp>
        <p:nvSpPr>
          <p:cNvPr id="6" name="editable-text-06-05">
            <a:extLst xmlns:a="http://schemas.openxmlformats.org/drawingml/2006/main">
              <a:ext uri="{FF2B5EF4-FFF2-40B4-BE49-F238E27FC236}">
                <a16:creationId xmlns:a16="http://schemas.microsoft.com/office/drawing/2014/main" id="{26EC2129-2720-45BA-8BAA-B1962D76B0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32" y="2805113"/>
            <a:ext cx="916496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Step 01</a:t>
            </a:r>
          </a:p>
        </p:txBody>
      </p:sp>
      <p:sp>
        <p:nvSpPr>
          <p:cNvPr id="7" name="editable-text-06-06">
            <a:extLst xmlns:a="http://schemas.openxmlformats.org/drawingml/2006/main">
              <a:ext uri="{FF2B5EF4-FFF2-40B4-BE49-F238E27FC236}">
                <a16:creationId xmlns:a16="http://schemas.microsoft.com/office/drawing/2014/main" id="{3DBACBFB-FE85-48EC-949D-450533E75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32" y="3090863"/>
            <a:ext cx="1097852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Listen</a:t>
            </a:r>
          </a:p>
        </p:txBody>
      </p:sp>
      <p:sp>
        <p:nvSpPr>
          <p:cNvPr id="8" name="editable-text-06-07">
            <a:extLst xmlns:a="http://schemas.openxmlformats.org/drawingml/2006/main">
              <a:ext uri="{FF2B5EF4-FFF2-40B4-BE49-F238E27FC236}">
                <a16:creationId xmlns:a16="http://schemas.microsoft.com/office/drawing/2014/main" id="{BDD1AA17-5653-40DC-B4A7-13AF2BC94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32" y="3746563"/>
            <a:ext cx="2010251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Open the quarter with structured conversations across teams. Capture what we hear without filtering.</a:t>
            </a:r>
          </a:p>
        </p:txBody>
      </p:sp>
      <p:sp>
        <p:nvSpPr>
          <p:cNvPr id="9" name="editable-text-06-08">
            <a:extLst xmlns:a="http://schemas.openxmlformats.org/drawingml/2006/main">
              <a:ext uri="{FF2B5EF4-FFF2-40B4-BE49-F238E27FC236}">
                <a16:creationId xmlns:a16="http://schemas.microsoft.com/office/drawing/2014/main" id="{858501A3-4AA3-45E4-9570-6B64BB5B8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932" y="5653469"/>
            <a:ext cx="696563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Weeks 1–2</a:t>
            </a:r>
          </a:p>
        </p:txBody>
      </p:sp>
      <p:sp>
        <p:nvSpPr>
          <p:cNvPr id="10" name="editable-text-06-09">
            <a:extLst xmlns:a="http://schemas.openxmlformats.org/drawingml/2006/main">
              <a:ext uri="{FF2B5EF4-FFF2-40B4-BE49-F238E27FC236}">
                <a16:creationId xmlns:a16="http://schemas.microsoft.com/office/drawing/2014/main" id="{BA7E9C37-B93A-491A-8C8B-B3AA745B0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3958" y="5653469"/>
            <a:ext cx="4039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Owner</a:t>
            </a:r>
          </a:p>
        </p:txBody>
      </p:sp>
      <p:sp>
        <p:nvSpPr>
          <p:cNvPr id="11" name="editable-text-06-10">
            <a:extLst xmlns:a="http://schemas.openxmlformats.org/drawingml/2006/main">
              <a:ext uri="{FF2B5EF4-FFF2-40B4-BE49-F238E27FC236}">
                <a16:creationId xmlns:a16="http://schemas.microsoft.com/office/drawing/2014/main" id="{6A195E56-F268-455D-9828-447984CD4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18" y="2805113"/>
            <a:ext cx="916496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Step 02</a:t>
            </a:r>
          </a:p>
        </p:txBody>
      </p:sp>
      <p:sp>
        <p:nvSpPr>
          <p:cNvPr id="12" name="editable-text-06-11">
            <a:extLst xmlns:a="http://schemas.openxmlformats.org/drawingml/2006/main">
              <a:ext uri="{FF2B5EF4-FFF2-40B4-BE49-F238E27FC236}">
                <a16:creationId xmlns:a16="http://schemas.microsoft.com/office/drawing/2014/main" id="{CBED43AE-7048-46AA-8BC5-5F55FCF20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18" y="3090863"/>
            <a:ext cx="971169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Align</a:t>
            </a:r>
          </a:p>
        </p:txBody>
      </p:sp>
      <p:sp>
        <p:nvSpPr>
          <p:cNvPr id="13" name="editable-text-06-12">
            <a:extLst xmlns:a="http://schemas.openxmlformats.org/drawingml/2006/main">
              <a:ext uri="{FF2B5EF4-FFF2-40B4-BE49-F238E27FC236}">
                <a16:creationId xmlns:a16="http://schemas.microsoft.com/office/drawing/2014/main" id="{9467FCD4-3EE5-4063-B38D-1DD104612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18" y="3746563"/>
            <a:ext cx="1890522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243A2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Cluster signals into themes. Name them plainly so everyone uses the same language in every room.</a:t>
            </a:r>
          </a:p>
        </p:txBody>
      </p:sp>
      <p:sp>
        <p:nvSpPr>
          <p:cNvPr id="14" name="editable-text-06-13">
            <a:extLst xmlns:a="http://schemas.openxmlformats.org/drawingml/2006/main">
              <a:ext uri="{FF2B5EF4-FFF2-40B4-BE49-F238E27FC236}">
                <a16:creationId xmlns:a16="http://schemas.microsoft.com/office/drawing/2014/main" id="{3B2BAAE9-3001-488A-A381-51D067381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9318" y="5653469"/>
            <a:ext cx="477012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Week 3</a:t>
            </a:r>
          </a:p>
        </p:txBody>
      </p:sp>
      <p:sp>
        <p:nvSpPr>
          <p:cNvPr id="15" name="editable-text-06-14">
            <a:extLst xmlns:a="http://schemas.openxmlformats.org/drawingml/2006/main">
              <a:ext uri="{FF2B5EF4-FFF2-40B4-BE49-F238E27FC236}">
                <a16:creationId xmlns:a16="http://schemas.microsoft.com/office/drawing/2014/main" id="{819A7425-691D-4B94-93DE-29E7D8E3C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5345" y="5653469"/>
            <a:ext cx="4039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43A2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Owner</a:t>
            </a:r>
          </a:p>
        </p:txBody>
      </p:sp>
      <p:sp>
        <p:nvSpPr>
          <p:cNvPr id="16" name="editable-text-06-15">
            <a:extLst xmlns:a="http://schemas.openxmlformats.org/drawingml/2006/main">
              <a:ext uri="{FF2B5EF4-FFF2-40B4-BE49-F238E27FC236}">
                <a16:creationId xmlns:a16="http://schemas.microsoft.com/office/drawing/2014/main" id="{A0890280-7319-460A-883A-27A013035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805113"/>
            <a:ext cx="916496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Step 03</a:t>
            </a:r>
          </a:p>
        </p:txBody>
      </p:sp>
      <p:sp>
        <p:nvSpPr>
          <p:cNvPr id="17" name="editable-text-06-16">
            <a:extLst xmlns:a="http://schemas.openxmlformats.org/drawingml/2006/main">
              <a:ext uri="{FF2B5EF4-FFF2-40B4-BE49-F238E27FC236}">
                <a16:creationId xmlns:a16="http://schemas.microsoft.com/office/drawing/2014/main" id="{16F979B2-27ED-43E7-97FC-5FAF29B04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090863"/>
            <a:ext cx="954119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Build</a:t>
            </a:r>
          </a:p>
        </p:txBody>
      </p:sp>
      <p:sp>
        <p:nvSpPr>
          <p:cNvPr id="18" name="editable-text-06-17">
            <a:extLst xmlns:a="http://schemas.openxmlformats.org/drawingml/2006/main">
              <a:ext uri="{FF2B5EF4-FFF2-40B4-BE49-F238E27FC236}">
                <a16:creationId xmlns:a16="http://schemas.microsoft.com/office/drawing/2014/main" id="{A47D28E9-E29E-46DC-92F5-1DB98F35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746563"/>
            <a:ext cx="2020157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Translate the themes into a short list of bets. Decide what we’re keeping, and what we’re cutting.</a:t>
            </a:r>
          </a:p>
        </p:txBody>
      </p:sp>
      <p:sp>
        <p:nvSpPr>
          <p:cNvPr id="19" name="editable-text-06-18">
            <a:extLst xmlns:a="http://schemas.openxmlformats.org/drawingml/2006/main">
              <a:ext uri="{FF2B5EF4-FFF2-40B4-BE49-F238E27FC236}">
                <a16:creationId xmlns:a16="http://schemas.microsoft.com/office/drawing/2014/main" id="{07D658DA-3D8C-4B4D-8CF1-ED43010E1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653469"/>
            <a:ext cx="696563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Weeks 4–6</a:t>
            </a:r>
          </a:p>
        </p:txBody>
      </p:sp>
      <p:sp>
        <p:nvSpPr>
          <p:cNvPr id="20" name="editable-text-06-19">
            <a:extLst xmlns:a="http://schemas.openxmlformats.org/drawingml/2006/main">
              <a:ext uri="{FF2B5EF4-FFF2-40B4-BE49-F238E27FC236}">
                <a16:creationId xmlns:a16="http://schemas.microsoft.com/office/drawing/2014/main" id="{C1B3A365-7DFB-4AA9-A6FF-A203FB94CD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6827" y="5653469"/>
            <a:ext cx="4039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Owner</a:t>
            </a:r>
          </a:p>
        </p:txBody>
      </p:sp>
      <p:sp>
        <p:nvSpPr>
          <p:cNvPr id="21" name="editable-text-06-20">
            <a:extLst xmlns:a="http://schemas.openxmlformats.org/drawingml/2006/main">
              <a:ext uri="{FF2B5EF4-FFF2-40B4-BE49-F238E27FC236}">
                <a16:creationId xmlns:a16="http://schemas.microsoft.com/office/drawing/2014/main" id="{498ED1D5-92EA-4989-9AB2-97F54D6D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82" y="2805113"/>
            <a:ext cx="916496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Step 04</a:t>
            </a:r>
          </a:p>
        </p:txBody>
      </p:sp>
      <p:sp>
        <p:nvSpPr>
          <p:cNvPr id="22" name="editable-text-06-21">
            <a:extLst xmlns:a="http://schemas.openxmlformats.org/drawingml/2006/main">
              <a:ext uri="{FF2B5EF4-FFF2-40B4-BE49-F238E27FC236}">
                <a16:creationId xmlns:a16="http://schemas.microsoft.com/office/drawing/2014/main" id="{E3B9653E-50EE-4C2A-837A-4E8767C06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82" y="3090863"/>
            <a:ext cx="810292" cy="6286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825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3825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Ship</a:t>
            </a:r>
          </a:p>
        </p:txBody>
      </p:sp>
      <p:sp>
        <p:nvSpPr>
          <p:cNvPr id="23" name="editable-text-06-22">
            <a:extLst xmlns:a="http://schemas.openxmlformats.org/drawingml/2006/main">
              <a:ext uri="{FF2B5EF4-FFF2-40B4-BE49-F238E27FC236}">
                <a16:creationId xmlns:a16="http://schemas.microsoft.com/office/drawing/2014/main" id="{A2405CC1-2927-4ED2-92DD-BF7FAD3D9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82" y="3746563"/>
            <a:ext cx="1945386" cy="545687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2E4A2A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Put the work in market on a known cadence. Measure against the plan; adjust without losing the thread.</a:t>
            </a:r>
          </a:p>
        </p:txBody>
      </p:sp>
      <p:sp>
        <p:nvSpPr>
          <p:cNvPr id="24" name="editable-text-06-23">
            <a:extLst xmlns:a="http://schemas.openxmlformats.org/drawingml/2006/main">
              <a:ext uri="{FF2B5EF4-FFF2-40B4-BE49-F238E27FC236}">
                <a16:creationId xmlns:a16="http://schemas.microsoft.com/office/drawing/2014/main" id="{FDCF0FD3-C295-4B5B-9438-39EA6ADE2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2282" y="5653469"/>
            <a:ext cx="769620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Weeks 7–12</a:t>
            </a:r>
          </a:p>
        </p:txBody>
      </p:sp>
      <p:sp>
        <p:nvSpPr>
          <p:cNvPr id="25" name="editable-text-06-24">
            <a:extLst xmlns:a="http://schemas.openxmlformats.org/drawingml/2006/main">
              <a:ext uri="{FF2B5EF4-FFF2-40B4-BE49-F238E27FC236}">
                <a16:creationId xmlns:a16="http://schemas.microsoft.com/office/drawing/2014/main" id="{E2C4C710-53A6-4A15-9810-5A9DE33CCA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48308" y="5653469"/>
            <a:ext cx="40395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2E4A2A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Owner</a:t>
            </a:r>
          </a:p>
        </p:txBody>
      </p:sp>
    </p:spTree>
    <p:extLst>
      <p:ext uri="{BB962C8B-B14F-4D97-AF65-F5344CB8AC3E}">
        <p14:creationId xmlns:p14="http://schemas.microsoft.com/office/powerpoint/2010/main" val="49056035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e3d5930223645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7-01">
            <a:extLst xmlns:a="http://schemas.openxmlformats.org/drawingml/2006/main">
              <a:ext uri="{FF2B5EF4-FFF2-40B4-BE49-F238E27FC236}">
                <a16:creationId xmlns:a16="http://schemas.microsoft.com/office/drawing/2014/main" id="{5A7C7686-159D-48D4-871E-91C5B1CD8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5032"/>
            <a:ext cx="146456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What it adds up to</a:t>
            </a:r>
          </a:p>
        </p:txBody>
      </p:sp>
      <p:sp>
        <p:nvSpPr>
          <p:cNvPr id="3" name="editable-text-07-02">
            <a:extLst xmlns:a="http://schemas.openxmlformats.org/drawingml/2006/main">
              <a:ext uri="{FF2B5EF4-FFF2-40B4-BE49-F238E27FC236}">
                <a16:creationId xmlns:a16="http://schemas.microsoft.com/office/drawing/2014/main" id="{5FAFDD0D-9AE6-4F89-B48D-84BC7AD86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4" y="635032"/>
            <a:ext cx="989076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Year to date</a:t>
            </a:r>
          </a:p>
        </p:txBody>
      </p:sp>
      <p:sp>
        <p:nvSpPr>
          <p:cNvPr id="4" name="editable-text-07-03">
            <a:extLst xmlns:a="http://schemas.openxmlformats.org/drawingml/2006/main">
              <a:ext uri="{FF2B5EF4-FFF2-40B4-BE49-F238E27FC236}">
                <a16:creationId xmlns:a16="http://schemas.microsoft.com/office/drawing/2014/main" id="{4413F076-FE04-416E-852C-AC7E96606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83812"/>
            <a:ext cx="4024408" cy="7365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Three numbers that</a:t>
            </a:r>
          </a:p>
        </p:txBody>
      </p:sp>
      <p:sp>
        <p:nvSpPr>
          <p:cNvPr id="5" name="editable-text-07-04">
            <a:extLst xmlns:a="http://schemas.openxmlformats.org/drawingml/2006/main">
              <a:ext uri="{FF2B5EF4-FFF2-40B4-BE49-F238E27FC236}">
                <a16:creationId xmlns:a16="http://schemas.microsoft.com/office/drawing/2014/main" id="{CE403B76-B5A4-4FB9-8FC0-19DFB99DE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281589"/>
            <a:ext cx="2578989" cy="7365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500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4500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tell the story.</a:t>
            </a:r>
          </a:p>
        </p:txBody>
      </p:sp>
      <p:sp>
        <p:nvSpPr>
          <p:cNvPr id="6" name="editable-text-07-05">
            <a:extLst xmlns:a="http://schemas.openxmlformats.org/drawingml/2006/main">
              <a:ext uri="{FF2B5EF4-FFF2-40B4-BE49-F238E27FC236}">
                <a16:creationId xmlns:a16="http://schemas.microsoft.com/office/drawing/2014/main" id="{EA5CE93D-C115-4330-9124-D60864EE6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757297"/>
            <a:ext cx="501491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Growth</a:t>
            </a:r>
          </a:p>
        </p:txBody>
      </p:sp>
      <p:sp>
        <p:nvSpPr>
          <p:cNvPr id="7" name="editable-text-07-06">
            <a:extLst xmlns:a="http://schemas.openxmlformats.org/drawingml/2006/main">
              <a:ext uri="{FF2B5EF4-FFF2-40B4-BE49-F238E27FC236}">
                <a16:creationId xmlns:a16="http://schemas.microsoft.com/office/drawing/2014/main" id="{70A426DB-6F28-4CB7-AEBE-89C4DAC74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77478"/>
            <a:ext cx="1952054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+42</a:t>
            </a:r>
          </a:p>
        </p:txBody>
      </p:sp>
      <p:sp>
        <p:nvSpPr>
          <p:cNvPr id="8" name="editable-text-07-07">
            <a:extLst xmlns:a="http://schemas.openxmlformats.org/drawingml/2006/main">
              <a:ext uri="{FF2B5EF4-FFF2-40B4-BE49-F238E27FC236}">
                <a16:creationId xmlns:a16="http://schemas.microsoft.com/office/drawing/2014/main" id="{5C3937FF-65AE-42A5-AC54-459B7D938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1290" y="3401378"/>
            <a:ext cx="564833" cy="996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%</a:t>
            </a:r>
          </a:p>
        </p:txBody>
      </p:sp>
      <p:sp>
        <p:nvSpPr>
          <p:cNvPr id="9" name="editable-text-07-08">
            <a:extLst xmlns:a="http://schemas.openxmlformats.org/drawingml/2006/main">
              <a:ext uri="{FF2B5EF4-FFF2-40B4-BE49-F238E27FC236}">
                <a16:creationId xmlns:a16="http://schemas.microsoft.com/office/drawing/2014/main" id="{26D29E36-80A0-4301-BF2C-872184CFA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2554"/>
            <a:ext cx="3293745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Year over year increase in active accounts, ahead of the plan we set in January.</a:t>
            </a:r>
          </a:p>
        </p:txBody>
      </p:sp>
      <p:sp>
        <p:nvSpPr>
          <p:cNvPr id="10" name="editable-text-07-09">
            <a:extLst xmlns:a="http://schemas.openxmlformats.org/drawingml/2006/main">
              <a:ext uri="{FF2B5EF4-FFF2-40B4-BE49-F238E27FC236}">
                <a16:creationId xmlns:a16="http://schemas.microsoft.com/office/drawing/2014/main" id="{B96105FE-C103-4A61-BDC5-9ABF7CFC4D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32" y="2757297"/>
            <a:ext cx="733139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Retention</a:t>
            </a:r>
          </a:p>
        </p:txBody>
      </p:sp>
      <p:sp>
        <p:nvSpPr>
          <p:cNvPr id="11" name="editable-text-07-10">
            <a:extLst xmlns:a="http://schemas.openxmlformats.org/drawingml/2006/main">
              <a:ext uri="{FF2B5EF4-FFF2-40B4-BE49-F238E27FC236}">
                <a16:creationId xmlns:a16="http://schemas.microsoft.com/office/drawing/2014/main" id="{16D424D3-252D-4A36-AEBE-6FB18FD7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32" y="2677478"/>
            <a:ext cx="1292638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94</a:t>
            </a:r>
          </a:p>
        </p:txBody>
      </p:sp>
      <p:sp>
        <p:nvSpPr>
          <p:cNvPr id="12" name="editable-text-07-11">
            <a:extLst xmlns:a="http://schemas.openxmlformats.org/drawingml/2006/main">
              <a:ext uri="{FF2B5EF4-FFF2-40B4-BE49-F238E27FC236}">
                <a16:creationId xmlns:a16="http://schemas.microsoft.com/office/drawing/2014/main" id="{7FA57E9D-ABAE-4A9B-AF1A-9A2FEFBC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4906" y="3401378"/>
            <a:ext cx="564833" cy="996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%</a:t>
            </a:r>
          </a:p>
        </p:txBody>
      </p:sp>
      <p:sp>
        <p:nvSpPr>
          <p:cNvPr id="13" name="editable-text-07-12">
            <a:extLst xmlns:a="http://schemas.openxmlformats.org/drawingml/2006/main">
              <a:ext uri="{FF2B5EF4-FFF2-40B4-BE49-F238E27FC236}">
                <a16:creationId xmlns:a16="http://schemas.microsoft.com/office/drawing/2014/main" id="{21ECB47B-66B9-47D8-80D9-01306D7D0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5032" y="4432554"/>
            <a:ext cx="3184017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Net retention across the top customer cohort, a four‑point lift from last year.</a:t>
            </a:r>
          </a:p>
        </p:txBody>
      </p:sp>
      <p:sp>
        <p:nvSpPr>
          <p:cNvPr id="14" name="editable-text-07-13">
            <a:extLst xmlns:a="http://schemas.openxmlformats.org/drawingml/2006/main">
              <a:ext uri="{FF2B5EF4-FFF2-40B4-BE49-F238E27FC236}">
                <a16:creationId xmlns:a16="http://schemas.microsoft.com/office/drawing/2014/main" id="{011238CA-9467-417D-8DB9-22CBDBB64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968" y="2757297"/>
            <a:ext cx="424244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Reach</a:t>
            </a:r>
          </a:p>
        </p:txBody>
      </p:sp>
      <p:sp>
        <p:nvSpPr>
          <p:cNvPr id="15" name="editable-text-07-14">
            <a:extLst xmlns:a="http://schemas.openxmlformats.org/drawingml/2006/main">
              <a:ext uri="{FF2B5EF4-FFF2-40B4-BE49-F238E27FC236}">
                <a16:creationId xmlns:a16="http://schemas.microsoft.com/office/drawing/2014/main" id="{25AB7CC9-D3D5-4B9A-A442-BDD2B8E6C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968" y="2677478"/>
            <a:ext cx="1612583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3.1</a:t>
            </a:r>
          </a:p>
        </p:txBody>
      </p:sp>
      <p:sp>
        <p:nvSpPr>
          <p:cNvPr id="16" name="editable-text-07-15">
            <a:extLst xmlns:a="http://schemas.openxmlformats.org/drawingml/2006/main">
              <a:ext uri="{FF2B5EF4-FFF2-40B4-BE49-F238E27FC236}">
                <a16:creationId xmlns:a16="http://schemas.microsoft.com/office/drawing/2014/main" id="{EEE1C56A-040B-448C-9B35-F406C4FAFC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27883" y="3401378"/>
            <a:ext cx="561975" cy="996982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6188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M</a:t>
            </a:r>
          </a:p>
        </p:txBody>
      </p:sp>
      <p:sp>
        <p:nvSpPr>
          <p:cNvPr id="17" name="editable-text-07-16">
            <a:extLst xmlns:a="http://schemas.openxmlformats.org/drawingml/2006/main">
              <a:ext uri="{FF2B5EF4-FFF2-40B4-BE49-F238E27FC236}">
                <a16:creationId xmlns:a16="http://schemas.microsoft.com/office/drawing/2014/main" id="{595132D3-B44F-4A62-B724-AD1456BAD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7968" y="4432554"/>
            <a:ext cx="3296984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People served this quarter, across the markets we entered in the spring.</a:t>
            </a:r>
          </a:p>
        </p:txBody>
      </p:sp>
    </p:spTree>
    <p:extLst>
      <p:ext uri="{BB962C8B-B14F-4D97-AF65-F5344CB8AC3E}">
        <p14:creationId xmlns:p14="http://schemas.microsoft.com/office/powerpoint/2010/main" val="1008177152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735eca0eee0443b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editable-text-08-01">
            <a:extLst xmlns:a="http://schemas.openxmlformats.org/drawingml/2006/main">
              <a:ext uri="{FF2B5EF4-FFF2-40B4-BE49-F238E27FC236}">
                <a16:creationId xmlns:a16="http://schemas.microsoft.com/office/drawing/2014/main" id="{D3545F33-6127-4516-A7F1-089B5B64E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698468"/>
            <a:ext cx="830675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In summary</a:t>
            </a:r>
          </a:p>
        </p:txBody>
      </p:sp>
      <p:sp>
        <p:nvSpPr>
          <p:cNvPr id="3" name="editable-text-08-02">
            <a:extLst xmlns:a="http://schemas.openxmlformats.org/drawingml/2006/main">
              <a:ext uri="{FF2B5EF4-FFF2-40B4-BE49-F238E27FC236}">
                <a16:creationId xmlns:a16="http://schemas.microsoft.com/office/drawing/2014/main" id="{6B888690-07A7-4DDD-959A-93A704AD2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9705" y="698468"/>
            <a:ext cx="751427" cy="17145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900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Thank you</a:t>
            </a:r>
          </a:p>
        </p:txBody>
      </p:sp>
      <p:sp>
        <p:nvSpPr>
          <p:cNvPr id="4" name="editable-text-08-03">
            <a:extLst xmlns:a="http://schemas.openxmlformats.org/drawingml/2006/main">
              <a:ext uri="{FF2B5EF4-FFF2-40B4-BE49-F238E27FC236}">
                <a16:creationId xmlns:a16="http://schemas.microsoft.com/office/drawing/2014/main" id="{CE283ABC-79C9-4360-8D9F-E59B481FC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847344"/>
            <a:ext cx="3307366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Three</a:t>
            </a:r>
          </a:p>
        </p:txBody>
      </p:sp>
      <p:sp>
        <p:nvSpPr>
          <p:cNvPr id="5" name="editable-text-08-04">
            <a:extLst xmlns:a="http://schemas.openxmlformats.org/drawingml/2006/main">
              <a:ext uri="{FF2B5EF4-FFF2-40B4-BE49-F238E27FC236}">
                <a16:creationId xmlns:a16="http://schemas.microsoft.com/office/drawing/2014/main" id="{29934C4A-9761-48FE-8B10-C82980AA9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2160461"/>
            <a:ext cx="7656005" cy="195576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2375" b="0">
                <a:solidFill>
                  <a:srgbClr val="E89CB1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things to take.</a:t>
            </a:r>
          </a:p>
        </p:txBody>
      </p:sp>
      <p:sp>
        <p:nvSpPr>
          <p:cNvPr id="6" name="editable-text-08-05">
            <a:extLst xmlns:a="http://schemas.openxmlformats.org/drawingml/2006/main">
              <a:ext uri="{FF2B5EF4-FFF2-40B4-BE49-F238E27FC236}">
                <a16:creationId xmlns:a16="http://schemas.microsoft.com/office/drawing/2014/main" id="{00624EC2-5D90-4521-990C-B3619ABF1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4464272"/>
            <a:ext cx="414528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One</a:t>
            </a:r>
          </a:p>
        </p:txBody>
      </p:sp>
      <p:sp>
        <p:nvSpPr>
          <p:cNvPr id="7" name="editable-text-08-06">
            <a:extLst xmlns:a="http://schemas.openxmlformats.org/drawingml/2006/main">
              <a:ext uri="{FF2B5EF4-FFF2-40B4-BE49-F238E27FC236}">
                <a16:creationId xmlns:a16="http://schemas.microsoft.com/office/drawing/2014/main" id="{005EA2C3-7AC8-4747-B40B-F2796D28C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68" y="4800791"/>
            <a:ext cx="2978658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strategy holds. We are doing fewer things, and the right things.</a:t>
            </a:r>
          </a:p>
        </p:txBody>
      </p:sp>
      <p:sp>
        <p:nvSpPr>
          <p:cNvPr id="8" name="editable-text-08-07">
            <a:extLst xmlns:a="http://schemas.openxmlformats.org/drawingml/2006/main">
              <a:ext uri="{FF2B5EF4-FFF2-40B4-BE49-F238E27FC236}">
                <a16:creationId xmlns:a16="http://schemas.microsoft.com/office/drawing/2014/main" id="{533029F5-A2B3-4EAE-A4FD-0584562D9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228" y="4464272"/>
            <a:ext cx="414528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Two</a:t>
            </a:r>
          </a:p>
        </p:txBody>
      </p:sp>
      <p:sp>
        <p:nvSpPr>
          <p:cNvPr id="9" name="editable-text-08-08">
            <a:extLst xmlns:a="http://schemas.openxmlformats.org/drawingml/2006/main">
              <a:ext uri="{FF2B5EF4-FFF2-40B4-BE49-F238E27FC236}">
                <a16:creationId xmlns:a16="http://schemas.microsoft.com/office/drawing/2014/main" id="{EFF8071F-4E2A-495D-8F7A-6B79D8818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7228" y="4800791"/>
            <a:ext cx="3150203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The numbers back the bets. Growth, retention, and reach are all ahead of plan.</a:t>
            </a:r>
          </a:p>
        </p:txBody>
      </p:sp>
      <p:sp>
        <p:nvSpPr>
          <p:cNvPr id="10" name="editable-text-08-09">
            <a:extLst xmlns:a="http://schemas.openxmlformats.org/drawingml/2006/main">
              <a:ext uri="{FF2B5EF4-FFF2-40B4-BE49-F238E27FC236}">
                <a16:creationId xmlns:a16="http://schemas.microsoft.com/office/drawing/2014/main" id="{59983734-042A-4B4A-91C4-2F523D56C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677" y="4464272"/>
            <a:ext cx="665607" cy="26031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defRPr>
            </a:pPr>
            <a:r>
              <a:rPr sz="1463" b="0">
                <a:solidFill>
                  <a:srgbClr val="E89CB1">
                    <a:alpha val="0"/>
                  </a:srgbClr>
                </a:solidFill>
                <a:latin typeface="JetBrains Mono"/>
                <a:ea typeface="JetBrains Mono"/>
                <a:cs typeface="JetBrains Mono"/>
              </a:rPr>
              <a:t>Three</a:t>
            </a:r>
          </a:p>
        </p:txBody>
      </p:sp>
      <p:sp>
        <p:nvSpPr>
          <p:cNvPr id="11" name="editable-text-08-10">
            <a:extLst xmlns:a="http://schemas.openxmlformats.org/drawingml/2006/main">
              <a:ext uri="{FF2B5EF4-FFF2-40B4-BE49-F238E27FC236}">
                <a16:creationId xmlns:a16="http://schemas.microsoft.com/office/drawing/2014/main" id="{ACA325DF-05E7-4093-BF9E-03B928401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5677" y="4800791"/>
            <a:ext cx="3061240" cy="374428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defRPr>
            </a:pPr>
            <a:r>
              <a:rPr sz="1073" b="0">
                <a:solidFill>
                  <a:srgbClr val="EFE7D4">
                    <a:alpha val="0"/>
                  </a:srgbClr>
                </a:solidFill>
                <a:latin typeface="Source Serif 4"/>
                <a:ea typeface="Source Serif 4"/>
                <a:cs typeface="Source Serif 4"/>
              </a:rPr>
              <a:t>Next quarter, we keep the pace and add focus where the data points us.</a:t>
            </a:r>
          </a:p>
        </p:txBody>
      </p:sp>
    </p:spTree>
    <p:extLst>
      <p:ext uri="{BB962C8B-B14F-4D97-AF65-F5344CB8AC3E}">
        <p14:creationId xmlns:p14="http://schemas.microsoft.com/office/powerpoint/2010/main" val="15047298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2026-06-08T02:12:12.5680000Z</dcterms:created>
  <dcterms:modified xsi:type="dcterms:W3CDTF">2026-06-08T02:12:12.5690000Z</dcterms:modified>
</coreProperties>
</file>