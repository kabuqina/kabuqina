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7555981fb048ff" /><Relationship Type="http://schemas.openxmlformats.org/officeDocument/2006/relationships/extended-properties" Target="/docProps/app.xml" Id="R1cfca5372a6c4127" /><Relationship Type="http://schemas.openxmlformats.org/officeDocument/2006/relationships/officeDocument" Target="/ppt/presentation.xml" Id="R4921ecd29ea8473d" /></Relationships>
</file>

<file path=ppt/presentation.xml><?xml version="1.0" encoding="utf-8"?>
<p:presentation xmlns:p="http://schemas.openxmlformats.org/presentationml/2006/main">
  <p:sldMasterIdLst>
    <p:sldMasterId xmlns:r="http://schemas.openxmlformats.org/officeDocument/2006/relationships" id="2147483648" r:id="R7495e35bc9784e4e"/>
  </p:sldMasterIdLst>
  <p:notesMasterIdLst>
    <p:notesMasterId xmlns:r="http://schemas.openxmlformats.org/officeDocument/2006/relationships" r:id="R2c6e32c7e4284adf"/>
  </p:notesMasterIdLst>
  <p:sldIdLst>
    <p:sldId xmlns:r="http://schemas.openxmlformats.org/officeDocument/2006/relationships" id="256" r:id="R7b996f76040f4504"/>
    <p:sldId xmlns:r="http://schemas.openxmlformats.org/officeDocument/2006/relationships" id="257" r:id="Rcab7d4f0d1a742c7"/>
    <p:sldId xmlns:r="http://schemas.openxmlformats.org/officeDocument/2006/relationships" id="258" r:id="R8dfa3bb1f79c4a38"/>
    <p:sldId xmlns:r="http://schemas.openxmlformats.org/officeDocument/2006/relationships" id="259" r:id="R572752d265804a70"/>
    <p:sldId xmlns:r="http://schemas.openxmlformats.org/officeDocument/2006/relationships" id="260" r:id="R54413331e58c47f4"/>
    <p:sldId xmlns:r="http://schemas.openxmlformats.org/officeDocument/2006/relationships" id="261" r:id="Rc1c7ae97a6864a27"/>
    <p:sldId xmlns:r="http://schemas.openxmlformats.org/officeDocument/2006/relationships" id="262" r:id="R2df971705db44b12"/>
    <p:sldId xmlns:r="http://schemas.openxmlformats.org/officeDocument/2006/relationships" id="263" r:id="R783e08014dfd43b1"/>
    <p:sldId xmlns:r="http://schemas.openxmlformats.org/officeDocument/2006/relationships" id="264" r:id="Rf372840f0f364737"/>
    <p:sldId xmlns:r="http://schemas.openxmlformats.org/officeDocument/2006/relationships" id="265" r:id="Rbd6aab0166294461"/>
    <p:sldId xmlns:r="http://schemas.openxmlformats.org/officeDocument/2006/relationships" id="266" r:id="R84b04bf31dbe4678"/>
    <p:sldId xmlns:r="http://schemas.openxmlformats.org/officeDocument/2006/relationships" id="267" r:id="R7620a8bcd3a648f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fb478e117d5415d" /><Relationship Type="http://schemas.openxmlformats.org/officeDocument/2006/relationships/slideMaster" Target="/ppt/slideMasters/slideMaster1.xml" Id="R7495e35bc9784e4e" /><Relationship Type="http://schemas.openxmlformats.org/officeDocument/2006/relationships/notesMaster" Target="/ppt/notesMasters/notesMaster1.xml" Id="R2c6e32c7e4284adf" /><Relationship Type="http://schemas.openxmlformats.org/officeDocument/2006/relationships/presProps" Target="/ppt/presProps.xml" Id="Rb8f520969bfa4c9e" /><Relationship Type="http://schemas.openxmlformats.org/officeDocument/2006/relationships/viewProps" Target="/ppt/viewProps.xml" Id="R1abbe4c557624e7f" /><Relationship Type="http://schemas.openxmlformats.org/officeDocument/2006/relationships/tableStyles" Target="/ppt/tableStyles.xml" Id="Rd15e4b0116534cd8" /><Relationship Type="http://schemas.openxmlformats.org/officeDocument/2006/relationships/slide" Target="/ppt/slides/slide1.xml" Id="R7b996f76040f4504" /><Relationship Type="http://schemas.openxmlformats.org/officeDocument/2006/relationships/slide" Target="/ppt/slides/slide2.xml" Id="Rcab7d4f0d1a742c7" /><Relationship Type="http://schemas.openxmlformats.org/officeDocument/2006/relationships/slide" Target="/ppt/slides/slide3.xml" Id="R8dfa3bb1f79c4a38" /><Relationship Type="http://schemas.openxmlformats.org/officeDocument/2006/relationships/slide" Target="/ppt/slides/slide4.xml" Id="R572752d265804a70" /><Relationship Type="http://schemas.openxmlformats.org/officeDocument/2006/relationships/slide" Target="/ppt/slides/slide5.xml" Id="R54413331e58c47f4" /><Relationship Type="http://schemas.openxmlformats.org/officeDocument/2006/relationships/slide" Target="/ppt/slides/slide6.xml" Id="Rc1c7ae97a6864a27" /><Relationship Type="http://schemas.openxmlformats.org/officeDocument/2006/relationships/slide" Target="/ppt/slides/slide7.xml" Id="R2df971705db44b12" /><Relationship Type="http://schemas.openxmlformats.org/officeDocument/2006/relationships/slide" Target="/ppt/slides/slide8.xml" Id="R783e08014dfd43b1" /><Relationship Type="http://schemas.openxmlformats.org/officeDocument/2006/relationships/slide" Target="/ppt/slides/slide9.xml" Id="Rf372840f0f364737" /><Relationship Type="http://schemas.openxmlformats.org/officeDocument/2006/relationships/slide" Target="/ppt/slides/slide10.xml" Id="Rbd6aab0166294461" /><Relationship Type="http://schemas.openxmlformats.org/officeDocument/2006/relationships/slide" Target="/ppt/slides/slide11.xml" Id="R84b04bf31dbe4678" /><Relationship Type="http://schemas.openxmlformats.org/officeDocument/2006/relationships/slide" Target="/ppt/slides/slide12.xml" Id="R7620a8bcd3a648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e0f323e1b943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5cb0058e634dbb" /><Relationship Type="http://schemas.openxmlformats.org/officeDocument/2006/relationships/notesMaster" Target="/ppt/notesMasters/notesMaster1.xml" Id="R2655d61ce28b49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08971fcbd14d7d" /><Relationship Type="http://schemas.openxmlformats.org/officeDocument/2006/relationships/notesMaster" Target="/ppt/notesMasters/notesMaster1.xml" Id="Re7d907367e484d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ba8c361d8b437a" /><Relationship Type="http://schemas.openxmlformats.org/officeDocument/2006/relationships/notesMaster" Target="/ppt/notesMasters/notesMaster1.xml" Id="R7c62768748a34a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f13589e4d94bfa" /><Relationship Type="http://schemas.openxmlformats.org/officeDocument/2006/relationships/notesMaster" Target="/ppt/notesMasters/notesMaster1.xml" Id="R4959830823ac47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213412293d40ce" /><Relationship Type="http://schemas.openxmlformats.org/officeDocument/2006/relationships/notesMaster" Target="/ppt/notesMasters/notesMaster1.xml" Id="R3d48c7b2dd0b48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4a6cb22c534607" /><Relationship Type="http://schemas.openxmlformats.org/officeDocument/2006/relationships/notesMaster" Target="/ppt/notesMasters/notesMaster1.xml" Id="R69bca22aa12b45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d3194334054046" /><Relationship Type="http://schemas.openxmlformats.org/officeDocument/2006/relationships/notesMaster" Target="/ppt/notesMasters/notesMaster1.xml" Id="R25cb313f58b04b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a64644394446cd" /><Relationship Type="http://schemas.openxmlformats.org/officeDocument/2006/relationships/notesMaster" Target="/ppt/notesMasters/notesMaster1.xml" Id="R0f54ba825d8d44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a915628444404c" /><Relationship Type="http://schemas.openxmlformats.org/officeDocument/2006/relationships/notesMaster" Target="/ppt/notesMasters/notesMaster1.xml" Id="R1b1e6ddbf51044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8218d557974f5a" /><Relationship Type="http://schemas.openxmlformats.org/officeDocument/2006/relationships/notesMaster" Target="/ppt/notesMasters/notesMaster1.xml" Id="R830724bb040e41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da0dfc77bb42fd" /><Relationship Type="http://schemas.openxmlformats.org/officeDocument/2006/relationships/notesMaster" Target="/ppt/notesMasters/notesMaster1.xml" Id="Rfa22bb5c951748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f7cb72b8484fe6" /><Relationship Type="http://schemas.openxmlformats.org/officeDocument/2006/relationships/notesMaster" Target="/ppt/notesMasters/notesMaster1.xml" Id="Rc793bf69edfe47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dbcdb809e54a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9d431976c54855" /><Relationship Type="http://schemas.openxmlformats.org/officeDocument/2006/relationships/slideLayout" Target="/ppt/slideLayouts/slideLayout1.xml" Id="R81818178858d48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818178858d48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6233e4728e4910" /><Relationship Type="http://schemas.openxmlformats.org/officeDocument/2006/relationships/image" Target="/ppt/media/image.png" Id="R2fae8528ae0a4d9b" /><Relationship Type="http://schemas.openxmlformats.org/officeDocument/2006/relationships/notesSlide" Target="/ppt/notesSlides/notesSlide1.xml" Id="R57c3cf1764fb4a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4063b48c154cf5" /><Relationship Type="http://schemas.openxmlformats.org/officeDocument/2006/relationships/image" Target="/ppt/media/image2.png" Id="R13df4717e7fd4746" /><Relationship Type="http://schemas.openxmlformats.org/officeDocument/2006/relationships/notesSlide" Target="/ppt/notesSlides/notesSlide2.xml" Id="Rd9e4e940f24e4f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3074f16f0f4fb5" /><Relationship Type="http://schemas.openxmlformats.org/officeDocument/2006/relationships/image" Target="/ppt/media/image3.png" Id="R0b95a26dced54020" /><Relationship Type="http://schemas.openxmlformats.org/officeDocument/2006/relationships/notesSlide" Target="/ppt/notesSlides/notesSlide3.xml" Id="R83299ebd06f84d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77e2e1a9c948ba" /><Relationship Type="http://schemas.openxmlformats.org/officeDocument/2006/relationships/image" Target="/ppt/media/image4.png" Id="Rc03e58a6e5414941" /><Relationship Type="http://schemas.openxmlformats.org/officeDocument/2006/relationships/notesSlide" Target="/ppt/notesSlides/notesSlide4.xml" Id="R9242f3e0191a40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5f4d04e3254cfa" /><Relationship Type="http://schemas.openxmlformats.org/officeDocument/2006/relationships/image" Target="/ppt/media/image5.png" Id="R9dfb718bf2364fec" /><Relationship Type="http://schemas.openxmlformats.org/officeDocument/2006/relationships/notesSlide" Target="/ppt/notesSlides/notesSlide5.xml" Id="R723e1d1cccd54f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9799ce263f41ea" /><Relationship Type="http://schemas.openxmlformats.org/officeDocument/2006/relationships/image" Target="/ppt/media/image6.png" Id="R86a1ba9aeabb4c72" /><Relationship Type="http://schemas.openxmlformats.org/officeDocument/2006/relationships/notesSlide" Target="/ppt/notesSlides/notesSlide6.xml" Id="Rf07d19088fb241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0a1650248948ac" /><Relationship Type="http://schemas.openxmlformats.org/officeDocument/2006/relationships/image" Target="/ppt/media/image7.png" Id="R7a9b4b858069445b" /><Relationship Type="http://schemas.openxmlformats.org/officeDocument/2006/relationships/notesSlide" Target="/ppt/notesSlides/notesSlide7.xml" Id="R69475bade56841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8a5fc20b714a09" /><Relationship Type="http://schemas.openxmlformats.org/officeDocument/2006/relationships/image" Target="/ppt/media/image8.png" Id="Rb5527531629946fe" /><Relationship Type="http://schemas.openxmlformats.org/officeDocument/2006/relationships/notesSlide" Target="/ppt/notesSlides/notesSlide8.xml" Id="R075f382642f244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e2c50430774bbc" /><Relationship Type="http://schemas.openxmlformats.org/officeDocument/2006/relationships/image" Target="/ppt/media/image9.png" Id="Rd2e5beb68b934057" /><Relationship Type="http://schemas.openxmlformats.org/officeDocument/2006/relationships/notesSlide" Target="/ppt/notesSlides/notesSlide9.xml" Id="Rba64ed899fb649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b4f46bfdf04c12" /><Relationship Type="http://schemas.openxmlformats.org/officeDocument/2006/relationships/image" Target="/ppt/media/image10.png" Id="R80510f6a04584648" /><Relationship Type="http://schemas.openxmlformats.org/officeDocument/2006/relationships/notesSlide" Target="/ppt/notesSlides/notesSlide10.xml" Id="R3f5d06f1b92541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12b114a5dd14f10" /><Relationship Type="http://schemas.openxmlformats.org/officeDocument/2006/relationships/image" Target="/ppt/media/image11.png" Id="R90008bd643b846f1" /><Relationship Type="http://schemas.openxmlformats.org/officeDocument/2006/relationships/notesSlide" Target="/ppt/notesSlides/notesSlide11.xml" Id="R71a4b88b523245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d1c156393e4a85" /><Relationship Type="http://schemas.openxmlformats.org/officeDocument/2006/relationships/image" Target="/ppt/media/image12.png" Id="Ra4e41ebc30084604" /><Relationship Type="http://schemas.openxmlformats.org/officeDocument/2006/relationships/notesSlide" Target="/ppt/notesSlides/notesSlide12.xml" Id="R54a629b5483a4b0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2fae8528ae0a4d9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1-01">
            <a:extLst xmlns:a="http://schemas.openxmlformats.org/drawingml/2006/main">
              <a:ext uri="{FF2B5EF4-FFF2-40B4-BE49-F238E27FC236}">
                <a16:creationId xmlns:a16="http://schemas.microsoft.com/office/drawing/2014/main" id="{49D4A615-4519-4069-823E-4AAD6ADC8A0C}"/>
              </a:ext>
            </a:extLst>
          </p:cNvPr>
          <p:cNvSpPr>
            <a:spLocks xmlns:a="http://schemas.openxmlformats.org/drawingml/2006/main" noGrp="1"/>
          </p:cNvSpPr>
          <p:nvPr/>
        </p:nvSpPr>
        <p:spPr>
          <a:xfrm xmlns:a="http://schemas.openxmlformats.org/drawingml/2006/main">
            <a:off x="3448050" y="4175951"/>
            <a:ext cx="3493199" cy="119757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0A0A0A">
                    <a:alpha val="0"/>
                  </a:srgbClr>
                </a:solidFill>
                <a:latin typeface="Space Grotesk"/>
                <a:ea typeface="Space Grotesk"/>
                <a:cs typeface="Space Grotesk"/>
              </a:defRPr>
            </a:pPr>
            <a:r>
              <a:rPr sz="4950" b="1">
                <a:solidFill>
                  <a:srgbClr val="0A0A0A">
                    <a:alpha val="0"/>
                  </a:srgbClr>
                </a:solidFill>
                <a:latin typeface="Space Grotesk"/>
                <a:ea typeface="Space Grotesk"/>
                <a:cs typeface="Space Grotesk"/>
              </a:rPr>
              <a:t>The future of</a:t>
            </a:r>
          </a:p>
        </p:txBody>
      </p:sp>
      <p:sp>
        <p:nvSpPr>
          <p:cNvPr id="3" name="editable-text-01-02">
            <a:extLst xmlns:a="http://schemas.openxmlformats.org/drawingml/2006/main">
              <a:ext uri="{FF2B5EF4-FFF2-40B4-BE49-F238E27FC236}">
                <a16:creationId xmlns:a16="http://schemas.microsoft.com/office/drawing/2014/main" id="{8C77177F-1206-4614-A16C-C3382F5E450E}"/>
              </a:ext>
            </a:extLst>
          </p:cNvPr>
          <p:cNvSpPr>
            <a:spLocks xmlns:a="http://schemas.openxmlformats.org/drawingml/2006/main" noGrp="1"/>
          </p:cNvSpPr>
          <p:nvPr/>
        </p:nvSpPr>
        <p:spPr>
          <a:xfrm xmlns:a="http://schemas.openxmlformats.org/drawingml/2006/main">
            <a:off x="3448050" y="5237607"/>
            <a:ext cx="3712369" cy="666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0A0A0A">
                    <a:alpha val="0"/>
                  </a:srgbClr>
                </a:solidFill>
                <a:latin typeface="Space Grotesk"/>
                <a:ea typeface="Space Grotesk"/>
                <a:cs typeface="Space Grotesk"/>
              </a:defRPr>
            </a:pPr>
            <a:r>
              <a:rPr sz="4950" b="1">
                <a:solidFill>
                  <a:srgbClr val="0A0A0A">
                    <a:alpha val="0"/>
                  </a:srgbClr>
                </a:solidFill>
                <a:latin typeface="Space Grotesk"/>
                <a:ea typeface="Space Grotesk"/>
                <a:cs typeface="Space Grotesk"/>
              </a:rPr>
              <a:t>data-driven</a:t>
            </a:r>
          </a:p>
        </p:txBody>
      </p:sp>
      <p:sp>
        <p:nvSpPr>
          <p:cNvPr id="4" name="editable-text-01-03">
            <a:extLst xmlns:a="http://schemas.openxmlformats.org/drawingml/2006/main">
              <a:ext uri="{FF2B5EF4-FFF2-40B4-BE49-F238E27FC236}">
                <a16:creationId xmlns:a16="http://schemas.microsoft.com/office/drawing/2014/main" id="{0BCC380C-60F5-4220-B740-B19AFB6327D5}"/>
              </a:ext>
            </a:extLst>
          </p:cNvPr>
          <p:cNvSpPr>
            <a:spLocks xmlns:a="http://schemas.openxmlformats.org/drawingml/2006/main" noGrp="1"/>
          </p:cNvSpPr>
          <p:nvPr/>
        </p:nvSpPr>
        <p:spPr>
          <a:xfrm xmlns:a="http://schemas.openxmlformats.org/drawingml/2006/main">
            <a:off x="3448050" y="5768340"/>
            <a:ext cx="2462975" cy="666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0A0A0A">
                    <a:alpha val="0"/>
                  </a:srgbClr>
                </a:solidFill>
                <a:latin typeface="Space Grotesk"/>
                <a:ea typeface="Space Grotesk"/>
                <a:cs typeface="Space Grotesk"/>
              </a:defRPr>
            </a:pPr>
            <a:r>
              <a:rPr sz="4950" b="1">
                <a:solidFill>
                  <a:srgbClr val="0A0A0A">
                    <a:alpha val="0"/>
                  </a:srgbClr>
                </a:solidFill>
                <a:latin typeface="Space Grotesk"/>
                <a:ea typeface="Space Grotesk"/>
                <a:cs typeface="Space Grotesk"/>
              </a:rPr>
              <a:t>finance</a:t>
            </a:r>
          </a:p>
        </p:txBody>
      </p:sp>
      <p:sp>
        <p:nvSpPr>
          <p:cNvPr id="5" name="editable-text-01-04">
            <a:extLst xmlns:a="http://schemas.openxmlformats.org/drawingml/2006/main">
              <a:ext uri="{FF2B5EF4-FFF2-40B4-BE49-F238E27FC236}">
                <a16:creationId xmlns:a16="http://schemas.microsoft.com/office/drawing/2014/main" id="{23A85B06-6718-40E7-8CAD-CD47562C201B}"/>
              </a:ext>
            </a:extLst>
          </p:cNvPr>
          <p:cNvSpPr>
            <a:spLocks xmlns:a="http://schemas.openxmlformats.org/drawingml/2006/main" noGrp="1"/>
          </p:cNvSpPr>
          <p:nvPr/>
        </p:nvSpPr>
        <p:spPr>
          <a:xfrm xmlns:a="http://schemas.openxmlformats.org/drawingml/2006/main">
            <a:off x="8348091" y="6077712"/>
            <a:ext cx="818483"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©2025 DIGITS</a:t>
            </a:r>
          </a:p>
        </p:txBody>
      </p:sp>
      <p:sp>
        <p:nvSpPr>
          <p:cNvPr id="6" name="editable-text-01-05">
            <a:extLst xmlns:a="http://schemas.openxmlformats.org/drawingml/2006/main">
              <a:ext uri="{FF2B5EF4-FFF2-40B4-BE49-F238E27FC236}">
                <a16:creationId xmlns:a16="http://schemas.microsoft.com/office/drawing/2014/main" id="{0C337B57-AA60-44E3-9516-9B2087C4F6A1}"/>
              </a:ext>
            </a:extLst>
          </p:cNvPr>
          <p:cNvSpPr>
            <a:spLocks xmlns:a="http://schemas.openxmlformats.org/drawingml/2006/main" noGrp="1"/>
          </p:cNvSpPr>
          <p:nvPr/>
        </p:nvSpPr>
        <p:spPr>
          <a:xfrm xmlns:a="http://schemas.openxmlformats.org/drawingml/2006/main">
            <a:off x="8348091" y="6213920"/>
            <a:ext cx="13386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All rights reserved.</a:t>
            </a:r>
          </a:p>
        </p:txBody>
      </p:sp>
      <p:sp>
        <p:nvSpPr>
          <p:cNvPr id="7" name="editable-text-01-06">
            <a:extLst xmlns:a="http://schemas.openxmlformats.org/drawingml/2006/main">
              <a:ext uri="{FF2B5EF4-FFF2-40B4-BE49-F238E27FC236}">
                <a16:creationId xmlns:a16="http://schemas.microsoft.com/office/drawing/2014/main" id="{7D5BC2F9-AF2C-4E01-8276-805467ED2FE2}"/>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01 / 12</a:t>
            </a:r>
          </a:p>
        </p:txBody>
      </p:sp>
    </p:spTree>
    <p:extLst>
      <p:ext uri="{BB962C8B-B14F-4D97-AF65-F5344CB8AC3E}">
        <p14:creationId xmlns:p14="http://schemas.microsoft.com/office/powerpoint/2010/main" val="8110907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13df4717e7fd474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2-01">
            <a:extLst xmlns:a="http://schemas.openxmlformats.org/drawingml/2006/main">
              <a:ext uri="{FF2B5EF4-FFF2-40B4-BE49-F238E27FC236}">
                <a16:creationId xmlns:a16="http://schemas.microsoft.com/office/drawing/2014/main" id="{6118F8A2-3B99-439E-8269-F06BC5313A2F}"/>
              </a:ext>
            </a:extLst>
          </p:cNvPr>
          <p:cNvSpPr>
            <a:spLocks xmlns:a="http://schemas.openxmlformats.org/drawingml/2006/main" noGrp="1"/>
          </p:cNvSpPr>
          <p:nvPr/>
        </p:nvSpPr>
        <p:spPr>
          <a:xfrm xmlns:a="http://schemas.openxmlformats.org/drawingml/2006/main">
            <a:off x="533400" y="676561"/>
            <a:ext cx="3181160" cy="6858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5175" b="1">
                <a:solidFill>
                  <a:srgbClr val="0A0A0A">
                    <a:alpha val="0"/>
                  </a:srgbClr>
                </a:solidFill>
                <a:latin typeface="Space Grotesk"/>
                <a:ea typeface="Space Grotesk"/>
                <a:cs typeface="Space Grotesk"/>
              </a:defRPr>
            </a:pPr>
            <a:r>
              <a:rPr sz="5175" b="1">
                <a:solidFill>
                  <a:srgbClr val="0A0A0A">
                    <a:alpha val="0"/>
                  </a:srgbClr>
                </a:solidFill>
                <a:latin typeface="Space Grotesk"/>
                <a:ea typeface="Space Grotesk"/>
                <a:cs typeface="Space Grotesk"/>
              </a:rPr>
              <a:t>Contents</a:t>
            </a:r>
          </a:p>
        </p:txBody>
      </p:sp>
      <p:sp>
        <p:nvSpPr>
          <p:cNvPr id="3" name="editable-text-02-02">
            <a:extLst xmlns:a="http://schemas.openxmlformats.org/drawingml/2006/main">
              <a:ext uri="{FF2B5EF4-FFF2-40B4-BE49-F238E27FC236}">
                <a16:creationId xmlns:a16="http://schemas.microsoft.com/office/drawing/2014/main" id="{EBDCDDBA-FA51-447F-BF19-F69D3EFC90A0}"/>
              </a:ext>
            </a:extLst>
          </p:cNvPr>
          <p:cNvSpPr>
            <a:spLocks xmlns:a="http://schemas.openxmlformats.org/drawingml/2006/main" noGrp="1"/>
          </p:cNvSpPr>
          <p:nvPr/>
        </p:nvSpPr>
        <p:spPr>
          <a:xfrm xmlns:a="http://schemas.openxmlformats.org/drawingml/2006/main">
            <a:off x="533400" y="2657380"/>
            <a:ext cx="1653064" cy="2222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0A0A0A">
                    <a:alpha val="0"/>
                  </a:srgbClr>
                </a:solidFill>
                <a:latin typeface="JetBrains Mono"/>
                <a:ea typeface="JetBrains Mono"/>
                <a:cs typeface="JetBrains Mono"/>
              </a:defRPr>
            </a:pPr>
            <a:r>
              <a:rPr sz="1238" b="0">
                <a:solidFill>
                  <a:srgbClr val="0A0A0A">
                    <a:alpha val="0"/>
                  </a:srgbClr>
                </a:solidFill>
                <a:latin typeface="JetBrains Mono"/>
                <a:ea typeface="JetBrains Mono"/>
                <a:cs typeface="JetBrains Mono"/>
              </a:rPr>
              <a:t>01 / Introduction</a:t>
            </a:r>
          </a:p>
        </p:txBody>
      </p:sp>
      <p:sp>
        <p:nvSpPr>
          <p:cNvPr id="4" name="editable-text-02-03">
            <a:extLst xmlns:a="http://schemas.openxmlformats.org/drawingml/2006/main">
              <a:ext uri="{FF2B5EF4-FFF2-40B4-BE49-F238E27FC236}">
                <a16:creationId xmlns:a16="http://schemas.microsoft.com/office/drawing/2014/main" id="{490A1728-A29B-438F-8AB3-922D5F9CA185}"/>
              </a:ext>
            </a:extLst>
          </p:cNvPr>
          <p:cNvSpPr>
            <a:spLocks xmlns:a="http://schemas.openxmlformats.org/drawingml/2006/main" noGrp="1"/>
          </p:cNvSpPr>
          <p:nvPr/>
        </p:nvSpPr>
        <p:spPr>
          <a:xfrm xmlns:a="http://schemas.openxmlformats.org/drawingml/2006/main">
            <a:off x="533400" y="2968562"/>
            <a:ext cx="2272665" cy="2984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A0A0A">
                    <a:alpha val="0"/>
                  </a:srgbClr>
                </a:solidFill>
                <a:latin typeface="Space Grotesk"/>
                <a:ea typeface="Space Grotesk"/>
                <a:cs typeface="Space Grotesk"/>
              </a:defRPr>
            </a:pPr>
            <a:r>
              <a:rPr sz="2025" b="1">
                <a:solidFill>
                  <a:srgbClr val="0A0A0A">
                    <a:alpha val="0"/>
                  </a:srgbClr>
                </a:solidFill>
                <a:latin typeface="Space Grotesk"/>
                <a:ea typeface="Space Grotesk"/>
                <a:cs typeface="Space Grotesk"/>
              </a:rPr>
              <a:t>Digits in numbers</a:t>
            </a:r>
          </a:p>
        </p:txBody>
      </p:sp>
      <p:sp>
        <p:nvSpPr>
          <p:cNvPr id="5" name="editable-text-02-04">
            <a:extLst xmlns:a="http://schemas.openxmlformats.org/drawingml/2006/main">
              <a:ext uri="{FF2B5EF4-FFF2-40B4-BE49-F238E27FC236}">
                <a16:creationId xmlns:a16="http://schemas.microsoft.com/office/drawing/2014/main" id="{D6547AE5-8438-4893-B507-FF8E4E5E8BD1}"/>
              </a:ext>
            </a:extLst>
          </p:cNvPr>
          <p:cNvSpPr>
            <a:spLocks xmlns:a="http://schemas.openxmlformats.org/drawingml/2006/main" noGrp="1"/>
          </p:cNvSpPr>
          <p:nvPr/>
        </p:nvSpPr>
        <p:spPr>
          <a:xfrm xmlns:a="http://schemas.openxmlformats.org/drawingml/2006/main">
            <a:off x="533400" y="3233928"/>
            <a:ext cx="2792349"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Where we are and what the platform handles today.</a:t>
            </a:r>
          </a:p>
        </p:txBody>
      </p:sp>
      <p:sp>
        <p:nvSpPr>
          <p:cNvPr id="6" name="editable-text-02-05">
            <a:extLst xmlns:a="http://schemas.openxmlformats.org/drawingml/2006/main">
              <a:ext uri="{FF2B5EF4-FFF2-40B4-BE49-F238E27FC236}">
                <a16:creationId xmlns:a16="http://schemas.microsoft.com/office/drawing/2014/main" id="{37C0C001-4407-4559-90DF-0D7E6B7AA829}"/>
              </a:ext>
            </a:extLst>
          </p:cNvPr>
          <p:cNvSpPr>
            <a:spLocks xmlns:a="http://schemas.openxmlformats.org/drawingml/2006/main" noGrp="1"/>
          </p:cNvSpPr>
          <p:nvPr/>
        </p:nvSpPr>
        <p:spPr>
          <a:xfrm xmlns:a="http://schemas.openxmlformats.org/drawingml/2006/main">
            <a:off x="4466177" y="2657380"/>
            <a:ext cx="1178147" cy="2222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0A0A0A">
                    <a:alpha val="0"/>
                  </a:srgbClr>
                </a:solidFill>
                <a:latin typeface="JetBrains Mono"/>
                <a:ea typeface="JetBrains Mono"/>
                <a:cs typeface="JetBrains Mono"/>
              </a:defRPr>
            </a:pPr>
            <a:r>
              <a:rPr sz="1238" b="0">
                <a:solidFill>
                  <a:srgbClr val="0A0A0A">
                    <a:alpha val="0"/>
                  </a:srgbClr>
                </a:solidFill>
                <a:latin typeface="JetBrains Mono"/>
                <a:ea typeface="JetBrains Mono"/>
                <a:cs typeface="JetBrains Mono"/>
              </a:rPr>
              <a:t>02 / Product</a:t>
            </a:r>
          </a:p>
        </p:txBody>
      </p:sp>
      <p:sp>
        <p:nvSpPr>
          <p:cNvPr id="7" name="editable-text-02-06">
            <a:extLst xmlns:a="http://schemas.openxmlformats.org/drawingml/2006/main">
              <a:ext uri="{FF2B5EF4-FFF2-40B4-BE49-F238E27FC236}">
                <a16:creationId xmlns:a16="http://schemas.microsoft.com/office/drawing/2014/main" id="{E410C775-5DAF-4B2E-AA1A-BB4D1327CF86}"/>
              </a:ext>
            </a:extLst>
          </p:cNvPr>
          <p:cNvSpPr>
            <a:spLocks xmlns:a="http://schemas.openxmlformats.org/drawingml/2006/main" noGrp="1"/>
          </p:cNvSpPr>
          <p:nvPr/>
        </p:nvSpPr>
        <p:spPr>
          <a:xfrm xmlns:a="http://schemas.openxmlformats.org/drawingml/2006/main">
            <a:off x="4466177" y="2968562"/>
            <a:ext cx="1755172" cy="2984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A0A0A">
                    <a:alpha val="0"/>
                  </a:srgbClr>
                </a:solidFill>
                <a:latin typeface="Space Grotesk"/>
                <a:ea typeface="Space Grotesk"/>
                <a:cs typeface="Space Grotesk"/>
              </a:defRPr>
            </a:pPr>
            <a:r>
              <a:rPr sz="2025" b="1">
                <a:solidFill>
                  <a:srgbClr val="0A0A0A">
                    <a:alpha val="0"/>
                  </a:srgbClr>
                </a:solidFill>
                <a:latin typeface="Space Grotesk"/>
                <a:ea typeface="Space Grotesk"/>
                <a:cs typeface="Space Grotesk"/>
              </a:rPr>
              <a:t>Key features</a:t>
            </a:r>
          </a:p>
        </p:txBody>
      </p:sp>
      <p:sp>
        <p:nvSpPr>
          <p:cNvPr id="8" name="editable-text-02-07">
            <a:extLst xmlns:a="http://schemas.openxmlformats.org/drawingml/2006/main">
              <a:ext uri="{FF2B5EF4-FFF2-40B4-BE49-F238E27FC236}">
                <a16:creationId xmlns:a16="http://schemas.microsoft.com/office/drawing/2014/main" id="{FD2D326A-CB36-42CA-B39C-2DABD2710467}"/>
              </a:ext>
            </a:extLst>
          </p:cNvPr>
          <p:cNvSpPr>
            <a:spLocks xmlns:a="http://schemas.openxmlformats.org/drawingml/2006/main" noGrp="1"/>
          </p:cNvSpPr>
          <p:nvPr/>
        </p:nvSpPr>
        <p:spPr>
          <a:xfrm xmlns:a="http://schemas.openxmlformats.org/drawingml/2006/main">
            <a:off x="4466177" y="3233928"/>
            <a:ext cx="2881313"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Three primitives that power decision-making at scale.</a:t>
            </a:r>
          </a:p>
        </p:txBody>
      </p:sp>
      <p:sp>
        <p:nvSpPr>
          <p:cNvPr id="9" name="editable-text-02-08">
            <a:extLst xmlns:a="http://schemas.openxmlformats.org/drawingml/2006/main">
              <a:ext uri="{FF2B5EF4-FFF2-40B4-BE49-F238E27FC236}">
                <a16:creationId xmlns:a16="http://schemas.microsoft.com/office/drawing/2014/main" id="{24AD9471-7F1F-4D09-977A-991C4135F440}"/>
              </a:ext>
            </a:extLst>
          </p:cNvPr>
          <p:cNvSpPr>
            <a:spLocks xmlns:a="http://schemas.openxmlformats.org/drawingml/2006/main" noGrp="1"/>
          </p:cNvSpPr>
          <p:nvPr/>
        </p:nvSpPr>
        <p:spPr>
          <a:xfrm xmlns:a="http://schemas.openxmlformats.org/drawingml/2006/main">
            <a:off x="8398859" y="2657380"/>
            <a:ext cx="1083088" cy="2222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0A0A0A">
                    <a:alpha val="0"/>
                  </a:srgbClr>
                </a:solidFill>
                <a:latin typeface="JetBrains Mono"/>
                <a:ea typeface="JetBrains Mono"/>
                <a:cs typeface="JetBrains Mono"/>
              </a:defRPr>
            </a:pPr>
            <a:r>
              <a:rPr sz="1238" b="0">
                <a:solidFill>
                  <a:srgbClr val="0A0A0A">
                    <a:alpha val="0"/>
                  </a:srgbClr>
                </a:solidFill>
                <a:latin typeface="JetBrains Mono"/>
                <a:ea typeface="JetBrains Mono"/>
                <a:cs typeface="JetBrains Mono"/>
              </a:rPr>
              <a:t>03 / Market</a:t>
            </a:r>
          </a:p>
        </p:txBody>
      </p:sp>
      <p:sp>
        <p:nvSpPr>
          <p:cNvPr id="10" name="editable-text-02-09">
            <a:extLst xmlns:a="http://schemas.openxmlformats.org/drawingml/2006/main">
              <a:ext uri="{FF2B5EF4-FFF2-40B4-BE49-F238E27FC236}">
                <a16:creationId xmlns:a16="http://schemas.microsoft.com/office/drawing/2014/main" id="{B216104B-96C6-45BE-BCFE-F8424B7A5DD7}"/>
              </a:ext>
            </a:extLst>
          </p:cNvPr>
          <p:cNvSpPr>
            <a:spLocks xmlns:a="http://schemas.openxmlformats.org/drawingml/2006/main" noGrp="1"/>
          </p:cNvSpPr>
          <p:nvPr/>
        </p:nvSpPr>
        <p:spPr>
          <a:xfrm xmlns:a="http://schemas.openxmlformats.org/drawingml/2006/main">
            <a:off x="8398859" y="2968562"/>
            <a:ext cx="2947226" cy="2984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A0A0A">
                    <a:alpha val="0"/>
                  </a:srgbClr>
                </a:solidFill>
                <a:latin typeface="Space Grotesk"/>
                <a:ea typeface="Space Grotesk"/>
                <a:cs typeface="Space Grotesk"/>
              </a:defRPr>
            </a:pPr>
            <a:r>
              <a:rPr sz="2025" b="1">
                <a:solidFill>
                  <a:srgbClr val="0A0A0A">
                    <a:alpha val="0"/>
                  </a:srgbClr>
                </a:solidFill>
                <a:latin typeface="Space Grotesk"/>
                <a:ea typeface="Space Grotesk"/>
                <a:cs typeface="Space Grotesk"/>
              </a:rPr>
              <a:t>Penetration &amp; growth</a:t>
            </a:r>
          </a:p>
        </p:txBody>
      </p:sp>
      <p:sp>
        <p:nvSpPr>
          <p:cNvPr id="11" name="editable-text-02-10">
            <a:extLst xmlns:a="http://schemas.openxmlformats.org/drawingml/2006/main">
              <a:ext uri="{FF2B5EF4-FFF2-40B4-BE49-F238E27FC236}">
                <a16:creationId xmlns:a16="http://schemas.microsoft.com/office/drawing/2014/main" id="{800AE897-6E7D-4515-9470-EFB3341E9389}"/>
              </a:ext>
            </a:extLst>
          </p:cNvPr>
          <p:cNvSpPr>
            <a:spLocks xmlns:a="http://schemas.openxmlformats.org/drawingml/2006/main" noGrp="1"/>
          </p:cNvSpPr>
          <p:nvPr/>
        </p:nvSpPr>
        <p:spPr>
          <a:xfrm xmlns:a="http://schemas.openxmlformats.org/drawingml/2006/main">
            <a:off x="8398859" y="3233928"/>
            <a:ext cx="2942177"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Where we are gaining ground, and where we are next.</a:t>
            </a:r>
          </a:p>
        </p:txBody>
      </p:sp>
      <p:sp>
        <p:nvSpPr>
          <p:cNvPr id="12" name="editable-text-02-11">
            <a:extLst xmlns:a="http://schemas.openxmlformats.org/drawingml/2006/main">
              <a:ext uri="{FF2B5EF4-FFF2-40B4-BE49-F238E27FC236}">
                <a16:creationId xmlns:a16="http://schemas.microsoft.com/office/drawing/2014/main" id="{CAAE1EB6-4882-4FFA-8373-0A178FA989BF}"/>
              </a:ext>
            </a:extLst>
          </p:cNvPr>
          <p:cNvSpPr>
            <a:spLocks xmlns:a="http://schemas.openxmlformats.org/drawingml/2006/main" noGrp="1"/>
          </p:cNvSpPr>
          <p:nvPr/>
        </p:nvSpPr>
        <p:spPr>
          <a:xfrm xmlns:a="http://schemas.openxmlformats.org/drawingml/2006/main">
            <a:off x="533400" y="5081492"/>
            <a:ext cx="1083088" cy="2222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0A0A0A">
                    <a:alpha val="0"/>
                  </a:srgbClr>
                </a:solidFill>
                <a:latin typeface="JetBrains Mono"/>
                <a:ea typeface="JetBrains Mono"/>
                <a:cs typeface="JetBrains Mono"/>
              </a:defRPr>
            </a:pPr>
            <a:r>
              <a:rPr sz="1238" b="0">
                <a:solidFill>
                  <a:srgbClr val="0A0A0A">
                    <a:alpha val="0"/>
                  </a:srgbClr>
                </a:solidFill>
                <a:latin typeface="JetBrains Mono"/>
                <a:ea typeface="JetBrains Mono"/>
                <a:cs typeface="JetBrains Mono"/>
              </a:rPr>
              <a:t>04 / Vision</a:t>
            </a:r>
          </a:p>
        </p:txBody>
      </p:sp>
      <p:sp>
        <p:nvSpPr>
          <p:cNvPr id="13" name="editable-text-02-12">
            <a:extLst xmlns:a="http://schemas.openxmlformats.org/drawingml/2006/main">
              <a:ext uri="{FF2B5EF4-FFF2-40B4-BE49-F238E27FC236}">
                <a16:creationId xmlns:a16="http://schemas.microsoft.com/office/drawing/2014/main" id="{46702206-0EDB-4842-9472-356DB74E5DA1}"/>
              </a:ext>
            </a:extLst>
          </p:cNvPr>
          <p:cNvSpPr>
            <a:spLocks xmlns:a="http://schemas.openxmlformats.org/drawingml/2006/main" noGrp="1"/>
          </p:cNvSpPr>
          <p:nvPr/>
        </p:nvSpPr>
        <p:spPr>
          <a:xfrm xmlns:a="http://schemas.openxmlformats.org/drawingml/2006/main">
            <a:off x="533400" y="5392674"/>
            <a:ext cx="2247424" cy="2984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A0A0A">
                    <a:alpha val="0"/>
                  </a:srgbClr>
                </a:solidFill>
                <a:latin typeface="Space Grotesk"/>
                <a:ea typeface="Space Grotesk"/>
                <a:cs typeface="Space Grotesk"/>
              </a:defRPr>
            </a:pPr>
            <a:r>
              <a:rPr sz="2025" b="1">
                <a:solidFill>
                  <a:srgbClr val="0A0A0A">
                    <a:alpha val="0"/>
                  </a:srgbClr>
                </a:solidFill>
                <a:latin typeface="Space Grotesk"/>
                <a:ea typeface="Space Grotesk"/>
                <a:cs typeface="Space Grotesk"/>
              </a:rPr>
              <a:t>What comes next</a:t>
            </a:r>
          </a:p>
        </p:txBody>
      </p:sp>
      <p:sp>
        <p:nvSpPr>
          <p:cNvPr id="14" name="editable-text-02-13">
            <a:extLst xmlns:a="http://schemas.openxmlformats.org/drawingml/2006/main">
              <a:ext uri="{FF2B5EF4-FFF2-40B4-BE49-F238E27FC236}">
                <a16:creationId xmlns:a16="http://schemas.microsoft.com/office/drawing/2014/main" id="{3D8F30B1-B570-4DFE-ACBA-CECDF167CA02}"/>
              </a:ext>
            </a:extLst>
          </p:cNvPr>
          <p:cNvSpPr>
            <a:spLocks xmlns:a="http://schemas.openxmlformats.org/drawingml/2006/main" noGrp="1"/>
          </p:cNvSpPr>
          <p:nvPr/>
        </p:nvSpPr>
        <p:spPr>
          <a:xfrm xmlns:a="http://schemas.openxmlformats.org/drawingml/2006/main">
            <a:off x="533400" y="5658041"/>
            <a:ext cx="2143887"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The roadmap for the next four quarters.</a:t>
            </a:r>
          </a:p>
        </p:txBody>
      </p:sp>
      <p:sp>
        <p:nvSpPr>
          <p:cNvPr id="15" name="editable-text-02-14">
            <a:extLst xmlns:a="http://schemas.openxmlformats.org/drawingml/2006/main">
              <a:ext uri="{FF2B5EF4-FFF2-40B4-BE49-F238E27FC236}">
                <a16:creationId xmlns:a16="http://schemas.microsoft.com/office/drawing/2014/main" id="{5A1A8D75-9788-4042-834F-98C79A9DAF8E}"/>
              </a:ext>
            </a:extLst>
          </p:cNvPr>
          <p:cNvSpPr>
            <a:spLocks xmlns:a="http://schemas.openxmlformats.org/drawingml/2006/main" noGrp="1"/>
          </p:cNvSpPr>
          <p:nvPr/>
        </p:nvSpPr>
        <p:spPr>
          <a:xfrm xmlns:a="http://schemas.openxmlformats.org/drawingml/2006/main">
            <a:off x="4466177" y="5081492"/>
            <a:ext cx="988124" cy="2222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F5F4EF">
                    <a:alpha val="0"/>
                  </a:srgbClr>
                </a:solidFill>
                <a:latin typeface="JetBrains Mono"/>
                <a:ea typeface="JetBrains Mono"/>
                <a:cs typeface="JetBrains Mono"/>
              </a:defRPr>
            </a:pPr>
            <a:r>
              <a:rPr sz="1238" b="0">
                <a:solidFill>
                  <a:srgbClr val="F5F4EF">
                    <a:alpha val="0"/>
                  </a:srgbClr>
                </a:solidFill>
                <a:latin typeface="JetBrains Mono"/>
                <a:ea typeface="JetBrains Mono"/>
                <a:cs typeface="JetBrains Mono"/>
              </a:rPr>
              <a:t>05 / Voice</a:t>
            </a:r>
          </a:p>
        </p:txBody>
      </p:sp>
      <p:sp>
        <p:nvSpPr>
          <p:cNvPr id="16" name="editable-text-02-15">
            <a:extLst xmlns:a="http://schemas.openxmlformats.org/drawingml/2006/main">
              <a:ext uri="{FF2B5EF4-FFF2-40B4-BE49-F238E27FC236}">
                <a16:creationId xmlns:a16="http://schemas.microsoft.com/office/drawing/2014/main" id="{4644B507-EE08-425D-8D85-48CECC97B8C7}"/>
              </a:ext>
            </a:extLst>
          </p:cNvPr>
          <p:cNvSpPr>
            <a:spLocks xmlns:a="http://schemas.openxmlformats.org/drawingml/2006/main" noGrp="1"/>
          </p:cNvSpPr>
          <p:nvPr/>
        </p:nvSpPr>
        <p:spPr>
          <a:xfrm xmlns:a="http://schemas.openxmlformats.org/drawingml/2006/main">
            <a:off x="4466177" y="5392674"/>
            <a:ext cx="2547747" cy="2984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F5F4EF">
                    <a:alpha val="0"/>
                  </a:srgbClr>
                </a:solidFill>
                <a:latin typeface="Space Grotesk"/>
                <a:ea typeface="Space Grotesk"/>
                <a:cs typeface="Space Grotesk"/>
              </a:defRPr>
            </a:pPr>
            <a:r>
              <a:rPr sz="2025" b="1">
                <a:solidFill>
                  <a:srgbClr val="F5F4EF">
                    <a:alpha val="0"/>
                  </a:srgbClr>
                </a:solidFill>
                <a:latin typeface="Space Grotesk"/>
                <a:ea typeface="Space Grotesk"/>
                <a:cs typeface="Space Grotesk"/>
              </a:rPr>
              <a:t>From our partners</a:t>
            </a:r>
          </a:p>
        </p:txBody>
      </p:sp>
      <p:sp>
        <p:nvSpPr>
          <p:cNvPr id="17" name="editable-text-02-16">
            <a:extLst xmlns:a="http://schemas.openxmlformats.org/drawingml/2006/main">
              <a:ext uri="{FF2B5EF4-FFF2-40B4-BE49-F238E27FC236}">
                <a16:creationId xmlns:a16="http://schemas.microsoft.com/office/drawing/2014/main" id="{AE67CAF7-AE0E-4638-B73C-52EB3F0F4343}"/>
              </a:ext>
            </a:extLst>
          </p:cNvPr>
          <p:cNvSpPr>
            <a:spLocks xmlns:a="http://schemas.openxmlformats.org/drawingml/2006/main" noGrp="1"/>
          </p:cNvSpPr>
          <p:nvPr/>
        </p:nvSpPr>
        <p:spPr>
          <a:xfrm xmlns:a="http://schemas.openxmlformats.org/drawingml/2006/main">
            <a:off x="4466177" y="5658041"/>
            <a:ext cx="2069973"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F5F4EF">
                    <a:alpha val="0"/>
                  </a:srgbClr>
                </a:solidFill>
                <a:latin typeface="Space Grotesk"/>
                <a:ea typeface="Space Grotesk"/>
                <a:cs typeface="Space Grotesk"/>
              </a:defRPr>
            </a:pPr>
            <a:r>
              <a:rPr sz="1073" b="0">
                <a:solidFill>
                  <a:srgbClr val="F5F4EF">
                    <a:alpha val="0"/>
                  </a:srgbClr>
                </a:solidFill>
                <a:latin typeface="Space Grotesk"/>
                <a:ea typeface="Space Grotesk"/>
                <a:cs typeface="Space Grotesk"/>
              </a:rPr>
              <a:t>Why teams are choosing the platform.</a:t>
            </a:r>
          </a:p>
        </p:txBody>
      </p:sp>
      <p:sp>
        <p:nvSpPr>
          <p:cNvPr id="18" name="editable-text-02-17">
            <a:extLst xmlns:a="http://schemas.openxmlformats.org/drawingml/2006/main">
              <a:ext uri="{FF2B5EF4-FFF2-40B4-BE49-F238E27FC236}">
                <a16:creationId xmlns:a16="http://schemas.microsoft.com/office/drawing/2014/main" id="{082594A5-A39C-4DC6-A722-D85C74720DD5}"/>
              </a:ext>
            </a:extLst>
          </p:cNvPr>
          <p:cNvSpPr>
            <a:spLocks xmlns:a="http://schemas.openxmlformats.org/drawingml/2006/main" noGrp="1"/>
          </p:cNvSpPr>
          <p:nvPr/>
        </p:nvSpPr>
        <p:spPr>
          <a:xfrm xmlns:a="http://schemas.openxmlformats.org/drawingml/2006/main">
            <a:off x="8398859" y="5081492"/>
            <a:ext cx="1083088" cy="2222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0A0A0A">
                    <a:alpha val="0"/>
                  </a:srgbClr>
                </a:solidFill>
                <a:latin typeface="JetBrains Mono"/>
                <a:ea typeface="JetBrains Mono"/>
                <a:cs typeface="JetBrains Mono"/>
              </a:defRPr>
            </a:pPr>
            <a:r>
              <a:rPr sz="1238" b="0">
                <a:solidFill>
                  <a:srgbClr val="0A0A0A">
                    <a:alpha val="0"/>
                  </a:srgbClr>
                </a:solidFill>
                <a:latin typeface="JetBrains Mono"/>
                <a:ea typeface="JetBrains Mono"/>
                <a:cs typeface="JetBrains Mono"/>
              </a:rPr>
              <a:t>06 / Action</a:t>
            </a:r>
          </a:p>
        </p:txBody>
      </p:sp>
      <p:sp>
        <p:nvSpPr>
          <p:cNvPr id="19" name="editable-text-02-18">
            <a:extLst xmlns:a="http://schemas.openxmlformats.org/drawingml/2006/main">
              <a:ext uri="{FF2B5EF4-FFF2-40B4-BE49-F238E27FC236}">
                <a16:creationId xmlns:a16="http://schemas.microsoft.com/office/drawing/2014/main" id="{6EB3A172-40A0-40B7-869C-778BAFCAF720}"/>
              </a:ext>
            </a:extLst>
          </p:cNvPr>
          <p:cNvSpPr>
            <a:spLocks xmlns:a="http://schemas.openxmlformats.org/drawingml/2006/main" noGrp="1"/>
          </p:cNvSpPr>
          <p:nvPr/>
        </p:nvSpPr>
        <p:spPr>
          <a:xfrm xmlns:a="http://schemas.openxmlformats.org/drawingml/2006/main">
            <a:off x="8398859" y="5392674"/>
            <a:ext cx="1437989" cy="2984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A0A0A">
                    <a:alpha val="0"/>
                  </a:srgbClr>
                </a:solidFill>
                <a:latin typeface="Space Grotesk"/>
                <a:ea typeface="Space Grotesk"/>
                <a:cs typeface="Space Grotesk"/>
              </a:defRPr>
            </a:pPr>
            <a:r>
              <a:rPr sz="2025" b="1">
                <a:solidFill>
                  <a:srgbClr val="0A0A0A">
                    <a:alpha val="0"/>
                  </a:srgbClr>
                </a:solidFill>
                <a:latin typeface="Space Grotesk"/>
                <a:ea typeface="Space Grotesk"/>
                <a:cs typeface="Space Grotesk"/>
              </a:rPr>
              <a:t>Next steps</a:t>
            </a:r>
          </a:p>
        </p:txBody>
      </p:sp>
      <p:sp>
        <p:nvSpPr>
          <p:cNvPr id="20" name="editable-text-02-19">
            <a:extLst xmlns:a="http://schemas.openxmlformats.org/drawingml/2006/main">
              <a:ext uri="{FF2B5EF4-FFF2-40B4-BE49-F238E27FC236}">
                <a16:creationId xmlns:a16="http://schemas.microsoft.com/office/drawing/2014/main" id="{CD14BFC5-D493-4F6F-9B2A-35B4202482E2}"/>
              </a:ext>
            </a:extLst>
          </p:cNvPr>
          <p:cNvSpPr>
            <a:spLocks xmlns:a="http://schemas.openxmlformats.org/drawingml/2006/main" noGrp="1"/>
          </p:cNvSpPr>
          <p:nvPr/>
        </p:nvSpPr>
        <p:spPr>
          <a:xfrm xmlns:a="http://schemas.openxmlformats.org/drawingml/2006/main">
            <a:off x="8398859" y="5658041"/>
            <a:ext cx="2047685"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Three things to take away from today.</a:t>
            </a:r>
          </a:p>
        </p:txBody>
      </p:sp>
      <p:sp>
        <p:nvSpPr>
          <p:cNvPr id="21" name="editable-text-02-20">
            <a:extLst xmlns:a="http://schemas.openxmlformats.org/drawingml/2006/main">
              <a:ext uri="{FF2B5EF4-FFF2-40B4-BE49-F238E27FC236}">
                <a16:creationId xmlns:a16="http://schemas.microsoft.com/office/drawing/2014/main" id="{831B65C0-997C-4372-8FE4-032829EF3CAF}"/>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02 / 12</a:t>
            </a:r>
          </a:p>
        </p:txBody>
      </p:sp>
    </p:spTree>
    <p:extLst>
      <p:ext uri="{BB962C8B-B14F-4D97-AF65-F5344CB8AC3E}">
        <p14:creationId xmlns:p14="http://schemas.microsoft.com/office/powerpoint/2010/main" val="4763749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0b95a26dced5402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3-01">
            <a:extLst xmlns:a="http://schemas.openxmlformats.org/drawingml/2006/main">
              <a:ext uri="{FF2B5EF4-FFF2-40B4-BE49-F238E27FC236}">
                <a16:creationId xmlns:a16="http://schemas.microsoft.com/office/drawing/2014/main" id="{1D494EA8-13CD-46F4-9D0D-3580A7289507}"/>
              </a:ext>
            </a:extLst>
          </p:cNvPr>
          <p:cNvSpPr>
            <a:spLocks xmlns:a="http://schemas.openxmlformats.org/drawingml/2006/main" noGrp="1"/>
          </p:cNvSpPr>
          <p:nvPr/>
        </p:nvSpPr>
        <p:spPr>
          <a:xfrm xmlns:a="http://schemas.openxmlformats.org/drawingml/2006/main">
            <a:off x="431768" y="438150"/>
            <a:ext cx="1080421" cy="3746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0A0A0A">
                    <a:alpha val="0"/>
                  </a:srgbClr>
                </a:solidFill>
                <a:latin typeface="Space Grotesk"/>
                <a:ea typeface="Space Grotesk"/>
                <a:cs typeface="Space Grotesk"/>
              </a:defRPr>
            </a:pPr>
            <a:r>
              <a:rPr sz="2700" b="1">
                <a:solidFill>
                  <a:srgbClr val="0A0A0A">
                    <a:alpha val="0"/>
                  </a:srgbClr>
                </a:solidFill>
                <a:latin typeface="Space Grotesk"/>
                <a:ea typeface="Space Grotesk"/>
                <a:cs typeface="Space Grotesk"/>
              </a:rPr>
              <a:t>+98.7%</a:t>
            </a:r>
          </a:p>
        </p:txBody>
      </p:sp>
      <p:sp>
        <p:nvSpPr>
          <p:cNvPr id="3" name="editable-text-03-02">
            <a:extLst xmlns:a="http://schemas.openxmlformats.org/drawingml/2006/main">
              <a:ext uri="{FF2B5EF4-FFF2-40B4-BE49-F238E27FC236}">
                <a16:creationId xmlns:a16="http://schemas.microsoft.com/office/drawing/2014/main" id="{8C77AEC7-365A-4E99-9255-80A268007F12}"/>
              </a:ext>
            </a:extLst>
          </p:cNvPr>
          <p:cNvSpPr>
            <a:spLocks xmlns:a="http://schemas.openxmlformats.org/drawingml/2006/main" noGrp="1"/>
          </p:cNvSpPr>
          <p:nvPr/>
        </p:nvSpPr>
        <p:spPr>
          <a:xfrm xmlns:a="http://schemas.openxmlformats.org/drawingml/2006/main">
            <a:off x="431768" y="6057900"/>
            <a:ext cx="1178147" cy="4317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A0A0A">
                    <a:alpha val="0"/>
                  </a:srgbClr>
                </a:solidFill>
                <a:latin typeface="JetBrains Mono"/>
                <a:ea typeface="JetBrains Mono"/>
                <a:cs typeface="JetBrains Mono"/>
              </a:defRPr>
            </a:pPr>
            <a:r>
              <a:rPr sz="1350" b="0">
                <a:solidFill>
                  <a:srgbClr val="0A0A0A">
                    <a:alpha val="0"/>
                  </a:srgbClr>
                </a:solidFill>
                <a:latin typeface="JetBrains Mono"/>
                <a:ea typeface="JetBrains Mono"/>
                <a:cs typeface="JetBrains Mono"/>
              </a:rPr>
              <a:t>Market penetration</a:t>
            </a:r>
          </a:p>
        </p:txBody>
      </p:sp>
      <p:sp>
        <p:nvSpPr>
          <p:cNvPr id="4" name="editable-text-03-03">
            <a:extLst xmlns:a="http://schemas.openxmlformats.org/drawingml/2006/main">
              <a:ext uri="{FF2B5EF4-FFF2-40B4-BE49-F238E27FC236}">
                <a16:creationId xmlns:a16="http://schemas.microsoft.com/office/drawing/2014/main" id="{AE530A8B-80BB-4649-88DC-7D371D824B1B}"/>
              </a:ext>
            </a:extLst>
          </p:cNvPr>
          <p:cNvSpPr>
            <a:spLocks xmlns:a="http://schemas.openxmlformats.org/drawingml/2006/main" noGrp="1"/>
          </p:cNvSpPr>
          <p:nvPr/>
        </p:nvSpPr>
        <p:spPr>
          <a:xfrm xmlns:a="http://schemas.openxmlformats.org/drawingml/2006/main">
            <a:off x="2417159" y="438150"/>
            <a:ext cx="1603439"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Digits</a:t>
            </a:r>
          </a:p>
        </p:txBody>
      </p:sp>
      <p:sp>
        <p:nvSpPr>
          <p:cNvPr id="5" name="editable-text-03-04">
            <a:extLst xmlns:a="http://schemas.openxmlformats.org/drawingml/2006/main">
              <a:ext uri="{FF2B5EF4-FFF2-40B4-BE49-F238E27FC236}">
                <a16:creationId xmlns:a16="http://schemas.microsoft.com/office/drawing/2014/main" id="{03294443-0E88-4FF7-975C-228653D56FCC}"/>
              </a:ext>
            </a:extLst>
          </p:cNvPr>
          <p:cNvSpPr>
            <a:spLocks xmlns:a="http://schemas.openxmlformats.org/drawingml/2006/main" noGrp="1"/>
          </p:cNvSpPr>
          <p:nvPr/>
        </p:nvSpPr>
        <p:spPr>
          <a:xfrm xmlns:a="http://schemas.openxmlformats.org/drawingml/2006/main">
            <a:off x="2417159" y="896588"/>
            <a:ext cx="633127"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in</a:t>
            </a:r>
          </a:p>
        </p:txBody>
      </p:sp>
      <p:sp>
        <p:nvSpPr>
          <p:cNvPr id="6" name="editable-text-03-05">
            <a:extLst xmlns:a="http://schemas.openxmlformats.org/drawingml/2006/main">
              <a:ext uri="{FF2B5EF4-FFF2-40B4-BE49-F238E27FC236}">
                <a16:creationId xmlns:a16="http://schemas.microsoft.com/office/drawing/2014/main" id="{A9527EED-C868-4149-896B-23A028201777}"/>
              </a:ext>
            </a:extLst>
          </p:cNvPr>
          <p:cNvSpPr>
            <a:spLocks xmlns:a="http://schemas.openxmlformats.org/drawingml/2006/main" noGrp="1"/>
          </p:cNvSpPr>
          <p:nvPr/>
        </p:nvSpPr>
        <p:spPr>
          <a:xfrm xmlns:a="http://schemas.openxmlformats.org/drawingml/2006/main">
            <a:off x="3050286" y="896588"/>
            <a:ext cx="2427351"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numbers</a:t>
            </a:r>
          </a:p>
        </p:txBody>
      </p:sp>
      <p:sp>
        <p:nvSpPr>
          <p:cNvPr id="7" name="editable-text-03-06">
            <a:extLst xmlns:a="http://schemas.openxmlformats.org/drawingml/2006/main">
              <a:ext uri="{FF2B5EF4-FFF2-40B4-BE49-F238E27FC236}">
                <a16:creationId xmlns:a16="http://schemas.microsoft.com/office/drawing/2014/main" id="{405452D4-AB45-42E8-9ABE-07FFBADE4EB2}"/>
              </a:ext>
            </a:extLst>
          </p:cNvPr>
          <p:cNvSpPr>
            <a:spLocks xmlns:a="http://schemas.openxmlformats.org/drawingml/2006/main" noGrp="1"/>
          </p:cNvSpPr>
          <p:nvPr/>
        </p:nvSpPr>
        <p:spPr>
          <a:xfrm xmlns:a="http://schemas.openxmlformats.org/drawingml/2006/main">
            <a:off x="2417159" y="1564481"/>
            <a:ext cx="2371725" cy="85648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Empowering businesses with data-driven financial insights. With over 10 million users and 75 million data points analyzed, the platform is reshaping real-time financial decision-making across markets.</a:t>
            </a:r>
          </a:p>
        </p:txBody>
      </p:sp>
      <p:sp>
        <p:nvSpPr>
          <p:cNvPr id="8" name="editable-text-03-07">
            <a:extLst xmlns:a="http://schemas.openxmlformats.org/drawingml/2006/main">
              <a:ext uri="{FF2B5EF4-FFF2-40B4-BE49-F238E27FC236}">
                <a16:creationId xmlns:a16="http://schemas.microsoft.com/office/drawing/2014/main" id="{70A4125A-95AF-4B05-BFAC-C757D3CDF401}"/>
              </a:ext>
            </a:extLst>
          </p:cNvPr>
          <p:cNvSpPr>
            <a:spLocks xmlns:a="http://schemas.openxmlformats.org/drawingml/2006/main" noGrp="1"/>
          </p:cNvSpPr>
          <p:nvPr/>
        </p:nvSpPr>
        <p:spPr>
          <a:xfrm xmlns:a="http://schemas.openxmlformats.org/drawingml/2006/main">
            <a:off x="2417159" y="6239256"/>
            <a:ext cx="128168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Snapshot · Q1 2026</a:t>
            </a:r>
          </a:p>
        </p:txBody>
      </p:sp>
      <p:sp>
        <p:nvSpPr>
          <p:cNvPr id="9" name="editable-text-03-08">
            <a:extLst xmlns:a="http://schemas.openxmlformats.org/drawingml/2006/main">
              <a:ext uri="{FF2B5EF4-FFF2-40B4-BE49-F238E27FC236}">
                <a16:creationId xmlns:a16="http://schemas.microsoft.com/office/drawing/2014/main" id="{AF38E70A-17FE-438C-B2E4-7E3AF5E4A79D}"/>
              </a:ext>
            </a:extLst>
          </p:cNvPr>
          <p:cNvSpPr>
            <a:spLocks xmlns:a="http://schemas.openxmlformats.org/drawingml/2006/main" noGrp="1"/>
          </p:cNvSpPr>
          <p:nvPr/>
        </p:nvSpPr>
        <p:spPr>
          <a:xfrm xmlns:a="http://schemas.openxmlformats.org/drawingml/2006/main">
            <a:off x="6311932" y="336518"/>
            <a:ext cx="1640967" cy="7175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5400" b="1">
                <a:solidFill>
                  <a:srgbClr val="0A0A0A">
                    <a:alpha val="0"/>
                  </a:srgbClr>
                </a:solidFill>
                <a:latin typeface="Space Grotesk"/>
                <a:ea typeface="Space Grotesk"/>
                <a:cs typeface="Space Grotesk"/>
              </a:defRPr>
            </a:pPr>
            <a:r>
              <a:rPr sz="5400" b="1">
                <a:solidFill>
                  <a:srgbClr val="0A0A0A">
                    <a:alpha val="0"/>
                  </a:srgbClr>
                </a:solidFill>
                <a:latin typeface="Space Grotesk"/>
                <a:ea typeface="Space Grotesk"/>
                <a:cs typeface="Space Grotesk"/>
              </a:rPr>
              <a:t>12.8M</a:t>
            </a:r>
          </a:p>
        </p:txBody>
      </p:sp>
      <p:sp>
        <p:nvSpPr>
          <p:cNvPr id="10" name="editable-text-03-09">
            <a:extLst xmlns:a="http://schemas.openxmlformats.org/drawingml/2006/main">
              <a:ext uri="{FF2B5EF4-FFF2-40B4-BE49-F238E27FC236}">
                <a16:creationId xmlns:a16="http://schemas.microsoft.com/office/drawing/2014/main" id="{137E1611-A335-4673-87BD-B3FB91D0B509}"/>
              </a:ext>
            </a:extLst>
          </p:cNvPr>
          <p:cNvSpPr>
            <a:spLocks xmlns:a="http://schemas.openxmlformats.org/drawingml/2006/main" noGrp="1"/>
          </p:cNvSpPr>
          <p:nvPr/>
        </p:nvSpPr>
        <p:spPr>
          <a:xfrm xmlns:a="http://schemas.openxmlformats.org/drawingml/2006/main">
            <a:off x="6311932" y="1005745"/>
            <a:ext cx="15581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Transactions processed</a:t>
            </a:r>
          </a:p>
        </p:txBody>
      </p:sp>
      <p:sp>
        <p:nvSpPr>
          <p:cNvPr id="11" name="editable-text-03-10">
            <a:extLst xmlns:a="http://schemas.openxmlformats.org/drawingml/2006/main">
              <a:ext uri="{FF2B5EF4-FFF2-40B4-BE49-F238E27FC236}">
                <a16:creationId xmlns:a16="http://schemas.microsoft.com/office/drawing/2014/main" id="{1152ADEF-72F4-4841-8E5B-1C624944C2BA}"/>
              </a:ext>
            </a:extLst>
          </p:cNvPr>
          <p:cNvSpPr>
            <a:spLocks xmlns:a="http://schemas.openxmlformats.org/drawingml/2006/main" noGrp="1"/>
          </p:cNvSpPr>
          <p:nvPr/>
        </p:nvSpPr>
        <p:spPr>
          <a:xfrm xmlns:a="http://schemas.openxmlformats.org/drawingml/2006/main">
            <a:off x="9251918" y="336518"/>
            <a:ext cx="1169194" cy="7175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5400" b="1">
                <a:solidFill>
                  <a:srgbClr val="0A0A0A">
                    <a:alpha val="0"/>
                  </a:srgbClr>
                </a:solidFill>
                <a:latin typeface="Space Grotesk"/>
                <a:ea typeface="Space Grotesk"/>
                <a:cs typeface="Space Grotesk"/>
              </a:defRPr>
            </a:pPr>
            <a:r>
              <a:rPr sz="5400" b="1">
                <a:solidFill>
                  <a:srgbClr val="0A0A0A">
                    <a:alpha val="0"/>
                  </a:srgbClr>
                </a:solidFill>
                <a:latin typeface="Space Grotesk"/>
                <a:ea typeface="Space Grotesk"/>
                <a:cs typeface="Space Grotesk"/>
              </a:rPr>
              <a:t>41M</a:t>
            </a:r>
          </a:p>
        </p:txBody>
      </p:sp>
      <p:sp>
        <p:nvSpPr>
          <p:cNvPr id="12" name="editable-text-03-11">
            <a:extLst xmlns:a="http://schemas.openxmlformats.org/drawingml/2006/main">
              <a:ext uri="{FF2B5EF4-FFF2-40B4-BE49-F238E27FC236}">
                <a16:creationId xmlns:a16="http://schemas.microsoft.com/office/drawing/2014/main" id="{8EFB493D-26DC-46D5-A842-15057224DFE1}"/>
              </a:ext>
            </a:extLst>
          </p:cNvPr>
          <p:cNvSpPr>
            <a:spLocks xmlns:a="http://schemas.openxmlformats.org/drawingml/2006/main" noGrp="1"/>
          </p:cNvSpPr>
          <p:nvPr/>
        </p:nvSpPr>
        <p:spPr>
          <a:xfrm xmlns:a="http://schemas.openxmlformats.org/drawingml/2006/main">
            <a:off x="9251918" y="1005745"/>
            <a:ext cx="18344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Total revenue impacted ($)</a:t>
            </a:r>
          </a:p>
        </p:txBody>
      </p:sp>
      <p:sp>
        <p:nvSpPr>
          <p:cNvPr id="13" name="editable-text-03-12">
            <a:extLst xmlns:a="http://schemas.openxmlformats.org/drawingml/2006/main">
              <a:ext uri="{FF2B5EF4-FFF2-40B4-BE49-F238E27FC236}">
                <a16:creationId xmlns:a16="http://schemas.microsoft.com/office/drawing/2014/main" id="{22EA021C-DDFE-4B6A-A2E5-35D5EE14867C}"/>
              </a:ext>
            </a:extLst>
          </p:cNvPr>
          <p:cNvSpPr>
            <a:spLocks xmlns:a="http://schemas.openxmlformats.org/drawingml/2006/main" noGrp="1"/>
          </p:cNvSpPr>
          <p:nvPr/>
        </p:nvSpPr>
        <p:spPr>
          <a:xfrm xmlns:a="http://schemas.openxmlformats.org/drawingml/2006/main">
            <a:off x="6311932" y="1943100"/>
            <a:ext cx="1640967" cy="7175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5400" b="1">
                <a:solidFill>
                  <a:srgbClr val="0A0A0A">
                    <a:alpha val="0"/>
                  </a:srgbClr>
                </a:solidFill>
                <a:latin typeface="Space Grotesk"/>
                <a:ea typeface="Space Grotesk"/>
                <a:cs typeface="Space Grotesk"/>
              </a:defRPr>
            </a:pPr>
            <a:r>
              <a:rPr sz="5400" b="1">
                <a:solidFill>
                  <a:srgbClr val="0A0A0A">
                    <a:alpha val="0"/>
                  </a:srgbClr>
                </a:solidFill>
                <a:latin typeface="Space Grotesk"/>
                <a:ea typeface="Space Grotesk"/>
                <a:cs typeface="Space Grotesk"/>
              </a:rPr>
              <a:t>15.4M</a:t>
            </a:r>
          </a:p>
        </p:txBody>
      </p:sp>
      <p:sp>
        <p:nvSpPr>
          <p:cNvPr id="14" name="editable-text-03-13">
            <a:extLst xmlns:a="http://schemas.openxmlformats.org/drawingml/2006/main">
              <a:ext uri="{FF2B5EF4-FFF2-40B4-BE49-F238E27FC236}">
                <a16:creationId xmlns:a16="http://schemas.microsoft.com/office/drawing/2014/main" id="{E7E5B187-193B-45E3-B44B-41DE19E7181C}"/>
              </a:ext>
            </a:extLst>
          </p:cNvPr>
          <p:cNvSpPr>
            <a:spLocks xmlns:a="http://schemas.openxmlformats.org/drawingml/2006/main" noGrp="1"/>
          </p:cNvSpPr>
          <p:nvPr/>
        </p:nvSpPr>
        <p:spPr>
          <a:xfrm xmlns:a="http://schemas.openxmlformats.org/drawingml/2006/main">
            <a:off x="6311932" y="2612327"/>
            <a:ext cx="93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Users engaged</a:t>
            </a:r>
          </a:p>
        </p:txBody>
      </p:sp>
      <p:sp>
        <p:nvSpPr>
          <p:cNvPr id="15" name="editable-text-03-14">
            <a:extLst xmlns:a="http://schemas.openxmlformats.org/drawingml/2006/main">
              <a:ext uri="{FF2B5EF4-FFF2-40B4-BE49-F238E27FC236}">
                <a16:creationId xmlns:a16="http://schemas.microsoft.com/office/drawing/2014/main" id="{B5BB1FF4-6A02-46C0-985C-E76B12FD9D0A}"/>
              </a:ext>
            </a:extLst>
          </p:cNvPr>
          <p:cNvSpPr>
            <a:spLocks xmlns:a="http://schemas.openxmlformats.org/drawingml/2006/main" noGrp="1"/>
          </p:cNvSpPr>
          <p:nvPr/>
        </p:nvSpPr>
        <p:spPr>
          <a:xfrm xmlns:a="http://schemas.openxmlformats.org/drawingml/2006/main">
            <a:off x="6362700" y="3644932"/>
            <a:ext cx="141989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Data points analyzed</a:t>
            </a:r>
          </a:p>
        </p:txBody>
      </p:sp>
      <p:sp>
        <p:nvSpPr>
          <p:cNvPr id="16" name="editable-text-03-15">
            <a:extLst xmlns:a="http://schemas.openxmlformats.org/drawingml/2006/main">
              <a:ext uri="{FF2B5EF4-FFF2-40B4-BE49-F238E27FC236}">
                <a16:creationId xmlns:a16="http://schemas.microsoft.com/office/drawing/2014/main" id="{BFED58DF-C28C-4061-8843-DED48EADE516}"/>
              </a:ext>
            </a:extLst>
          </p:cNvPr>
          <p:cNvSpPr>
            <a:spLocks xmlns:a="http://schemas.openxmlformats.org/drawingml/2006/main" noGrp="1"/>
          </p:cNvSpPr>
          <p:nvPr/>
        </p:nvSpPr>
        <p:spPr>
          <a:xfrm xmlns:a="http://schemas.openxmlformats.org/drawingml/2006/main">
            <a:off x="6362700" y="4927568"/>
            <a:ext cx="3969068" cy="17399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0" b="1">
                <a:solidFill>
                  <a:srgbClr val="0A0A0A">
                    <a:alpha val="0"/>
                  </a:srgbClr>
                </a:solidFill>
                <a:latin typeface="Space Grotesk"/>
                <a:ea typeface="Space Grotesk"/>
                <a:cs typeface="Space Grotesk"/>
              </a:defRPr>
            </a:pPr>
            <a:r>
              <a:rPr sz="13500" b="1">
                <a:solidFill>
                  <a:srgbClr val="0A0A0A">
                    <a:alpha val="0"/>
                  </a:srgbClr>
                </a:solidFill>
                <a:latin typeface="Space Grotesk"/>
                <a:ea typeface="Space Grotesk"/>
                <a:cs typeface="Space Grotesk"/>
              </a:rPr>
              <a:t>85.6M</a:t>
            </a:r>
          </a:p>
        </p:txBody>
      </p:sp>
      <p:sp>
        <p:nvSpPr>
          <p:cNvPr id="17" name="editable-text-03-16">
            <a:extLst xmlns:a="http://schemas.openxmlformats.org/drawingml/2006/main">
              <a:ext uri="{FF2B5EF4-FFF2-40B4-BE49-F238E27FC236}">
                <a16:creationId xmlns:a16="http://schemas.microsoft.com/office/drawing/2014/main" id="{4882F683-BB7E-4E42-A788-E0872F158B37}"/>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03 / 12</a:t>
            </a:r>
          </a:p>
        </p:txBody>
      </p:sp>
    </p:spTree>
    <p:extLst>
      <p:ext uri="{BB962C8B-B14F-4D97-AF65-F5344CB8AC3E}">
        <p14:creationId xmlns:p14="http://schemas.microsoft.com/office/powerpoint/2010/main" val="13367605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c03e58a6e541494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4-01">
            <a:extLst xmlns:a="http://schemas.openxmlformats.org/drawingml/2006/main">
              <a:ext uri="{FF2B5EF4-FFF2-40B4-BE49-F238E27FC236}">
                <a16:creationId xmlns:a16="http://schemas.microsoft.com/office/drawing/2014/main" id="{4B4DFD8E-D8C9-4F38-B94D-D7E6C6C8416A}"/>
              </a:ext>
            </a:extLst>
          </p:cNvPr>
          <p:cNvSpPr>
            <a:spLocks xmlns:a="http://schemas.openxmlformats.org/drawingml/2006/main" noGrp="1"/>
          </p:cNvSpPr>
          <p:nvPr/>
        </p:nvSpPr>
        <p:spPr>
          <a:xfrm xmlns:a="http://schemas.openxmlformats.org/drawingml/2006/main">
            <a:off x="457200" y="701707"/>
            <a:ext cx="4201763" cy="666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0A0A0A">
                    <a:alpha val="0"/>
                  </a:srgbClr>
                </a:solidFill>
                <a:latin typeface="Space Grotesk"/>
                <a:ea typeface="Space Grotesk"/>
                <a:cs typeface="Space Grotesk"/>
              </a:defRPr>
            </a:pPr>
            <a:r>
              <a:rPr sz="4950" b="1">
                <a:solidFill>
                  <a:srgbClr val="0A0A0A">
                    <a:alpha val="0"/>
                  </a:srgbClr>
                </a:solidFill>
                <a:latin typeface="Space Grotesk"/>
                <a:ea typeface="Space Grotesk"/>
                <a:cs typeface="Space Grotesk"/>
              </a:rPr>
              <a:t>Key features</a:t>
            </a:r>
          </a:p>
        </p:txBody>
      </p:sp>
      <p:sp>
        <p:nvSpPr>
          <p:cNvPr id="3" name="editable-text-04-02">
            <a:extLst xmlns:a="http://schemas.openxmlformats.org/drawingml/2006/main">
              <a:ext uri="{FF2B5EF4-FFF2-40B4-BE49-F238E27FC236}">
                <a16:creationId xmlns:a16="http://schemas.microsoft.com/office/drawing/2014/main" id="{544ED986-4B14-4C51-8AFD-AAC73C35DB42}"/>
              </a:ext>
            </a:extLst>
          </p:cNvPr>
          <p:cNvSpPr>
            <a:spLocks xmlns:a="http://schemas.openxmlformats.org/drawingml/2006/main" noGrp="1"/>
          </p:cNvSpPr>
          <p:nvPr/>
        </p:nvSpPr>
        <p:spPr>
          <a:xfrm xmlns:a="http://schemas.openxmlformats.org/drawingml/2006/main">
            <a:off x="10629233" y="951071"/>
            <a:ext cx="114357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Three primitives</a:t>
            </a:r>
          </a:p>
        </p:txBody>
      </p:sp>
      <p:sp>
        <p:nvSpPr>
          <p:cNvPr id="4" name="editable-text-04-03">
            <a:extLst xmlns:a="http://schemas.openxmlformats.org/drawingml/2006/main">
              <a:ext uri="{FF2B5EF4-FFF2-40B4-BE49-F238E27FC236}">
                <a16:creationId xmlns:a16="http://schemas.microsoft.com/office/drawing/2014/main" id="{838D247F-75FD-4378-9258-5787B023F2EC}"/>
              </a:ext>
            </a:extLst>
          </p:cNvPr>
          <p:cNvSpPr>
            <a:spLocks xmlns:a="http://schemas.openxmlformats.org/drawingml/2006/main" noGrp="1"/>
          </p:cNvSpPr>
          <p:nvPr/>
        </p:nvSpPr>
        <p:spPr>
          <a:xfrm xmlns:a="http://schemas.openxmlformats.org/drawingml/2006/main">
            <a:off x="546068" y="2114550"/>
            <a:ext cx="17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01</a:t>
            </a:r>
          </a:p>
        </p:txBody>
      </p:sp>
      <p:sp>
        <p:nvSpPr>
          <p:cNvPr id="5" name="editable-text-04-04">
            <a:extLst xmlns:a="http://schemas.openxmlformats.org/drawingml/2006/main">
              <a:ext uri="{FF2B5EF4-FFF2-40B4-BE49-F238E27FC236}">
                <a16:creationId xmlns:a16="http://schemas.microsoft.com/office/drawing/2014/main" id="{4D372055-937F-420D-A230-058744573C2D}"/>
              </a:ext>
            </a:extLst>
          </p:cNvPr>
          <p:cNvSpPr>
            <a:spLocks xmlns:a="http://schemas.openxmlformats.org/drawingml/2006/main" noGrp="1"/>
          </p:cNvSpPr>
          <p:nvPr/>
        </p:nvSpPr>
        <p:spPr>
          <a:xfrm xmlns:a="http://schemas.openxmlformats.org/drawingml/2006/main">
            <a:off x="431768" y="4332827"/>
            <a:ext cx="2632329" cy="2476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688" b="1">
                <a:solidFill>
                  <a:srgbClr val="0A0A0A">
                    <a:alpha val="0"/>
                  </a:srgbClr>
                </a:solidFill>
                <a:latin typeface="Space Grotesk"/>
                <a:ea typeface="Space Grotesk"/>
                <a:cs typeface="Space Grotesk"/>
              </a:defRPr>
            </a:pPr>
            <a:r>
              <a:rPr sz="1688" b="1">
                <a:solidFill>
                  <a:srgbClr val="0A0A0A">
                    <a:alpha val="0"/>
                  </a:srgbClr>
                </a:solidFill>
                <a:latin typeface="Space Grotesk"/>
                <a:ea typeface="Space Grotesk"/>
                <a:cs typeface="Space Grotesk"/>
              </a:rPr>
              <a:t>Seamless transactions</a:t>
            </a:r>
          </a:p>
        </p:txBody>
      </p:sp>
      <p:sp>
        <p:nvSpPr>
          <p:cNvPr id="6" name="editable-text-04-05">
            <a:extLst xmlns:a="http://schemas.openxmlformats.org/drawingml/2006/main">
              <a:ext uri="{FF2B5EF4-FFF2-40B4-BE49-F238E27FC236}">
                <a16:creationId xmlns:a16="http://schemas.microsoft.com/office/drawing/2014/main" id="{6CBFEE49-E5FA-4ECB-9D67-F7010C3435D2}"/>
              </a:ext>
            </a:extLst>
          </p:cNvPr>
          <p:cNvSpPr>
            <a:spLocks xmlns:a="http://schemas.openxmlformats.org/drawingml/2006/main" noGrp="1"/>
          </p:cNvSpPr>
          <p:nvPr/>
        </p:nvSpPr>
        <p:spPr>
          <a:xfrm xmlns:a="http://schemas.openxmlformats.org/drawingml/2006/main">
            <a:off x="431768" y="4675727"/>
            <a:ext cx="3476054"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Effortless and secure digital payments with real-time processing, ensuring a smooth experience for every user across every channel.</a:t>
            </a:r>
          </a:p>
        </p:txBody>
      </p:sp>
      <p:sp>
        <p:nvSpPr>
          <p:cNvPr id="7" name="editable-text-04-06">
            <a:extLst xmlns:a="http://schemas.openxmlformats.org/drawingml/2006/main">
              <a:ext uri="{FF2B5EF4-FFF2-40B4-BE49-F238E27FC236}">
                <a16:creationId xmlns:a16="http://schemas.microsoft.com/office/drawing/2014/main" id="{67536A06-3737-4EFA-B765-AAFBE3942008}"/>
              </a:ext>
            </a:extLst>
          </p:cNvPr>
          <p:cNvSpPr>
            <a:spLocks xmlns:a="http://schemas.openxmlformats.org/drawingml/2006/main" noGrp="1"/>
          </p:cNvSpPr>
          <p:nvPr/>
        </p:nvSpPr>
        <p:spPr>
          <a:xfrm xmlns:a="http://schemas.openxmlformats.org/drawingml/2006/main">
            <a:off x="4466177" y="2114550"/>
            <a:ext cx="17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02</a:t>
            </a:r>
          </a:p>
        </p:txBody>
      </p:sp>
      <p:sp>
        <p:nvSpPr>
          <p:cNvPr id="8" name="editable-text-04-07">
            <a:extLst xmlns:a="http://schemas.openxmlformats.org/drawingml/2006/main">
              <a:ext uri="{FF2B5EF4-FFF2-40B4-BE49-F238E27FC236}">
                <a16:creationId xmlns:a16="http://schemas.microsoft.com/office/drawing/2014/main" id="{AD37C170-6D49-415C-A99E-4655CEE22855}"/>
              </a:ext>
            </a:extLst>
          </p:cNvPr>
          <p:cNvSpPr>
            <a:spLocks xmlns:a="http://schemas.openxmlformats.org/drawingml/2006/main" noGrp="1"/>
          </p:cNvSpPr>
          <p:nvPr/>
        </p:nvSpPr>
        <p:spPr>
          <a:xfrm xmlns:a="http://schemas.openxmlformats.org/drawingml/2006/main">
            <a:off x="4351877" y="4332827"/>
            <a:ext cx="1472089" cy="2476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688" b="1">
                <a:solidFill>
                  <a:srgbClr val="0A0A0A">
                    <a:alpha val="0"/>
                  </a:srgbClr>
                </a:solidFill>
                <a:latin typeface="Space Grotesk"/>
                <a:ea typeface="Space Grotesk"/>
                <a:cs typeface="Space Grotesk"/>
              </a:defRPr>
            </a:pPr>
            <a:r>
              <a:rPr sz="1688" b="1">
                <a:solidFill>
                  <a:srgbClr val="0A0A0A">
                    <a:alpha val="0"/>
                  </a:srgbClr>
                </a:solidFill>
                <a:latin typeface="Space Grotesk"/>
                <a:ea typeface="Space Grotesk"/>
                <a:cs typeface="Space Grotesk"/>
              </a:rPr>
              <a:t>Data insights</a:t>
            </a:r>
          </a:p>
        </p:txBody>
      </p:sp>
      <p:sp>
        <p:nvSpPr>
          <p:cNvPr id="9" name="editable-text-04-08">
            <a:extLst xmlns:a="http://schemas.openxmlformats.org/drawingml/2006/main">
              <a:ext uri="{FF2B5EF4-FFF2-40B4-BE49-F238E27FC236}">
                <a16:creationId xmlns:a16="http://schemas.microsoft.com/office/drawing/2014/main" id="{B6282F3B-04AC-406C-A0EA-C97E0010A051}"/>
              </a:ext>
            </a:extLst>
          </p:cNvPr>
          <p:cNvSpPr>
            <a:spLocks xmlns:a="http://schemas.openxmlformats.org/drawingml/2006/main" noGrp="1"/>
          </p:cNvSpPr>
          <p:nvPr/>
        </p:nvSpPr>
        <p:spPr>
          <a:xfrm xmlns:a="http://schemas.openxmlformats.org/drawingml/2006/main">
            <a:off x="4351877" y="4675727"/>
            <a:ext cx="3136678"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Leverage advanced analytics to uncover patterns, surface anomalies, and unlock new opportunities for the business.</a:t>
            </a:r>
          </a:p>
        </p:txBody>
      </p:sp>
      <p:sp>
        <p:nvSpPr>
          <p:cNvPr id="10" name="editable-text-04-09">
            <a:extLst xmlns:a="http://schemas.openxmlformats.org/drawingml/2006/main">
              <a:ext uri="{FF2B5EF4-FFF2-40B4-BE49-F238E27FC236}">
                <a16:creationId xmlns:a16="http://schemas.microsoft.com/office/drawing/2014/main" id="{3408ED05-AE36-4102-A0B0-439BA36E44B3}"/>
              </a:ext>
            </a:extLst>
          </p:cNvPr>
          <p:cNvSpPr>
            <a:spLocks xmlns:a="http://schemas.openxmlformats.org/drawingml/2006/main" noGrp="1"/>
          </p:cNvSpPr>
          <p:nvPr/>
        </p:nvSpPr>
        <p:spPr>
          <a:xfrm xmlns:a="http://schemas.openxmlformats.org/drawingml/2006/main">
            <a:off x="8386191" y="2114550"/>
            <a:ext cx="17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03</a:t>
            </a:r>
          </a:p>
        </p:txBody>
      </p:sp>
      <p:sp>
        <p:nvSpPr>
          <p:cNvPr id="11" name="editable-text-04-10">
            <a:extLst xmlns:a="http://schemas.openxmlformats.org/drawingml/2006/main">
              <a:ext uri="{FF2B5EF4-FFF2-40B4-BE49-F238E27FC236}">
                <a16:creationId xmlns:a16="http://schemas.microsoft.com/office/drawing/2014/main" id="{CFCDA6E5-A664-4DFF-8CE7-5499FEB6F3B9}"/>
              </a:ext>
            </a:extLst>
          </p:cNvPr>
          <p:cNvSpPr>
            <a:spLocks xmlns:a="http://schemas.openxmlformats.org/drawingml/2006/main" noGrp="1"/>
          </p:cNvSpPr>
          <p:nvPr/>
        </p:nvSpPr>
        <p:spPr>
          <a:xfrm xmlns:a="http://schemas.openxmlformats.org/drawingml/2006/main">
            <a:off x="8271891" y="4332827"/>
            <a:ext cx="1675829" cy="2476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688" b="1">
                <a:solidFill>
                  <a:srgbClr val="0A0A0A">
                    <a:alpha val="0"/>
                  </a:srgbClr>
                </a:solidFill>
                <a:latin typeface="Space Grotesk"/>
                <a:ea typeface="Space Grotesk"/>
                <a:cs typeface="Space Grotesk"/>
              </a:defRPr>
            </a:pPr>
            <a:r>
              <a:rPr sz="1688" b="1">
                <a:solidFill>
                  <a:srgbClr val="0A0A0A">
                    <a:alpha val="0"/>
                  </a:srgbClr>
                </a:solidFill>
                <a:latin typeface="Space Grotesk"/>
                <a:ea typeface="Space Grotesk"/>
                <a:cs typeface="Space Grotesk"/>
              </a:rPr>
              <a:t>Risk modelling</a:t>
            </a:r>
          </a:p>
        </p:txBody>
      </p:sp>
      <p:sp>
        <p:nvSpPr>
          <p:cNvPr id="12" name="editable-text-04-11">
            <a:extLst xmlns:a="http://schemas.openxmlformats.org/drawingml/2006/main">
              <a:ext uri="{FF2B5EF4-FFF2-40B4-BE49-F238E27FC236}">
                <a16:creationId xmlns:a16="http://schemas.microsoft.com/office/drawing/2014/main" id="{18085E04-B2F3-4A1F-AC3D-850C4CA62D33}"/>
              </a:ext>
            </a:extLst>
          </p:cNvPr>
          <p:cNvSpPr>
            <a:spLocks xmlns:a="http://schemas.openxmlformats.org/drawingml/2006/main" noGrp="1"/>
          </p:cNvSpPr>
          <p:nvPr/>
        </p:nvSpPr>
        <p:spPr>
          <a:xfrm xmlns:a="http://schemas.openxmlformats.org/drawingml/2006/main">
            <a:off x="8271891" y="4675727"/>
            <a:ext cx="3270504"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Predictive models tuned on billions of events score risk in milliseconds, so teams can act before exposure compounds.</a:t>
            </a:r>
          </a:p>
        </p:txBody>
      </p:sp>
      <p:sp>
        <p:nvSpPr>
          <p:cNvPr id="13" name="editable-text-04-12">
            <a:extLst xmlns:a="http://schemas.openxmlformats.org/drawingml/2006/main">
              <a:ext uri="{FF2B5EF4-FFF2-40B4-BE49-F238E27FC236}">
                <a16:creationId xmlns:a16="http://schemas.microsoft.com/office/drawing/2014/main" id="{D7BCF711-4FBF-495A-ACE1-920FA193438E}"/>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04 / 12</a:t>
            </a:r>
          </a:p>
        </p:txBody>
      </p:sp>
    </p:spTree>
    <p:extLst>
      <p:ext uri="{BB962C8B-B14F-4D97-AF65-F5344CB8AC3E}">
        <p14:creationId xmlns:p14="http://schemas.microsoft.com/office/powerpoint/2010/main" val="7768135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dfb718bf2364fe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5-01">
            <a:extLst xmlns:a="http://schemas.openxmlformats.org/drawingml/2006/main">
              <a:ext uri="{FF2B5EF4-FFF2-40B4-BE49-F238E27FC236}">
                <a16:creationId xmlns:a16="http://schemas.microsoft.com/office/drawing/2014/main" id="{49CF7463-227C-4363-A7A2-2AF28AD4F4C2}"/>
              </a:ext>
            </a:extLst>
          </p:cNvPr>
          <p:cNvSpPr>
            <a:spLocks xmlns:a="http://schemas.openxmlformats.org/drawingml/2006/main" noGrp="1"/>
          </p:cNvSpPr>
          <p:nvPr/>
        </p:nvSpPr>
        <p:spPr>
          <a:xfrm xmlns:a="http://schemas.openxmlformats.org/drawingml/2006/main">
            <a:off x="457200" y="482632"/>
            <a:ext cx="135083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Section 03 / Market</a:t>
            </a:r>
          </a:p>
        </p:txBody>
      </p:sp>
      <p:sp>
        <p:nvSpPr>
          <p:cNvPr id="3" name="editable-text-05-02">
            <a:extLst xmlns:a="http://schemas.openxmlformats.org/drawingml/2006/main">
              <a:ext uri="{FF2B5EF4-FFF2-40B4-BE49-F238E27FC236}">
                <a16:creationId xmlns:a16="http://schemas.microsoft.com/office/drawing/2014/main" id="{199E40DB-752A-4FFD-9A46-C4AA401C3C62}"/>
              </a:ext>
            </a:extLst>
          </p:cNvPr>
          <p:cNvSpPr>
            <a:spLocks xmlns:a="http://schemas.openxmlformats.org/drawingml/2006/main" noGrp="1"/>
          </p:cNvSpPr>
          <p:nvPr/>
        </p:nvSpPr>
        <p:spPr>
          <a:xfrm xmlns:a="http://schemas.openxmlformats.org/drawingml/2006/main">
            <a:off x="457200" y="720376"/>
            <a:ext cx="2271713" cy="6350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725" b="1">
                <a:solidFill>
                  <a:srgbClr val="F5F4EF">
                    <a:alpha val="0"/>
                  </a:srgbClr>
                </a:solidFill>
                <a:latin typeface="Space Grotesk"/>
                <a:ea typeface="Space Grotesk"/>
                <a:cs typeface="Space Grotesk"/>
              </a:defRPr>
            </a:pPr>
            <a:r>
              <a:rPr sz="4725" b="1">
                <a:solidFill>
                  <a:srgbClr val="F5F4EF">
                    <a:alpha val="0"/>
                  </a:srgbClr>
                </a:solidFill>
                <a:latin typeface="Space Grotesk"/>
                <a:ea typeface="Space Grotesk"/>
                <a:cs typeface="Space Grotesk"/>
              </a:rPr>
              <a:t>Market</a:t>
            </a:r>
          </a:p>
        </p:txBody>
      </p:sp>
      <p:sp>
        <p:nvSpPr>
          <p:cNvPr id="4" name="editable-text-05-03">
            <a:extLst xmlns:a="http://schemas.openxmlformats.org/drawingml/2006/main">
              <a:ext uri="{FF2B5EF4-FFF2-40B4-BE49-F238E27FC236}">
                <a16:creationId xmlns:a16="http://schemas.microsoft.com/office/drawing/2014/main" id="{9759B79F-C2F3-4540-9437-996A1602BE16}"/>
              </a:ext>
            </a:extLst>
          </p:cNvPr>
          <p:cNvSpPr>
            <a:spLocks xmlns:a="http://schemas.openxmlformats.org/drawingml/2006/main" noGrp="1"/>
          </p:cNvSpPr>
          <p:nvPr/>
        </p:nvSpPr>
        <p:spPr>
          <a:xfrm xmlns:a="http://schemas.openxmlformats.org/drawingml/2006/main">
            <a:off x="457200" y="1227011"/>
            <a:ext cx="3733419" cy="6350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725" b="1">
                <a:solidFill>
                  <a:srgbClr val="F5F4EF">
                    <a:alpha val="0"/>
                  </a:srgbClr>
                </a:solidFill>
                <a:latin typeface="Space Grotesk"/>
                <a:ea typeface="Space Grotesk"/>
                <a:cs typeface="Space Grotesk"/>
              </a:defRPr>
            </a:pPr>
            <a:r>
              <a:rPr sz="4725" b="1">
                <a:solidFill>
                  <a:srgbClr val="F5F4EF">
                    <a:alpha val="0"/>
                  </a:srgbClr>
                </a:solidFill>
                <a:latin typeface="Space Grotesk"/>
                <a:ea typeface="Space Grotesk"/>
                <a:cs typeface="Space Grotesk"/>
              </a:rPr>
              <a:t>penetration</a:t>
            </a:r>
          </a:p>
        </p:txBody>
      </p:sp>
      <p:sp>
        <p:nvSpPr>
          <p:cNvPr id="5" name="editable-text-05-04">
            <a:extLst xmlns:a="http://schemas.openxmlformats.org/drawingml/2006/main">
              <a:ext uri="{FF2B5EF4-FFF2-40B4-BE49-F238E27FC236}">
                <a16:creationId xmlns:a16="http://schemas.microsoft.com/office/drawing/2014/main" id="{09272503-73A0-4602-AA0C-DF4D3EF9867E}"/>
              </a:ext>
            </a:extLst>
          </p:cNvPr>
          <p:cNvSpPr>
            <a:spLocks xmlns:a="http://schemas.openxmlformats.org/drawingml/2006/main" noGrp="1"/>
          </p:cNvSpPr>
          <p:nvPr/>
        </p:nvSpPr>
        <p:spPr>
          <a:xfrm xmlns:a="http://schemas.openxmlformats.org/drawingml/2006/main">
            <a:off x="457200" y="1733741"/>
            <a:ext cx="2759678" cy="6350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725" b="1">
                <a:solidFill>
                  <a:srgbClr val="F5F4EF">
                    <a:alpha val="0"/>
                  </a:srgbClr>
                </a:solidFill>
                <a:latin typeface="Space Grotesk"/>
                <a:ea typeface="Space Grotesk"/>
                <a:cs typeface="Space Grotesk"/>
              </a:defRPr>
            </a:pPr>
            <a:r>
              <a:rPr sz="4725" b="1">
                <a:solidFill>
                  <a:srgbClr val="F5F4EF">
                    <a:alpha val="0"/>
                  </a:srgbClr>
                </a:solidFill>
                <a:latin typeface="Space Grotesk"/>
                <a:ea typeface="Space Grotesk"/>
                <a:cs typeface="Space Grotesk"/>
              </a:rPr>
              <a:t>doubled.</a:t>
            </a:r>
          </a:p>
        </p:txBody>
      </p:sp>
      <p:sp>
        <p:nvSpPr>
          <p:cNvPr id="6" name="editable-text-05-05">
            <a:extLst xmlns:a="http://schemas.openxmlformats.org/drawingml/2006/main">
              <a:ext uri="{FF2B5EF4-FFF2-40B4-BE49-F238E27FC236}">
                <a16:creationId xmlns:a16="http://schemas.microsoft.com/office/drawing/2014/main" id="{F7A42E3B-9EA9-4B78-A24B-6CDD6B1B3129}"/>
              </a:ext>
            </a:extLst>
          </p:cNvPr>
          <p:cNvSpPr>
            <a:spLocks xmlns:a="http://schemas.openxmlformats.org/drawingml/2006/main" noGrp="1"/>
          </p:cNvSpPr>
          <p:nvPr/>
        </p:nvSpPr>
        <p:spPr>
          <a:xfrm xmlns:a="http://schemas.openxmlformats.org/drawingml/2006/main">
            <a:off x="457200" y="3935540"/>
            <a:ext cx="1922431" cy="68522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F5F4EF">
                    <a:alpha val="0"/>
                  </a:srgbClr>
                </a:solidFill>
                <a:latin typeface="Space Grotesk"/>
                <a:ea typeface="Space Grotesk"/>
                <a:cs typeface="Space Grotesk"/>
              </a:defRPr>
            </a:pPr>
            <a:r>
              <a:rPr sz="1073" b="0">
                <a:solidFill>
                  <a:srgbClr val="F5F4EF">
                    <a:alpha val="0"/>
                  </a:srgbClr>
                </a:solidFill>
                <a:latin typeface="Space Grotesk"/>
                <a:ea typeface="Space Grotesk"/>
                <a:cs typeface="Space Grotesk"/>
              </a:rPr>
              <a:t>Year-on-year reach across our six largest regions. The platform now touches roughly one in three small-business accounts in core markets.</a:t>
            </a:r>
          </a:p>
        </p:txBody>
      </p:sp>
      <p:sp>
        <p:nvSpPr>
          <p:cNvPr id="7" name="editable-text-05-06">
            <a:extLst xmlns:a="http://schemas.openxmlformats.org/drawingml/2006/main">
              <a:ext uri="{FF2B5EF4-FFF2-40B4-BE49-F238E27FC236}">
                <a16:creationId xmlns:a16="http://schemas.microsoft.com/office/drawing/2014/main" id="{CBEABE09-6DEE-44C9-B96D-111945DFC9F7}"/>
              </a:ext>
            </a:extLst>
          </p:cNvPr>
          <p:cNvSpPr>
            <a:spLocks xmlns:a="http://schemas.openxmlformats.org/drawingml/2006/main" noGrp="1"/>
          </p:cNvSpPr>
          <p:nvPr/>
        </p:nvSpPr>
        <p:spPr>
          <a:xfrm xmlns:a="http://schemas.openxmlformats.org/drawingml/2006/main">
            <a:off x="457200" y="6239256"/>
            <a:ext cx="2456307"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FY24 vs FY25 · Indexed (FY23 = 100)</a:t>
            </a:r>
          </a:p>
        </p:txBody>
      </p:sp>
      <p:sp>
        <p:nvSpPr>
          <p:cNvPr id="8" name="editable-text-05-07">
            <a:extLst xmlns:a="http://schemas.openxmlformats.org/drawingml/2006/main">
              <a:ext uri="{FF2B5EF4-FFF2-40B4-BE49-F238E27FC236}">
                <a16:creationId xmlns:a16="http://schemas.microsoft.com/office/drawing/2014/main" id="{39B2B005-F378-4380-ACD0-6E0C7FD9D949}"/>
              </a:ext>
            </a:extLst>
          </p:cNvPr>
          <p:cNvSpPr>
            <a:spLocks xmlns:a="http://schemas.openxmlformats.org/drawingml/2006/main" noGrp="1"/>
          </p:cNvSpPr>
          <p:nvPr/>
        </p:nvSpPr>
        <p:spPr>
          <a:xfrm xmlns:a="http://schemas.openxmlformats.org/drawingml/2006/main">
            <a:off x="5522309" y="482632"/>
            <a:ext cx="31451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FY24</a:t>
            </a:r>
          </a:p>
        </p:txBody>
      </p:sp>
      <p:sp>
        <p:nvSpPr>
          <p:cNvPr id="9" name="editable-text-05-08">
            <a:extLst xmlns:a="http://schemas.openxmlformats.org/drawingml/2006/main">
              <a:ext uri="{FF2B5EF4-FFF2-40B4-BE49-F238E27FC236}">
                <a16:creationId xmlns:a16="http://schemas.microsoft.com/office/drawing/2014/main" id="{197C364D-5F25-40DA-9C38-DE420CC32169}"/>
              </a:ext>
            </a:extLst>
          </p:cNvPr>
          <p:cNvSpPr>
            <a:spLocks xmlns:a="http://schemas.openxmlformats.org/drawingml/2006/main" noGrp="1"/>
          </p:cNvSpPr>
          <p:nvPr/>
        </p:nvSpPr>
        <p:spPr>
          <a:xfrm xmlns:a="http://schemas.openxmlformats.org/drawingml/2006/main">
            <a:off x="6154388" y="482632"/>
            <a:ext cx="31451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FY25</a:t>
            </a:r>
          </a:p>
        </p:txBody>
      </p:sp>
      <p:sp>
        <p:nvSpPr>
          <p:cNvPr id="10" name="editable-text-05-09">
            <a:extLst xmlns:a="http://schemas.openxmlformats.org/drawingml/2006/main">
              <a:ext uri="{FF2B5EF4-FFF2-40B4-BE49-F238E27FC236}">
                <a16:creationId xmlns:a16="http://schemas.microsoft.com/office/drawing/2014/main" id="{8FE13FEE-9A82-4396-A49E-99EA04BA225E}"/>
              </a:ext>
            </a:extLst>
          </p:cNvPr>
          <p:cNvSpPr>
            <a:spLocks xmlns:a="http://schemas.openxmlformats.org/drawingml/2006/main" noGrp="1"/>
          </p:cNvSpPr>
          <p:nvPr/>
        </p:nvSpPr>
        <p:spPr>
          <a:xfrm xmlns:a="http://schemas.openxmlformats.org/drawingml/2006/main">
            <a:off x="5771864" y="6239256"/>
            <a:ext cx="17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NA</a:t>
            </a:r>
          </a:p>
        </p:txBody>
      </p:sp>
      <p:sp>
        <p:nvSpPr>
          <p:cNvPr id="11" name="editable-text-05-10">
            <a:extLst xmlns:a="http://schemas.openxmlformats.org/drawingml/2006/main">
              <a:ext uri="{FF2B5EF4-FFF2-40B4-BE49-F238E27FC236}">
                <a16:creationId xmlns:a16="http://schemas.microsoft.com/office/drawing/2014/main" id="{886BDD34-23DB-44EC-B7E3-27490AA1A8A5}"/>
              </a:ext>
            </a:extLst>
          </p:cNvPr>
          <p:cNvSpPr>
            <a:spLocks xmlns:a="http://schemas.openxmlformats.org/drawingml/2006/main" noGrp="1"/>
          </p:cNvSpPr>
          <p:nvPr/>
        </p:nvSpPr>
        <p:spPr>
          <a:xfrm xmlns:a="http://schemas.openxmlformats.org/drawingml/2006/main">
            <a:off x="6853809" y="6239256"/>
            <a:ext cx="17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EU</a:t>
            </a:r>
          </a:p>
        </p:txBody>
      </p:sp>
      <p:sp>
        <p:nvSpPr>
          <p:cNvPr id="12" name="editable-text-05-11">
            <a:extLst xmlns:a="http://schemas.openxmlformats.org/drawingml/2006/main">
              <a:ext uri="{FF2B5EF4-FFF2-40B4-BE49-F238E27FC236}">
                <a16:creationId xmlns:a16="http://schemas.microsoft.com/office/drawing/2014/main" id="{F9B2E4E9-45E0-4116-8607-77D78A03DE20}"/>
              </a:ext>
            </a:extLst>
          </p:cNvPr>
          <p:cNvSpPr>
            <a:spLocks xmlns:a="http://schemas.openxmlformats.org/drawingml/2006/main" noGrp="1"/>
          </p:cNvSpPr>
          <p:nvPr/>
        </p:nvSpPr>
        <p:spPr>
          <a:xfrm xmlns:a="http://schemas.openxmlformats.org/drawingml/2006/main">
            <a:off x="7832122" y="6239256"/>
            <a:ext cx="38357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LATAM</a:t>
            </a:r>
          </a:p>
        </p:txBody>
      </p:sp>
      <p:sp>
        <p:nvSpPr>
          <p:cNvPr id="13" name="editable-text-05-12">
            <a:extLst xmlns:a="http://schemas.openxmlformats.org/drawingml/2006/main">
              <a:ext uri="{FF2B5EF4-FFF2-40B4-BE49-F238E27FC236}">
                <a16:creationId xmlns:a16="http://schemas.microsoft.com/office/drawing/2014/main" id="{A3217CDF-D890-419B-8054-B151706445F5}"/>
              </a:ext>
            </a:extLst>
          </p:cNvPr>
          <p:cNvSpPr>
            <a:spLocks xmlns:a="http://schemas.openxmlformats.org/drawingml/2006/main" noGrp="1"/>
          </p:cNvSpPr>
          <p:nvPr/>
        </p:nvSpPr>
        <p:spPr>
          <a:xfrm xmlns:a="http://schemas.openxmlformats.org/drawingml/2006/main">
            <a:off x="8948642" y="6239256"/>
            <a:ext cx="31451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APAC</a:t>
            </a:r>
          </a:p>
        </p:txBody>
      </p:sp>
      <p:sp>
        <p:nvSpPr>
          <p:cNvPr id="14" name="editable-text-05-13">
            <a:extLst xmlns:a="http://schemas.openxmlformats.org/drawingml/2006/main">
              <a:ext uri="{FF2B5EF4-FFF2-40B4-BE49-F238E27FC236}">
                <a16:creationId xmlns:a16="http://schemas.microsoft.com/office/drawing/2014/main" id="{1A976502-ED50-4AB8-9999-46D3C5BC5E0F}"/>
              </a:ext>
            </a:extLst>
          </p:cNvPr>
          <p:cNvSpPr>
            <a:spLocks xmlns:a="http://schemas.openxmlformats.org/drawingml/2006/main" noGrp="1"/>
          </p:cNvSpPr>
          <p:nvPr/>
        </p:nvSpPr>
        <p:spPr>
          <a:xfrm xmlns:a="http://schemas.openxmlformats.org/drawingml/2006/main">
            <a:off x="10030587" y="6239256"/>
            <a:ext cx="31451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MENA</a:t>
            </a:r>
          </a:p>
        </p:txBody>
      </p:sp>
      <p:sp>
        <p:nvSpPr>
          <p:cNvPr id="15" name="editable-text-05-14">
            <a:extLst xmlns:a="http://schemas.openxmlformats.org/drawingml/2006/main">
              <a:ext uri="{FF2B5EF4-FFF2-40B4-BE49-F238E27FC236}">
                <a16:creationId xmlns:a16="http://schemas.microsoft.com/office/drawing/2014/main" id="{2C24FCC2-B156-446B-8310-7FBCC339702B}"/>
              </a:ext>
            </a:extLst>
          </p:cNvPr>
          <p:cNvSpPr>
            <a:spLocks xmlns:a="http://schemas.openxmlformats.org/drawingml/2006/main" noGrp="1"/>
          </p:cNvSpPr>
          <p:nvPr/>
        </p:nvSpPr>
        <p:spPr>
          <a:xfrm xmlns:a="http://schemas.openxmlformats.org/drawingml/2006/main">
            <a:off x="11147108" y="6239256"/>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SSA</a:t>
            </a:r>
          </a:p>
        </p:txBody>
      </p:sp>
      <p:sp>
        <p:nvSpPr>
          <p:cNvPr id="16" name="editable-text-05-15">
            <a:extLst xmlns:a="http://schemas.openxmlformats.org/drawingml/2006/main">
              <a:ext uri="{FF2B5EF4-FFF2-40B4-BE49-F238E27FC236}">
                <a16:creationId xmlns:a16="http://schemas.microsoft.com/office/drawing/2014/main" id="{D0F2F4D2-FA0C-47F5-BD30-E03EED2EEE6C}"/>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05 / 12</a:t>
            </a:r>
          </a:p>
        </p:txBody>
      </p:sp>
    </p:spTree>
    <p:extLst>
      <p:ext uri="{BB962C8B-B14F-4D97-AF65-F5344CB8AC3E}">
        <p14:creationId xmlns:p14="http://schemas.microsoft.com/office/powerpoint/2010/main" val="178377576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86a1ba9aeabb4c7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6-01">
            <a:extLst xmlns:a="http://schemas.openxmlformats.org/drawingml/2006/main">
              <a:ext uri="{FF2B5EF4-FFF2-40B4-BE49-F238E27FC236}">
                <a16:creationId xmlns:a16="http://schemas.microsoft.com/office/drawing/2014/main" id="{2D2FF6B5-0D8C-46E7-83C0-73F3F8B22846}"/>
              </a:ext>
            </a:extLst>
          </p:cNvPr>
          <p:cNvSpPr>
            <a:spLocks xmlns:a="http://schemas.openxmlformats.org/drawingml/2006/main" noGrp="1"/>
          </p:cNvSpPr>
          <p:nvPr/>
        </p:nvSpPr>
        <p:spPr>
          <a:xfrm xmlns:a="http://schemas.openxmlformats.org/drawingml/2006/main">
            <a:off x="457200" y="482632"/>
            <a:ext cx="1354931" cy="1841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A0A0A">
                    <a:alpha val="0"/>
                  </a:srgbClr>
                </a:solidFill>
                <a:latin typeface="JetBrains Mono"/>
                <a:ea typeface="JetBrains Mono"/>
                <a:cs typeface="JetBrains Mono"/>
              </a:defRPr>
            </a:pPr>
            <a:r>
              <a:rPr sz="1013" b="0">
                <a:solidFill>
                  <a:srgbClr val="0A0A0A">
                    <a:alpha val="0"/>
                  </a:srgbClr>
                </a:solidFill>
                <a:latin typeface="JetBrains Mono"/>
                <a:ea typeface="JetBrains Mono"/>
                <a:cs typeface="JetBrains Mono"/>
              </a:rPr>
              <a:t>Section · Vision</a:t>
            </a:r>
          </a:p>
        </p:txBody>
      </p:sp>
      <p:sp>
        <p:nvSpPr>
          <p:cNvPr id="3" name="editable-text-06-02">
            <a:extLst xmlns:a="http://schemas.openxmlformats.org/drawingml/2006/main">
              <a:ext uri="{FF2B5EF4-FFF2-40B4-BE49-F238E27FC236}">
                <a16:creationId xmlns:a16="http://schemas.microsoft.com/office/drawing/2014/main" id="{DCD2F45A-7198-412F-AF30-F8A1515C1588}"/>
              </a:ext>
            </a:extLst>
          </p:cNvPr>
          <p:cNvSpPr>
            <a:spLocks xmlns:a="http://schemas.openxmlformats.org/drawingml/2006/main" noGrp="1"/>
          </p:cNvSpPr>
          <p:nvPr/>
        </p:nvSpPr>
        <p:spPr>
          <a:xfrm xmlns:a="http://schemas.openxmlformats.org/drawingml/2006/main">
            <a:off x="457200" y="4375118"/>
            <a:ext cx="2095119" cy="23114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0" b="1">
                <a:solidFill>
                  <a:srgbClr val="0A0A0A">
                    <a:alpha val="0"/>
                  </a:srgbClr>
                </a:solidFill>
                <a:latin typeface="Space Grotesk"/>
                <a:ea typeface="Space Grotesk"/>
                <a:cs typeface="Space Grotesk"/>
              </a:defRPr>
            </a:pPr>
            <a:r>
              <a:rPr sz="18000" b="1">
                <a:solidFill>
                  <a:srgbClr val="0A0A0A">
                    <a:alpha val="0"/>
                  </a:srgbClr>
                </a:solidFill>
                <a:latin typeface="Space Grotesk"/>
                <a:ea typeface="Space Grotesk"/>
                <a:cs typeface="Space Grotesk"/>
              </a:rPr>
              <a:t>02</a:t>
            </a:r>
          </a:p>
        </p:txBody>
      </p:sp>
      <p:sp>
        <p:nvSpPr>
          <p:cNvPr id="4" name="editable-text-06-03">
            <a:extLst xmlns:a="http://schemas.openxmlformats.org/drawingml/2006/main">
              <a:ext uri="{FF2B5EF4-FFF2-40B4-BE49-F238E27FC236}">
                <a16:creationId xmlns:a16="http://schemas.microsoft.com/office/drawing/2014/main" id="{651BF4AB-087D-497F-8913-2090843FD0BA}"/>
              </a:ext>
            </a:extLst>
          </p:cNvPr>
          <p:cNvSpPr>
            <a:spLocks xmlns:a="http://schemas.openxmlformats.org/drawingml/2006/main" noGrp="1"/>
          </p:cNvSpPr>
          <p:nvPr/>
        </p:nvSpPr>
        <p:spPr>
          <a:xfrm xmlns:a="http://schemas.openxmlformats.org/drawingml/2006/main">
            <a:off x="4377214" y="482632"/>
            <a:ext cx="10744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What comes next</a:t>
            </a:r>
          </a:p>
        </p:txBody>
      </p:sp>
      <p:sp>
        <p:nvSpPr>
          <p:cNvPr id="5" name="editable-text-06-04">
            <a:extLst xmlns:a="http://schemas.openxmlformats.org/drawingml/2006/main">
              <a:ext uri="{FF2B5EF4-FFF2-40B4-BE49-F238E27FC236}">
                <a16:creationId xmlns:a16="http://schemas.microsoft.com/office/drawing/2014/main" id="{64745088-DCF1-4B4B-9EBC-DB4FACAA0107}"/>
              </a:ext>
            </a:extLst>
          </p:cNvPr>
          <p:cNvSpPr>
            <a:spLocks xmlns:a="http://schemas.openxmlformats.org/drawingml/2006/main" noGrp="1"/>
          </p:cNvSpPr>
          <p:nvPr/>
        </p:nvSpPr>
        <p:spPr>
          <a:xfrm xmlns:a="http://schemas.openxmlformats.org/drawingml/2006/main">
            <a:off x="4377214" y="2013490"/>
            <a:ext cx="4357402" cy="971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7425" b="1">
                <a:solidFill>
                  <a:srgbClr val="F5F4EF">
                    <a:alpha val="0"/>
                  </a:srgbClr>
                </a:solidFill>
                <a:latin typeface="Space Grotesk"/>
                <a:ea typeface="Space Grotesk"/>
                <a:cs typeface="Space Grotesk"/>
              </a:defRPr>
            </a:pPr>
            <a:r>
              <a:rPr sz="7425" b="1">
                <a:solidFill>
                  <a:srgbClr val="F5F4EF">
                    <a:alpha val="0"/>
                  </a:srgbClr>
                </a:solidFill>
                <a:latin typeface="Space Grotesk"/>
                <a:ea typeface="Space Grotesk"/>
                <a:cs typeface="Space Grotesk"/>
              </a:rPr>
              <a:t>Build the</a:t>
            </a:r>
          </a:p>
        </p:txBody>
      </p:sp>
      <p:sp>
        <p:nvSpPr>
          <p:cNvPr id="6" name="editable-text-06-05">
            <a:extLst xmlns:a="http://schemas.openxmlformats.org/drawingml/2006/main">
              <a:ext uri="{FF2B5EF4-FFF2-40B4-BE49-F238E27FC236}">
                <a16:creationId xmlns:a16="http://schemas.microsoft.com/office/drawing/2014/main" id="{D32D747C-5244-4ADD-AB93-FC7FFBD6AD7C}"/>
              </a:ext>
            </a:extLst>
          </p:cNvPr>
          <p:cNvSpPr>
            <a:spLocks xmlns:a="http://schemas.openxmlformats.org/drawingml/2006/main" noGrp="1"/>
          </p:cNvSpPr>
          <p:nvPr/>
        </p:nvSpPr>
        <p:spPr>
          <a:xfrm xmlns:a="http://schemas.openxmlformats.org/drawingml/2006/main">
            <a:off x="4377214" y="2767775"/>
            <a:ext cx="4497800" cy="971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7425" b="1">
                <a:solidFill>
                  <a:srgbClr val="F5F4EF">
                    <a:alpha val="0"/>
                  </a:srgbClr>
                </a:solidFill>
                <a:latin typeface="Space Grotesk"/>
                <a:ea typeface="Space Grotesk"/>
                <a:cs typeface="Space Grotesk"/>
              </a:defRPr>
            </a:pPr>
            <a:r>
              <a:rPr sz="7425" b="1">
                <a:solidFill>
                  <a:srgbClr val="F5F4EF">
                    <a:alpha val="0"/>
                  </a:srgbClr>
                </a:solidFill>
                <a:latin typeface="Space Grotesk"/>
                <a:ea typeface="Space Grotesk"/>
                <a:cs typeface="Space Grotesk"/>
              </a:rPr>
              <a:t>engine of</a:t>
            </a:r>
          </a:p>
        </p:txBody>
      </p:sp>
      <p:sp>
        <p:nvSpPr>
          <p:cNvPr id="7" name="editable-text-06-06">
            <a:extLst xmlns:a="http://schemas.openxmlformats.org/drawingml/2006/main">
              <a:ext uri="{FF2B5EF4-FFF2-40B4-BE49-F238E27FC236}">
                <a16:creationId xmlns:a16="http://schemas.microsoft.com/office/drawing/2014/main" id="{44FAAAB0-1439-4BEC-8252-1F6CE977F840}"/>
              </a:ext>
            </a:extLst>
          </p:cNvPr>
          <p:cNvSpPr>
            <a:spLocks xmlns:a="http://schemas.openxmlformats.org/drawingml/2006/main" noGrp="1"/>
          </p:cNvSpPr>
          <p:nvPr/>
        </p:nvSpPr>
        <p:spPr>
          <a:xfrm xmlns:a="http://schemas.openxmlformats.org/drawingml/2006/main">
            <a:off x="4428077" y="3522154"/>
            <a:ext cx="6991921" cy="971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7425" b="1">
                <a:solidFill>
                  <a:srgbClr val="0A0A0A">
                    <a:alpha val="0"/>
                  </a:srgbClr>
                </a:solidFill>
                <a:latin typeface="Space Grotesk"/>
                <a:ea typeface="Space Grotesk"/>
                <a:cs typeface="Space Grotesk"/>
              </a:defRPr>
            </a:pPr>
            <a:r>
              <a:rPr sz="7425" b="1">
                <a:solidFill>
                  <a:srgbClr val="0A0A0A">
                    <a:alpha val="0"/>
                  </a:srgbClr>
                </a:solidFill>
                <a:latin typeface="Space Grotesk"/>
                <a:ea typeface="Space Grotesk"/>
                <a:cs typeface="Space Grotesk"/>
              </a:rPr>
              <a:t>modern money.</a:t>
            </a:r>
          </a:p>
        </p:txBody>
      </p:sp>
      <p:sp>
        <p:nvSpPr>
          <p:cNvPr id="8" name="editable-text-06-07">
            <a:extLst xmlns:a="http://schemas.openxmlformats.org/drawingml/2006/main">
              <a:ext uri="{FF2B5EF4-FFF2-40B4-BE49-F238E27FC236}">
                <a16:creationId xmlns:a16="http://schemas.microsoft.com/office/drawing/2014/main" id="{66720455-297D-4699-BC45-877D1EF4FADC}"/>
              </a:ext>
            </a:extLst>
          </p:cNvPr>
          <p:cNvSpPr>
            <a:spLocks xmlns:a="http://schemas.openxmlformats.org/drawingml/2006/main" noGrp="1"/>
          </p:cNvSpPr>
          <p:nvPr/>
        </p:nvSpPr>
        <p:spPr>
          <a:xfrm xmlns:a="http://schemas.openxmlformats.org/drawingml/2006/main">
            <a:off x="4377214" y="5874353"/>
            <a:ext cx="3174873"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F5F4EF">
                    <a:alpha val="0"/>
                  </a:srgbClr>
                </a:solidFill>
                <a:latin typeface="Space Grotesk"/>
                <a:ea typeface="Space Grotesk"/>
                <a:cs typeface="Space Grotesk"/>
              </a:defRPr>
            </a:pPr>
            <a:r>
              <a:rPr sz="1073" b="0">
                <a:solidFill>
                  <a:srgbClr val="F5F4EF">
                    <a:alpha val="0"/>
                  </a:srgbClr>
                </a:solidFill>
                <a:latin typeface="Space Grotesk"/>
                <a:ea typeface="Space Grotesk"/>
                <a:cs typeface="Space Grotesk"/>
              </a:rPr>
              <a:t>We are betting that the next decade of finance is owned by platforms that can model the world in real time, then act on it without a human in the loop.</a:t>
            </a:r>
          </a:p>
        </p:txBody>
      </p:sp>
      <p:sp>
        <p:nvSpPr>
          <p:cNvPr id="9" name="editable-text-06-08">
            <a:extLst xmlns:a="http://schemas.openxmlformats.org/drawingml/2006/main">
              <a:ext uri="{FF2B5EF4-FFF2-40B4-BE49-F238E27FC236}">
                <a16:creationId xmlns:a16="http://schemas.microsoft.com/office/drawing/2014/main" id="{68596996-FEBA-42B8-BB74-4A94F210879E}"/>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06 / 12</a:t>
            </a:r>
          </a:p>
        </p:txBody>
      </p:sp>
    </p:spTree>
    <p:extLst>
      <p:ext uri="{BB962C8B-B14F-4D97-AF65-F5344CB8AC3E}">
        <p14:creationId xmlns:p14="http://schemas.microsoft.com/office/powerpoint/2010/main" val="185558254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7a9b4b858069445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7-01">
            <a:extLst xmlns:a="http://schemas.openxmlformats.org/drawingml/2006/main">
              <a:ext uri="{FF2B5EF4-FFF2-40B4-BE49-F238E27FC236}">
                <a16:creationId xmlns:a16="http://schemas.microsoft.com/office/drawing/2014/main" id="{C8CA36E9-C2FF-4F87-AE1F-9DAE59F2DA11}"/>
              </a:ext>
            </a:extLst>
          </p:cNvPr>
          <p:cNvSpPr>
            <a:spLocks xmlns:a="http://schemas.openxmlformats.org/drawingml/2006/main" noGrp="1"/>
          </p:cNvSpPr>
          <p:nvPr/>
        </p:nvSpPr>
        <p:spPr>
          <a:xfrm xmlns:a="http://schemas.openxmlformats.org/drawingml/2006/main">
            <a:off x="355568" y="6366320"/>
            <a:ext cx="106222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FFFF">
                    <a:alpha val="0"/>
                  </a:srgbClr>
                </a:solidFill>
                <a:latin typeface="JetBrains Mono"/>
                <a:ea typeface="JetBrains Mono"/>
                <a:cs typeface="JetBrains Mono"/>
              </a:defRPr>
            </a:pPr>
            <a:r>
              <a:rPr sz="900" b="0">
                <a:solidFill>
                  <a:srgbClr val="FFFFFF">
                    <a:alpha val="0"/>
                  </a:srgbClr>
                </a:solidFill>
                <a:latin typeface="JetBrains Mono"/>
                <a:ea typeface="JetBrains Mono"/>
                <a:cs typeface="JetBrains Mono"/>
              </a:rPr>
              <a:t>PORTRAIT / B&amp;W</a:t>
            </a:r>
          </a:p>
        </p:txBody>
      </p:sp>
      <p:sp>
        <p:nvSpPr>
          <p:cNvPr id="3" name="editable-text-07-02">
            <a:extLst xmlns:a="http://schemas.openxmlformats.org/drawingml/2006/main">
              <a:ext uri="{FF2B5EF4-FFF2-40B4-BE49-F238E27FC236}">
                <a16:creationId xmlns:a16="http://schemas.microsoft.com/office/drawing/2014/main" id="{343E8420-8822-4CC5-B75E-43226174C381}"/>
              </a:ext>
            </a:extLst>
          </p:cNvPr>
          <p:cNvSpPr>
            <a:spLocks xmlns:a="http://schemas.openxmlformats.org/drawingml/2006/main" noGrp="1"/>
          </p:cNvSpPr>
          <p:nvPr/>
        </p:nvSpPr>
        <p:spPr>
          <a:xfrm xmlns:a="http://schemas.openxmlformats.org/drawingml/2006/main">
            <a:off x="5484209" y="1326547"/>
            <a:ext cx="327089" cy="7175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5400" b="1">
                <a:solidFill>
                  <a:srgbClr val="E6FF3D">
                    <a:alpha val="0"/>
                  </a:srgbClr>
                </a:solidFill>
                <a:latin typeface="Space Grotesk"/>
                <a:ea typeface="Space Grotesk"/>
                <a:cs typeface="Space Grotesk"/>
              </a:defRPr>
            </a:pPr>
            <a:r>
              <a:rPr sz="5400" b="1">
                <a:solidFill>
                  <a:srgbClr val="E6FF3D">
                    <a:alpha val="0"/>
                  </a:srgbClr>
                </a:solidFill>
                <a:latin typeface="Space Grotesk"/>
                <a:ea typeface="Space Grotesk"/>
                <a:cs typeface="Space Grotesk"/>
              </a:rPr>
              <a:t>"</a:t>
            </a:r>
          </a:p>
        </p:txBody>
      </p:sp>
      <p:sp>
        <p:nvSpPr>
          <p:cNvPr id="4" name="editable-text-07-03">
            <a:extLst xmlns:a="http://schemas.openxmlformats.org/drawingml/2006/main">
              <a:ext uri="{FF2B5EF4-FFF2-40B4-BE49-F238E27FC236}">
                <a16:creationId xmlns:a16="http://schemas.microsoft.com/office/drawing/2014/main" id="{9CBC5C1D-17E9-474A-910D-4F428F746563}"/>
              </a:ext>
            </a:extLst>
          </p:cNvPr>
          <p:cNvSpPr>
            <a:spLocks xmlns:a="http://schemas.openxmlformats.org/drawingml/2006/main" noGrp="1"/>
          </p:cNvSpPr>
          <p:nvPr/>
        </p:nvSpPr>
        <p:spPr>
          <a:xfrm xmlns:a="http://schemas.openxmlformats.org/drawingml/2006/main">
            <a:off x="5484209" y="2112645"/>
            <a:ext cx="6124385" cy="922306"/>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138" b="0">
                <a:solidFill>
                  <a:srgbClr val="0A0A0A">
                    <a:alpha val="0"/>
                  </a:srgbClr>
                </a:solidFill>
                <a:latin typeface="Space Grotesk"/>
                <a:ea typeface="Space Grotesk"/>
                <a:cs typeface="Space Grotesk"/>
              </a:defRPr>
            </a:pPr>
            <a:r>
              <a:rPr sz="2138" b="0">
                <a:solidFill>
                  <a:srgbClr val="0A0A0A">
                    <a:alpha val="0"/>
                  </a:srgbClr>
                </a:solidFill>
                <a:latin typeface="Space Grotesk"/>
                <a:ea typeface="Space Grotesk"/>
                <a:cs typeface="Space Grotesk"/>
              </a:rPr>
              <a:t>The platform replaced four legacy systems and a quarterly committee. We now decide in minutes what used to take a month.</a:t>
            </a:r>
          </a:p>
        </p:txBody>
      </p:sp>
      <p:sp>
        <p:nvSpPr>
          <p:cNvPr id="5" name="editable-text-07-04">
            <a:extLst xmlns:a="http://schemas.openxmlformats.org/drawingml/2006/main">
              <a:ext uri="{FF2B5EF4-FFF2-40B4-BE49-F238E27FC236}">
                <a16:creationId xmlns:a16="http://schemas.microsoft.com/office/drawing/2014/main" id="{4E1C5D65-78EE-4E7C-8421-5DC226A5812F}"/>
              </a:ext>
            </a:extLst>
          </p:cNvPr>
          <p:cNvSpPr>
            <a:spLocks xmlns:a="http://schemas.openxmlformats.org/drawingml/2006/main" noGrp="1"/>
          </p:cNvSpPr>
          <p:nvPr/>
        </p:nvSpPr>
        <p:spPr>
          <a:xfrm xmlns:a="http://schemas.openxmlformats.org/drawingml/2006/main">
            <a:off x="5408009" y="4498943"/>
            <a:ext cx="176526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CFO · Mid-market retailer</a:t>
            </a:r>
          </a:p>
        </p:txBody>
      </p:sp>
      <p:sp>
        <p:nvSpPr>
          <p:cNvPr id="6" name="editable-text-07-05">
            <a:extLst xmlns:a="http://schemas.openxmlformats.org/drawingml/2006/main">
              <a:ext uri="{FF2B5EF4-FFF2-40B4-BE49-F238E27FC236}">
                <a16:creationId xmlns:a16="http://schemas.microsoft.com/office/drawing/2014/main" id="{B321809F-8078-4967-AEDC-B0CE6C37D08B}"/>
              </a:ext>
            </a:extLst>
          </p:cNvPr>
          <p:cNvSpPr>
            <a:spLocks xmlns:a="http://schemas.openxmlformats.org/drawingml/2006/main" noGrp="1"/>
          </p:cNvSpPr>
          <p:nvPr/>
        </p:nvSpPr>
        <p:spPr>
          <a:xfrm xmlns:a="http://schemas.openxmlformats.org/drawingml/2006/main">
            <a:off x="5408009" y="6159532"/>
            <a:ext cx="1605915" cy="2476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688" b="1">
                <a:solidFill>
                  <a:srgbClr val="0A0A0A">
                    <a:alpha val="0"/>
                  </a:srgbClr>
                </a:solidFill>
                <a:latin typeface="Space Grotesk"/>
                <a:ea typeface="Space Grotesk"/>
                <a:cs typeface="Space Grotesk"/>
              </a:defRPr>
            </a:pPr>
            <a:r>
              <a:rPr sz="1688" b="1">
                <a:solidFill>
                  <a:srgbClr val="0A0A0A">
                    <a:alpha val="0"/>
                  </a:srgbClr>
                </a:solidFill>
                <a:latin typeface="Space Grotesk"/>
                <a:ea typeface="Space Grotesk"/>
                <a:cs typeface="Space Grotesk"/>
              </a:rPr>
              <a:t>Marta Aguilar</a:t>
            </a:r>
          </a:p>
        </p:txBody>
      </p:sp>
      <p:sp>
        <p:nvSpPr>
          <p:cNvPr id="7" name="editable-text-07-06">
            <a:extLst xmlns:a="http://schemas.openxmlformats.org/drawingml/2006/main">
              <a:ext uri="{FF2B5EF4-FFF2-40B4-BE49-F238E27FC236}">
                <a16:creationId xmlns:a16="http://schemas.microsoft.com/office/drawing/2014/main" id="{40F2740B-A28A-4770-A6BA-62C8DA1E8E07}"/>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07 / 12</a:t>
            </a:r>
          </a:p>
        </p:txBody>
      </p:sp>
    </p:spTree>
    <p:extLst>
      <p:ext uri="{BB962C8B-B14F-4D97-AF65-F5344CB8AC3E}">
        <p14:creationId xmlns:p14="http://schemas.microsoft.com/office/powerpoint/2010/main" val="85908567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b5527531629946f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8-01">
            <a:extLst xmlns:a="http://schemas.openxmlformats.org/drawingml/2006/main">
              <a:ext uri="{FF2B5EF4-FFF2-40B4-BE49-F238E27FC236}">
                <a16:creationId xmlns:a16="http://schemas.microsoft.com/office/drawing/2014/main" id="{3B208AA1-E68F-4203-888F-9D7314707E9A}"/>
              </a:ext>
            </a:extLst>
          </p:cNvPr>
          <p:cNvSpPr>
            <a:spLocks xmlns:a="http://schemas.openxmlformats.org/drawingml/2006/main" noGrp="1"/>
          </p:cNvSpPr>
          <p:nvPr/>
        </p:nvSpPr>
        <p:spPr>
          <a:xfrm xmlns:a="http://schemas.openxmlformats.org/drawingml/2006/main">
            <a:off x="457200" y="482632"/>
            <a:ext cx="15581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Take three things away</a:t>
            </a:r>
          </a:p>
        </p:txBody>
      </p:sp>
      <p:sp>
        <p:nvSpPr>
          <p:cNvPr id="3" name="editable-text-08-02">
            <a:extLst xmlns:a="http://schemas.openxmlformats.org/drawingml/2006/main">
              <a:ext uri="{FF2B5EF4-FFF2-40B4-BE49-F238E27FC236}">
                <a16:creationId xmlns:a16="http://schemas.microsoft.com/office/drawing/2014/main" id="{B1D85DB9-6114-4082-AFFF-4663FF4C08C4}"/>
              </a:ext>
            </a:extLst>
          </p:cNvPr>
          <p:cNvSpPr>
            <a:spLocks xmlns:a="http://schemas.openxmlformats.org/drawingml/2006/main" noGrp="1"/>
          </p:cNvSpPr>
          <p:nvPr/>
        </p:nvSpPr>
        <p:spPr>
          <a:xfrm xmlns:a="http://schemas.openxmlformats.org/drawingml/2006/main">
            <a:off x="457200" y="852869"/>
            <a:ext cx="2075117" cy="9144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6975" b="1">
                <a:solidFill>
                  <a:srgbClr val="0A0A0A">
                    <a:alpha val="0"/>
                  </a:srgbClr>
                </a:solidFill>
                <a:latin typeface="Space Grotesk"/>
                <a:ea typeface="Space Grotesk"/>
                <a:cs typeface="Space Grotesk"/>
              </a:defRPr>
            </a:pPr>
            <a:r>
              <a:rPr sz="6975" b="1">
                <a:solidFill>
                  <a:srgbClr val="0A0A0A">
                    <a:alpha val="0"/>
                  </a:srgbClr>
                </a:solidFill>
                <a:latin typeface="Space Grotesk"/>
                <a:ea typeface="Space Grotesk"/>
                <a:cs typeface="Space Grotesk"/>
              </a:rPr>
              <a:t>Next</a:t>
            </a:r>
          </a:p>
        </p:txBody>
      </p:sp>
      <p:sp>
        <p:nvSpPr>
          <p:cNvPr id="4" name="editable-text-08-03">
            <a:extLst xmlns:a="http://schemas.openxmlformats.org/drawingml/2006/main">
              <a:ext uri="{FF2B5EF4-FFF2-40B4-BE49-F238E27FC236}">
                <a16:creationId xmlns:a16="http://schemas.microsoft.com/office/drawing/2014/main" id="{5862B68B-EC88-454A-A349-E926957875B1}"/>
              </a:ext>
            </a:extLst>
          </p:cNvPr>
          <p:cNvSpPr>
            <a:spLocks xmlns:a="http://schemas.openxmlformats.org/drawingml/2006/main" noGrp="1"/>
          </p:cNvSpPr>
          <p:nvPr/>
        </p:nvSpPr>
        <p:spPr>
          <a:xfrm xmlns:a="http://schemas.openxmlformats.org/drawingml/2006/main">
            <a:off x="457200" y="1561529"/>
            <a:ext cx="2541175" cy="9144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6975" b="1">
                <a:solidFill>
                  <a:srgbClr val="0A0A0A">
                    <a:alpha val="0"/>
                  </a:srgbClr>
                </a:solidFill>
                <a:latin typeface="Space Grotesk"/>
                <a:ea typeface="Space Grotesk"/>
                <a:cs typeface="Space Grotesk"/>
              </a:defRPr>
            </a:pPr>
            <a:r>
              <a:rPr sz="6975" b="1">
                <a:solidFill>
                  <a:srgbClr val="0A0A0A">
                    <a:alpha val="0"/>
                  </a:srgbClr>
                </a:solidFill>
                <a:latin typeface="Space Grotesk"/>
                <a:ea typeface="Space Grotesk"/>
                <a:cs typeface="Space Grotesk"/>
              </a:rPr>
              <a:t>steps</a:t>
            </a:r>
          </a:p>
        </p:txBody>
      </p:sp>
      <p:sp>
        <p:nvSpPr>
          <p:cNvPr id="5" name="editable-text-08-04">
            <a:extLst xmlns:a="http://schemas.openxmlformats.org/drawingml/2006/main">
              <a:ext uri="{FF2B5EF4-FFF2-40B4-BE49-F238E27FC236}">
                <a16:creationId xmlns:a16="http://schemas.microsoft.com/office/drawing/2014/main" id="{002A2F1E-B89A-4136-82B5-FB3DA8EEBE61}"/>
              </a:ext>
            </a:extLst>
          </p:cNvPr>
          <p:cNvSpPr>
            <a:spLocks xmlns:a="http://schemas.openxmlformats.org/drawingml/2006/main" noGrp="1"/>
          </p:cNvSpPr>
          <p:nvPr/>
        </p:nvSpPr>
        <p:spPr>
          <a:xfrm xmlns:a="http://schemas.openxmlformats.org/drawingml/2006/main">
            <a:off x="457200" y="2841593"/>
            <a:ext cx="7290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01 · Today</a:t>
            </a:r>
          </a:p>
        </p:txBody>
      </p:sp>
      <p:sp>
        <p:nvSpPr>
          <p:cNvPr id="6" name="editable-text-08-05">
            <a:extLst xmlns:a="http://schemas.openxmlformats.org/drawingml/2006/main">
              <a:ext uri="{FF2B5EF4-FFF2-40B4-BE49-F238E27FC236}">
                <a16:creationId xmlns:a16="http://schemas.microsoft.com/office/drawing/2014/main" id="{E3E6568E-4C36-45F3-9463-9956E77DED79}"/>
              </a:ext>
            </a:extLst>
          </p:cNvPr>
          <p:cNvSpPr>
            <a:spLocks xmlns:a="http://schemas.openxmlformats.org/drawingml/2006/main" noGrp="1"/>
          </p:cNvSpPr>
          <p:nvPr/>
        </p:nvSpPr>
        <p:spPr>
          <a:xfrm xmlns:a="http://schemas.openxmlformats.org/drawingml/2006/main">
            <a:off x="457200" y="3853625"/>
            <a:ext cx="3278219" cy="3492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0A0A0A">
                    <a:alpha val="0"/>
                  </a:srgbClr>
                </a:solidFill>
                <a:latin typeface="Space Grotesk"/>
                <a:ea typeface="Space Grotesk"/>
                <a:cs typeface="Space Grotesk"/>
              </a:defRPr>
            </a:pPr>
            <a:r>
              <a:rPr sz="2475" b="1">
                <a:solidFill>
                  <a:srgbClr val="0A0A0A">
                    <a:alpha val="0"/>
                  </a:srgbClr>
                </a:solidFill>
                <a:latin typeface="Space Grotesk"/>
                <a:ea typeface="Space Grotesk"/>
                <a:cs typeface="Space Grotesk"/>
              </a:rPr>
              <a:t>Pilot one workflow</a:t>
            </a:r>
          </a:p>
        </p:txBody>
      </p:sp>
      <p:sp>
        <p:nvSpPr>
          <p:cNvPr id="7" name="editable-text-08-06">
            <a:extLst xmlns:a="http://schemas.openxmlformats.org/drawingml/2006/main">
              <a:ext uri="{FF2B5EF4-FFF2-40B4-BE49-F238E27FC236}">
                <a16:creationId xmlns:a16="http://schemas.microsoft.com/office/drawing/2014/main" id="{DF05A1C7-14A3-40D5-A522-29405E321A39}"/>
              </a:ext>
            </a:extLst>
          </p:cNvPr>
          <p:cNvSpPr>
            <a:spLocks xmlns:a="http://schemas.openxmlformats.org/drawingml/2006/main" noGrp="1"/>
          </p:cNvSpPr>
          <p:nvPr/>
        </p:nvSpPr>
        <p:spPr>
          <a:xfrm xmlns:a="http://schemas.openxmlformats.org/drawingml/2006/main">
            <a:off x="457200" y="5062538"/>
            <a:ext cx="3395377"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Pick a single decision your team makes weekly. Wire it through the platform and benchmark against the current process.</a:t>
            </a:r>
          </a:p>
        </p:txBody>
      </p:sp>
      <p:sp>
        <p:nvSpPr>
          <p:cNvPr id="8" name="editable-text-08-07">
            <a:extLst xmlns:a="http://schemas.openxmlformats.org/drawingml/2006/main">
              <a:ext uri="{FF2B5EF4-FFF2-40B4-BE49-F238E27FC236}">
                <a16:creationId xmlns:a16="http://schemas.microsoft.com/office/drawing/2014/main" id="{23E77B54-C549-4870-9E4E-CF44F694E534}"/>
              </a:ext>
            </a:extLst>
          </p:cNvPr>
          <p:cNvSpPr>
            <a:spLocks xmlns:a="http://schemas.openxmlformats.org/drawingml/2006/main" noGrp="1"/>
          </p:cNvSpPr>
          <p:nvPr/>
        </p:nvSpPr>
        <p:spPr>
          <a:xfrm xmlns:a="http://schemas.openxmlformats.org/drawingml/2006/main">
            <a:off x="457200" y="6290120"/>
            <a:ext cx="6548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 2 weeks</a:t>
            </a:r>
          </a:p>
        </p:txBody>
      </p:sp>
      <p:sp>
        <p:nvSpPr>
          <p:cNvPr id="9" name="editable-text-08-08">
            <a:extLst xmlns:a="http://schemas.openxmlformats.org/drawingml/2006/main">
              <a:ext uri="{FF2B5EF4-FFF2-40B4-BE49-F238E27FC236}">
                <a16:creationId xmlns:a16="http://schemas.microsoft.com/office/drawing/2014/main" id="{F0CDF25E-5F98-40F3-A131-B2EF39385F78}"/>
              </a:ext>
            </a:extLst>
          </p:cNvPr>
          <p:cNvSpPr>
            <a:spLocks xmlns:a="http://schemas.openxmlformats.org/drawingml/2006/main" noGrp="1"/>
          </p:cNvSpPr>
          <p:nvPr/>
        </p:nvSpPr>
        <p:spPr>
          <a:xfrm xmlns:a="http://schemas.openxmlformats.org/drawingml/2006/main">
            <a:off x="4377214" y="2841593"/>
            <a:ext cx="10744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02 · Next month</a:t>
            </a:r>
          </a:p>
        </p:txBody>
      </p:sp>
      <p:sp>
        <p:nvSpPr>
          <p:cNvPr id="10" name="editable-text-08-09">
            <a:extLst xmlns:a="http://schemas.openxmlformats.org/drawingml/2006/main">
              <a:ext uri="{FF2B5EF4-FFF2-40B4-BE49-F238E27FC236}">
                <a16:creationId xmlns:a16="http://schemas.microsoft.com/office/drawing/2014/main" id="{4903DB66-B719-4020-98A2-BC494D78C0E6}"/>
              </a:ext>
            </a:extLst>
          </p:cNvPr>
          <p:cNvSpPr>
            <a:spLocks xmlns:a="http://schemas.openxmlformats.org/drawingml/2006/main" noGrp="1"/>
          </p:cNvSpPr>
          <p:nvPr/>
        </p:nvSpPr>
        <p:spPr>
          <a:xfrm xmlns:a="http://schemas.openxmlformats.org/drawingml/2006/main">
            <a:off x="4377214" y="3853625"/>
            <a:ext cx="2712720" cy="3492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0A0A0A">
                    <a:alpha val="0"/>
                  </a:srgbClr>
                </a:solidFill>
                <a:latin typeface="Space Grotesk"/>
                <a:ea typeface="Space Grotesk"/>
                <a:cs typeface="Space Grotesk"/>
              </a:defRPr>
            </a:pPr>
            <a:r>
              <a:rPr sz="2475" b="1">
                <a:solidFill>
                  <a:srgbClr val="0A0A0A">
                    <a:alpha val="0"/>
                  </a:srgbClr>
                </a:solidFill>
                <a:latin typeface="Space Grotesk"/>
                <a:ea typeface="Space Grotesk"/>
                <a:cs typeface="Space Grotesk"/>
              </a:rPr>
              <a:t>Scale the wedge</a:t>
            </a:r>
          </a:p>
        </p:txBody>
      </p:sp>
      <p:sp>
        <p:nvSpPr>
          <p:cNvPr id="11" name="editable-text-08-10">
            <a:extLst xmlns:a="http://schemas.openxmlformats.org/drawingml/2006/main">
              <a:ext uri="{FF2B5EF4-FFF2-40B4-BE49-F238E27FC236}">
                <a16:creationId xmlns:a16="http://schemas.microsoft.com/office/drawing/2014/main" id="{65F67F31-CD02-4DE0-909E-6420FEBDD9F7}"/>
              </a:ext>
            </a:extLst>
          </p:cNvPr>
          <p:cNvSpPr>
            <a:spLocks xmlns:a="http://schemas.openxmlformats.org/drawingml/2006/main" noGrp="1"/>
          </p:cNvSpPr>
          <p:nvPr/>
        </p:nvSpPr>
        <p:spPr>
          <a:xfrm xmlns:a="http://schemas.openxmlformats.org/drawingml/2006/main">
            <a:off x="4377214" y="5062538"/>
            <a:ext cx="3310890"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Expand the pilot to two adjacent workflows. Use the playbook the integrations team will share by Friday.</a:t>
            </a:r>
          </a:p>
        </p:txBody>
      </p:sp>
      <p:sp>
        <p:nvSpPr>
          <p:cNvPr id="12" name="editable-text-08-11">
            <a:extLst xmlns:a="http://schemas.openxmlformats.org/drawingml/2006/main">
              <a:ext uri="{FF2B5EF4-FFF2-40B4-BE49-F238E27FC236}">
                <a16:creationId xmlns:a16="http://schemas.microsoft.com/office/drawing/2014/main" id="{A57728A1-D1DF-46D8-91AC-BA1632A20398}"/>
              </a:ext>
            </a:extLst>
          </p:cNvPr>
          <p:cNvSpPr>
            <a:spLocks xmlns:a="http://schemas.openxmlformats.org/drawingml/2006/main" noGrp="1"/>
          </p:cNvSpPr>
          <p:nvPr/>
        </p:nvSpPr>
        <p:spPr>
          <a:xfrm xmlns:a="http://schemas.openxmlformats.org/drawingml/2006/main">
            <a:off x="4377214" y="6290120"/>
            <a:ext cx="6548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 6 weeks</a:t>
            </a:r>
          </a:p>
        </p:txBody>
      </p:sp>
      <p:sp>
        <p:nvSpPr>
          <p:cNvPr id="13" name="editable-text-08-12">
            <a:extLst xmlns:a="http://schemas.openxmlformats.org/drawingml/2006/main">
              <a:ext uri="{FF2B5EF4-FFF2-40B4-BE49-F238E27FC236}">
                <a16:creationId xmlns:a16="http://schemas.microsoft.com/office/drawing/2014/main" id="{A23ABFFD-E8D6-43A3-B158-230958A67B05}"/>
              </a:ext>
            </a:extLst>
          </p:cNvPr>
          <p:cNvSpPr>
            <a:spLocks xmlns:a="http://schemas.openxmlformats.org/drawingml/2006/main" noGrp="1"/>
          </p:cNvSpPr>
          <p:nvPr/>
        </p:nvSpPr>
        <p:spPr>
          <a:xfrm xmlns:a="http://schemas.openxmlformats.org/drawingml/2006/main">
            <a:off x="8297228" y="2841593"/>
            <a:ext cx="121262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03 · This quarter</a:t>
            </a:r>
          </a:p>
        </p:txBody>
      </p:sp>
      <p:sp>
        <p:nvSpPr>
          <p:cNvPr id="14" name="editable-text-08-13">
            <a:extLst xmlns:a="http://schemas.openxmlformats.org/drawingml/2006/main">
              <a:ext uri="{FF2B5EF4-FFF2-40B4-BE49-F238E27FC236}">
                <a16:creationId xmlns:a16="http://schemas.microsoft.com/office/drawing/2014/main" id="{524055B0-0176-4E07-BB94-DF58C146DDCC}"/>
              </a:ext>
            </a:extLst>
          </p:cNvPr>
          <p:cNvSpPr>
            <a:spLocks xmlns:a="http://schemas.openxmlformats.org/drawingml/2006/main" noGrp="1"/>
          </p:cNvSpPr>
          <p:nvPr/>
        </p:nvSpPr>
        <p:spPr>
          <a:xfrm xmlns:a="http://schemas.openxmlformats.org/drawingml/2006/main">
            <a:off x="8297228" y="3763613"/>
            <a:ext cx="3115151" cy="3492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F5F4EF">
                    <a:alpha val="0"/>
                  </a:srgbClr>
                </a:solidFill>
                <a:latin typeface="Space Grotesk"/>
                <a:ea typeface="Space Grotesk"/>
                <a:cs typeface="Space Grotesk"/>
              </a:defRPr>
            </a:pPr>
            <a:r>
              <a:rPr sz="2475" b="1">
                <a:solidFill>
                  <a:srgbClr val="F5F4EF">
                    <a:alpha val="0"/>
                  </a:srgbClr>
                </a:solidFill>
                <a:latin typeface="Space Grotesk"/>
                <a:ea typeface="Space Grotesk"/>
                <a:cs typeface="Space Grotesk"/>
              </a:rPr>
              <a:t>Make it the default</a:t>
            </a:r>
          </a:p>
        </p:txBody>
      </p:sp>
      <p:sp>
        <p:nvSpPr>
          <p:cNvPr id="15" name="editable-text-08-14">
            <a:extLst xmlns:a="http://schemas.openxmlformats.org/drawingml/2006/main">
              <a:ext uri="{FF2B5EF4-FFF2-40B4-BE49-F238E27FC236}">
                <a16:creationId xmlns:a16="http://schemas.microsoft.com/office/drawing/2014/main" id="{F179B6A3-7D05-4865-A3B9-6D86DC29ACE8}"/>
              </a:ext>
            </a:extLst>
          </p:cNvPr>
          <p:cNvSpPr>
            <a:spLocks xmlns:a="http://schemas.openxmlformats.org/drawingml/2006/main" noGrp="1"/>
          </p:cNvSpPr>
          <p:nvPr/>
        </p:nvSpPr>
        <p:spPr>
          <a:xfrm xmlns:a="http://schemas.openxmlformats.org/drawingml/2006/main">
            <a:off x="8297228" y="4882325"/>
            <a:ext cx="3143155"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F5F4EF">
                    <a:alpha val="0"/>
                  </a:srgbClr>
                </a:solidFill>
                <a:latin typeface="Space Grotesk"/>
                <a:ea typeface="Space Grotesk"/>
                <a:cs typeface="Space Grotesk"/>
              </a:defRPr>
            </a:pPr>
            <a:r>
              <a:rPr sz="1073" b="0">
                <a:solidFill>
                  <a:srgbClr val="F5F4EF">
                    <a:alpha val="0"/>
                  </a:srgbClr>
                </a:solidFill>
                <a:latin typeface="Space Grotesk"/>
                <a:ea typeface="Space Grotesk"/>
                <a:cs typeface="Space Grotesk"/>
              </a:rPr>
              <a:t>Retire the legacy stack for that domain. Move the freed-up budget into the next bet.</a:t>
            </a:r>
          </a:p>
        </p:txBody>
      </p:sp>
      <p:sp>
        <p:nvSpPr>
          <p:cNvPr id="16" name="editable-text-08-15">
            <a:extLst xmlns:a="http://schemas.openxmlformats.org/drawingml/2006/main">
              <a:ext uri="{FF2B5EF4-FFF2-40B4-BE49-F238E27FC236}">
                <a16:creationId xmlns:a16="http://schemas.microsoft.com/office/drawing/2014/main" id="{F5EB7353-A66F-4085-A300-20CA29E34615}"/>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08 / 12</a:t>
            </a:r>
          </a:p>
        </p:txBody>
      </p:sp>
    </p:spTree>
    <p:extLst>
      <p:ext uri="{BB962C8B-B14F-4D97-AF65-F5344CB8AC3E}">
        <p14:creationId xmlns:p14="http://schemas.microsoft.com/office/powerpoint/2010/main" val="200161262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d2e5beb68b93405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9-01">
            <a:extLst xmlns:a="http://schemas.openxmlformats.org/drawingml/2006/main">
              <a:ext uri="{FF2B5EF4-FFF2-40B4-BE49-F238E27FC236}">
                <a16:creationId xmlns:a16="http://schemas.microsoft.com/office/drawing/2014/main" id="{5D712491-17F5-456F-86A1-415677C41B44}"/>
              </a:ext>
            </a:extLst>
          </p:cNvPr>
          <p:cNvSpPr>
            <a:spLocks xmlns:a="http://schemas.openxmlformats.org/drawingml/2006/main" noGrp="1"/>
          </p:cNvSpPr>
          <p:nvPr/>
        </p:nvSpPr>
        <p:spPr>
          <a:xfrm xmlns:a="http://schemas.openxmlformats.org/drawingml/2006/main">
            <a:off x="482632" y="598646"/>
            <a:ext cx="128168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Action title · 09</a:t>
            </a:r>
          </a:p>
        </p:txBody>
      </p:sp>
      <p:sp>
        <p:nvSpPr>
          <p:cNvPr id="3" name="editable-text-09-02">
            <a:extLst xmlns:a="http://schemas.openxmlformats.org/drawingml/2006/main">
              <a:ext uri="{FF2B5EF4-FFF2-40B4-BE49-F238E27FC236}">
                <a16:creationId xmlns:a16="http://schemas.microsoft.com/office/drawing/2014/main" id="{933CE9C5-7FC4-4DC7-8AAB-5FCA918C64F8}"/>
              </a:ext>
            </a:extLst>
          </p:cNvPr>
          <p:cNvSpPr>
            <a:spLocks xmlns:a="http://schemas.openxmlformats.org/drawingml/2006/main" noGrp="1"/>
          </p:cNvSpPr>
          <p:nvPr/>
        </p:nvSpPr>
        <p:spPr>
          <a:xfrm xmlns:a="http://schemas.openxmlformats.org/drawingml/2006/main">
            <a:off x="2138934" y="457200"/>
            <a:ext cx="9243060" cy="4572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5F4EF">
                    <a:alpha val="0"/>
                  </a:srgbClr>
                </a:solidFill>
                <a:latin typeface="Space Grotesk"/>
                <a:ea typeface="Space Grotesk"/>
                <a:cs typeface="Space Grotesk"/>
              </a:defRPr>
            </a:pPr>
            <a:r>
              <a:rPr sz="1575" b="1">
                <a:solidFill>
                  <a:srgbClr val="F5F4EF">
                    <a:alpha val="0"/>
                  </a:srgbClr>
                </a:solidFill>
                <a:latin typeface="Space Grotesk"/>
                <a:ea typeface="Space Grotesk"/>
                <a:cs typeface="Space Grotesk"/>
              </a:rPr>
              <a:t>The trust gap is built in the first 72 hours, not the first 7 days — and the cost compounds for the rest of the lifecycle.</a:t>
            </a:r>
          </a:p>
        </p:txBody>
      </p:sp>
      <p:sp>
        <p:nvSpPr>
          <p:cNvPr id="4" name="editable-text-09-03">
            <a:extLst xmlns:a="http://schemas.openxmlformats.org/drawingml/2006/main">
              <a:ext uri="{FF2B5EF4-FFF2-40B4-BE49-F238E27FC236}">
                <a16:creationId xmlns:a16="http://schemas.microsoft.com/office/drawing/2014/main" id="{B88425A2-2C6D-4ED9-9526-B2E095A9BD64}"/>
              </a:ext>
            </a:extLst>
          </p:cNvPr>
          <p:cNvSpPr>
            <a:spLocks xmlns:a="http://schemas.openxmlformats.org/drawingml/2006/main" noGrp="1"/>
          </p:cNvSpPr>
          <p:nvPr/>
        </p:nvSpPr>
        <p:spPr>
          <a:xfrm xmlns:a="http://schemas.openxmlformats.org/drawingml/2006/main">
            <a:off x="507968" y="1435132"/>
            <a:ext cx="1435132"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A0A0A">
                    <a:alpha val="0"/>
                  </a:srgbClr>
                </a:solidFill>
                <a:latin typeface="Space Grotesk"/>
                <a:ea typeface="Space Grotesk"/>
                <a:cs typeface="Space Grotesk"/>
              </a:defRPr>
            </a:pPr>
            <a:r>
              <a:rPr sz="1350" b="1">
                <a:solidFill>
                  <a:srgbClr val="0A0A0A">
                    <a:alpha val="0"/>
                  </a:srgbClr>
                </a:solidFill>
                <a:latin typeface="Space Grotesk"/>
                <a:ea typeface="Space Grotesk"/>
                <a:cs typeface="Space Grotesk"/>
              </a:rPr>
              <a:t>What we found</a:t>
            </a:r>
          </a:p>
        </p:txBody>
      </p:sp>
      <p:sp>
        <p:nvSpPr>
          <p:cNvPr id="5" name="editable-text-09-04">
            <a:extLst xmlns:a="http://schemas.openxmlformats.org/drawingml/2006/main">
              <a:ext uri="{FF2B5EF4-FFF2-40B4-BE49-F238E27FC236}">
                <a16:creationId xmlns:a16="http://schemas.microsoft.com/office/drawing/2014/main" id="{68FAFE90-A2E1-4E1D-9774-1DE29B3A77B9}"/>
              </a:ext>
            </a:extLst>
          </p:cNvPr>
          <p:cNvSpPr>
            <a:spLocks xmlns:a="http://schemas.openxmlformats.org/drawingml/2006/main" noGrp="1"/>
          </p:cNvSpPr>
          <p:nvPr/>
        </p:nvSpPr>
        <p:spPr>
          <a:xfrm xmlns:a="http://schemas.openxmlformats.org/drawingml/2006/main">
            <a:off x="507968" y="1879568"/>
            <a:ext cx="1526667"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Three behavioural signals</a:t>
            </a:r>
          </a:p>
        </p:txBody>
      </p:sp>
      <p:sp>
        <p:nvSpPr>
          <p:cNvPr id="6" name="editable-text-09-05">
            <a:extLst xmlns:a="http://schemas.openxmlformats.org/drawingml/2006/main">
              <a:ext uri="{FF2B5EF4-FFF2-40B4-BE49-F238E27FC236}">
                <a16:creationId xmlns:a16="http://schemas.microsoft.com/office/drawing/2014/main" id="{9187475C-6D19-462E-ABDB-0A57EE73E5E9}"/>
              </a:ext>
            </a:extLst>
          </p:cNvPr>
          <p:cNvSpPr>
            <a:spLocks xmlns:a="http://schemas.openxmlformats.org/drawingml/2006/main" noGrp="1"/>
          </p:cNvSpPr>
          <p:nvPr/>
        </p:nvSpPr>
        <p:spPr>
          <a:xfrm xmlns:a="http://schemas.openxmlformats.org/drawingml/2006/main">
            <a:off x="507968" y="1879568"/>
            <a:ext cx="3189923"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in the first 72 hours predict 18-month retention better than any feature-usage metric we tracked.</a:t>
            </a:r>
          </a:p>
        </p:txBody>
      </p:sp>
      <p:sp>
        <p:nvSpPr>
          <p:cNvPr id="7" name="editable-text-09-06">
            <a:extLst xmlns:a="http://schemas.openxmlformats.org/drawingml/2006/main">
              <a:ext uri="{FF2B5EF4-FFF2-40B4-BE49-F238E27FC236}">
                <a16:creationId xmlns:a16="http://schemas.microsoft.com/office/drawing/2014/main" id="{484BC084-ABEA-41A0-A584-D9E6B39290AF}"/>
              </a:ext>
            </a:extLst>
          </p:cNvPr>
          <p:cNvSpPr>
            <a:spLocks xmlns:a="http://schemas.openxmlformats.org/drawingml/2006/main" noGrp="1"/>
          </p:cNvSpPr>
          <p:nvPr/>
        </p:nvSpPr>
        <p:spPr>
          <a:xfrm xmlns:a="http://schemas.openxmlformats.org/drawingml/2006/main">
            <a:off x="647700" y="4177094"/>
            <a:ext cx="98583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Email open #2</a:t>
            </a:r>
          </a:p>
        </p:txBody>
      </p:sp>
      <p:sp>
        <p:nvSpPr>
          <p:cNvPr id="8" name="editable-text-09-07">
            <a:extLst xmlns:a="http://schemas.openxmlformats.org/drawingml/2006/main">
              <a:ext uri="{FF2B5EF4-FFF2-40B4-BE49-F238E27FC236}">
                <a16:creationId xmlns:a16="http://schemas.microsoft.com/office/drawing/2014/main" id="{486ED7C0-3CEB-4006-9814-C49A7B067D74}"/>
              </a:ext>
            </a:extLst>
          </p:cNvPr>
          <p:cNvSpPr>
            <a:spLocks xmlns:a="http://schemas.openxmlformats.org/drawingml/2006/main" noGrp="1"/>
          </p:cNvSpPr>
          <p:nvPr/>
        </p:nvSpPr>
        <p:spPr>
          <a:xfrm xmlns:a="http://schemas.openxmlformats.org/drawingml/2006/main">
            <a:off x="647700" y="4177094"/>
            <a:ext cx="3011329"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 opening the second lifecycle email lifts D90 retention by 19 points.</a:t>
            </a:r>
          </a:p>
        </p:txBody>
      </p:sp>
      <p:sp>
        <p:nvSpPr>
          <p:cNvPr id="9" name="editable-text-09-08">
            <a:extLst xmlns:a="http://schemas.openxmlformats.org/drawingml/2006/main">
              <a:ext uri="{FF2B5EF4-FFF2-40B4-BE49-F238E27FC236}">
                <a16:creationId xmlns:a16="http://schemas.microsoft.com/office/drawing/2014/main" id="{6867F7EC-350E-4F7F-A385-90169ADEAC9E}"/>
              </a:ext>
            </a:extLst>
          </p:cNvPr>
          <p:cNvSpPr>
            <a:spLocks xmlns:a="http://schemas.openxmlformats.org/drawingml/2006/main" noGrp="1"/>
          </p:cNvSpPr>
          <p:nvPr/>
        </p:nvSpPr>
        <p:spPr>
          <a:xfrm xmlns:a="http://schemas.openxmlformats.org/drawingml/2006/main">
            <a:off x="647700" y="4646581"/>
            <a:ext cx="1545241"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Personal salutation</a:t>
            </a:r>
          </a:p>
        </p:txBody>
      </p:sp>
      <p:sp>
        <p:nvSpPr>
          <p:cNvPr id="10" name="editable-text-09-09">
            <a:extLst xmlns:a="http://schemas.openxmlformats.org/drawingml/2006/main">
              <a:ext uri="{FF2B5EF4-FFF2-40B4-BE49-F238E27FC236}">
                <a16:creationId xmlns:a16="http://schemas.microsoft.com/office/drawing/2014/main" id="{CD3344C0-91F1-47EF-8782-DC2BBEA8965F}"/>
              </a:ext>
            </a:extLst>
          </p:cNvPr>
          <p:cNvSpPr>
            <a:spLocks xmlns:a="http://schemas.openxmlformats.org/drawingml/2006/main" noGrp="1"/>
          </p:cNvSpPr>
          <p:nvPr/>
        </p:nvSpPr>
        <p:spPr>
          <a:xfrm xmlns:a="http://schemas.openxmlformats.org/drawingml/2006/main">
            <a:off x="647700" y="4646581"/>
            <a:ext cx="3040761"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 accounts that received a written welcome retained 2.4× the cohort.</a:t>
            </a:r>
          </a:p>
        </p:txBody>
      </p:sp>
      <p:sp>
        <p:nvSpPr>
          <p:cNvPr id="11" name="editable-text-09-10">
            <a:extLst xmlns:a="http://schemas.openxmlformats.org/drawingml/2006/main">
              <a:ext uri="{FF2B5EF4-FFF2-40B4-BE49-F238E27FC236}">
                <a16:creationId xmlns:a16="http://schemas.microsoft.com/office/drawing/2014/main" id="{F142D17F-9D76-4782-A651-284F5D72D845}"/>
              </a:ext>
            </a:extLst>
          </p:cNvPr>
          <p:cNvSpPr>
            <a:spLocks xmlns:a="http://schemas.openxmlformats.org/drawingml/2006/main" noGrp="1"/>
          </p:cNvSpPr>
          <p:nvPr/>
        </p:nvSpPr>
        <p:spPr>
          <a:xfrm xmlns:a="http://schemas.openxmlformats.org/drawingml/2006/main">
            <a:off x="647700" y="5116163"/>
            <a:ext cx="111128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Reply received</a:t>
            </a:r>
          </a:p>
        </p:txBody>
      </p:sp>
      <p:sp>
        <p:nvSpPr>
          <p:cNvPr id="12" name="editable-text-09-11">
            <a:extLst xmlns:a="http://schemas.openxmlformats.org/drawingml/2006/main">
              <a:ext uri="{FF2B5EF4-FFF2-40B4-BE49-F238E27FC236}">
                <a16:creationId xmlns:a16="http://schemas.microsoft.com/office/drawing/2014/main" id="{7C9BED19-4E01-4E06-872F-4A9932871771}"/>
              </a:ext>
            </a:extLst>
          </p:cNvPr>
          <p:cNvSpPr>
            <a:spLocks xmlns:a="http://schemas.openxmlformats.org/drawingml/2006/main" noGrp="1"/>
          </p:cNvSpPr>
          <p:nvPr/>
        </p:nvSpPr>
        <p:spPr>
          <a:xfrm xmlns:a="http://schemas.openxmlformats.org/drawingml/2006/main">
            <a:off x="647700" y="5116163"/>
            <a:ext cx="2921984"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 a single human reply within 24 hours is the single largest lever measured.</a:t>
            </a:r>
          </a:p>
        </p:txBody>
      </p:sp>
      <p:sp>
        <p:nvSpPr>
          <p:cNvPr id="13" name="editable-text-09-12">
            <a:extLst xmlns:a="http://schemas.openxmlformats.org/drawingml/2006/main">
              <a:ext uri="{FF2B5EF4-FFF2-40B4-BE49-F238E27FC236}">
                <a16:creationId xmlns:a16="http://schemas.microsoft.com/office/drawing/2014/main" id="{982E9B22-6463-4CF7-934E-652B2EA897FC}"/>
              </a:ext>
            </a:extLst>
          </p:cNvPr>
          <p:cNvSpPr>
            <a:spLocks xmlns:a="http://schemas.openxmlformats.org/drawingml/2006/main" noGrp="1"/>
          </p:cNvSpPr>
          <p:nvPr/>
        </p:nvSpPr>
        <p:spPr>
          <a:xfrm xmlns:a="http://schemas.openxmlformats.org/drawingml/2006/main">
            <a:off x="647700" y="5585651"/>
            <a:ext cx="1514189"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Mobile-first session</a:t>
            </a:r>
          </a:p>
        </p:txBody>
      </p:sp>
      <p:sp>
        <p:nvSpPr>
          <p:cNvPr id="14" name="editable-text-09-13">
            <a:extLst xmlns:a="http://schemas.openxmlformats.org/drawingml/2006/main">
              <a:ext uri="{FF2B5EF4-FFF2-40B4-BE49-F238E27FC236}">
                <a16:creationId xmlns:a16="http://schemas.microsoft.com/office/drawing/2014/main" id="{5E7B9C8B-C4CB-42CE-9CA1-9725BD3159E3}"/>
              </a:ext>
            </a:extLst>
          </p:cNvPr>
          <p:cNvSpPr>
            <a:spLocks xmlns:a="http://schemas.openxmlformats.org/drawingml/2006/main" noGrp="1"/>
          </p:cNvSpPr>
          <p:nvPr/>
        </p:nvSpPr>
        <p:spPr>
          <a:xfrm xmlns:a="http://schemas.openxmlformats.org/drawingml/2006/main">
            <a:off x="647700" y="5585651"/>
            <a:ext cx="3110103"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 a same-day mobile sign-in doubled the chance of a second-week return visit.</a:t>
            </a:r>
          </a:p>
        </p:txBody>
      </p:sp>
      <p:sp>
        <p:nvSpPr>
          <p:cNvPr id="15" name="editable-text-09-14">
            <a:extLst xmlns:a="http://schemas.openxmlformats.org/drawingml/2006/main">
              <a:ext uri="{FF2B5EF4-FFF2-40B4-BE49-F238E27FC236}">
                <a16:creationId xmlns:a16="http://schemas.microsoft.com/office/drawing/2014/main" id="{DD063240-DBAF-49A8-A1BD-46323851CFC0}"/>
              </a:ext>
            </a:extLst>
          </p:cNvPr>
          <p:cNvSpPr>
            <a:spLocks xmlns:a="http://schemas.openxmlformats.org/drawingml/2006/main" noGrp="1"/>
          </p:cNvSpPr>
          <p:nvPr/>
        </p:nvSpPr>
        <p:spPr>
          <a:xfrm xmlns:a="http://schemas.openxmlformats.org/drawingml/2006/main">
            <a:off x="507968" y="6213920"/>
            <a:ext cx="141989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N = 14,200 · Q1 2026</a:t>
            </a:r>
          </a:p>
        </p:txBody>
      </p:sp>
      <p:sp>
        <p:nvSpPr>
          <p:cNvPr id="16" name="editable-text-09-15">
            <a:extLst xmlns:a="http://schemas.openxmlformats.org/drawingml/2006/main">
              <a:ext uri="{FF2B5EF4-FFF2-40B4-BE49-F238E27FC236}">
                <a16:creationId xmlns:a16="http://schemas.microsoft.com/office/drawing/2014/main" id="{947DBEEE-3854-4EB8-A479-A18D42EC615B}"/>
              </a:ext>
            </a:extLst>
          </p:cNvPr>
          <p:cNvSpPr>
            <a:spLocks xmlns:a="http://schemas.openxmlformats.org/drawingml/2006/main" noGrp="1"/>
          </p:cNvSpPr>
          <p:nvPr/>
        </p:nvSpPr>
        <p:spPr>
          <a:xfrm xmlns:a="http://schemas.openxmlformats.org/drawingml/2006/main">
            <a:off x="4436459" y="1435132"/>
            <a:ext cx="1421606"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A0A0A">
                    <a:alpha val="0"/>
                  </a:srgbClr>
                </a:solidFill>
                <a:latin typeface="Space Grotesk"/>
                <a:ea typeface="Space Grotesk"/>
                <a:cs typeface="Space Grotesk"/>
              </a:defRPr>
            </a:pPr>
            <a:r>
              <a:rPr sz="1350" b="1">
                <a:solidFill>
                  <a:srgbClr val="0A0A0A">
                    <a:alpha val="0"/>
                  </a:srgbClr>
                </a:solidFill>
                <a:latin typeface="Space Grotesk"/>
                <a:ea typeface="Space Grotesk"/>
                <a:cs typeface="Space Grotesk"/>
              </a:rPr>
              <a:t>Why it matters</a:t>
            </a:r>
          </a:p>
        </p:txBody>
      </p:sp>
      <p:sp>
        <p:nvSpPr>
          <p:cNvPr id="17" name="editable-text-09-16">
            <a:extLst xmlns:a="http://schemas.openxmlformats.org/drawingml/2006/main">
              <a:ext uri="{FF2B5EF4-FFF2-40B4-BE49-F238E27FC236}">
                <a16:creationId xmlns:a16="http://schemas.microsoft.com/office/drawing/2014/main" id="{BF259C5C-0229-42BC-A16A-937C8DBFB473}"/>
              </a:ext>
            </a:extLst>
          </p:cNvPr>
          <p:cNvSpPr>
            <a:spLocks xmlns:a="http://schemas.openxmlformats.org/drawingml/2006/main" noGrp="1"/>
          </p:cNvSpPr>
          <p:nvPr/>
        </p:nvSpPr>
        <p:spPr>
          <a:xfrm xmlns:a="http://schemas.openxmlformats.org/drawingml/2006/main">
            <a:off x="4436459" y="1860518"/>
            <a:ext cx="3139154" cy="490157"/>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A0A0A">
                    <a:alpha val="0"/>
                  </a:srgbClr>
                </a:solidFill>
                <a:latin typeface="Space Grotesk"/>
                <a:ea typeface="Space Grotesk"/>
                <a:cs typeface="Space Grotesk"/>
              </a:defRPr>
            </a:pPr>
            <a:r>
              <a:rPr sz="1800" b="1">
                <a:solidFill>
                  <a:srgbClr val="0A0A0A">
                    <a:alpha val="0"/>
                  </a:srgbClr>
                </a:solidFill>
                <a:latin typeface="Space Grotesk"/>
                <a:ea typeface="Space Grotesk"/>
                <a:cs typeface="Space Grotesk"/>
              </a:rPr>
              <a:t>$4.1M projected retained ARR — current cohort.</a:t>
            </a:r>
          </a:p>
        </p:txBody>
      </p:sp>
      <p:sp>
        <p:nvSpPr>
          <p:cNvPr id="18" name="editable-text-09-17">
            <a:extLst xmlns:a="http://schemas.openxmlformats.org/drawingml/2006/main">
              <a:ext uri="{FF2B5EF4-FFF2-40B4-BE49-F238E27FC236}">
                <a16:creationId xmlns:a16="http://schemas.microsoft.com/office/drawing/2014/main" id="{166C9459-E51C-4700-9528-32F05956E380}"/>
              </a:ext>
            </a:extLst>
          </p:cNvPr>
          <p:cNvSpPr>
            <a:spLocks xmlns:a="http://schemas.openxmlformats.org/drawingml/2006/main" noGrp="1"/>
          </p:cNvSpPr>
          <p:nvPr/>
        </p:nvSpPr>
        <p:spPr>
          <a:xfrm xmlns:a="http://schemas.openxmlformats.org/drawingml/2006/main">
            <a:off x="4436459" y="3025997"/>
            <a:ext cx="3330702" cy="68522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The first three days are the only window where customers are both paying attention and willing to write back. Every interaction here does the work of roughly four interactions in week three.</a:t>
            </a:r>
          </a:p>
        </p:txBody>
      </p:sp>
      <p:sp>
        <p:nvSpPr>
          <p:cNvPr id="19" name="editable-text-09-18">
            <a:extLst xmlns:a="http://schemas.openxmlformats.org/drawingml/2006/main">
              <a:ext uri="{FF2B5EF4-FFF2-40B4-BE49-F238E27FC236}">
                <a16:creationId xmlns:a16="http://schemas.microsoft.com/office/drawing/2014/main" id="{9B50381A-8388-4436-AD9F-F8BFEEEE34D9}"/>
              </a:ext>
            </a:extLst>
          </p:cNvPr>
          <p:cNvSpPr>
            <a:spLocks xmlns:a="http://schemas.openxmlformats.org/drawingml/2006/main" noGrp="1"/>
          </p:cNvSpPr>
          <p:nvPr/>
        </p:nvSpPr>
        <p:spPr>
          <a:xfrm xmlns:a="http://schemas.openxmlformats.org/drawingml/2006/main">
            <a:off x="4436459" y="4410456"/>
            <a:ext cx="3236976"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The cost of getting this wrong is not refunds — it is the long, quiet churn of an account that never returns to the inbox, never opens another email, never sees the product again.</a:t>
            </a:r>
          </a:p>
        </p:txBody>
      </p:sp>
      <p:sp>
        <p:nvSpPr>
          <p:cNvPr id="20" name="editable-text-09-19">
            <a:extLst xmlns:a="http://schemas.openxmlformats.org/drawingml/2006/main">
              <a:ext uri="{FF2B5EF4-FFF2-40B4-BE49-F238E27FC236}">
                <a16:creationId xmlns:a16="http://schemas.microsoft.com/office/drawing/2014/main" id="{D0D09FA4-254D-4163-8A07-2A656830558F}"/>
              </a:ext>
            </a:extLst>
          </p:cNvPr>
          <p:cNvSpPr>
            <a:spLocks xmlns:a="http://schemas.openxmlformats.org/drawingml/2006/main" noGrp="1"/>
          </p:cNvSpPr>
          <p:nvPr/>
        </p:nvSpPr>
        <p:spPr>
          <a:xfrm xmlns:a="http://schemas.openxmlformats.org/drawingml/2006/main">
            <a:off x="4436459" y="5623751"/>
            <a:ext cx="3154775"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Replicated on three independent cohorts. The signal is the same in every segment we have tested.</a:t>
            </a:r>
          </a:p>
        </p:txBody>
      </p:sp>
      <p:sp>
        <p:nvSpPr>
          <p:cNvPr id="21" name="editable-text-09-20">
            <a:extLst xmlns:a="http://schemas.openxmlformats.org/drawingml/2006/main">
              <a:ext uri="{FF2B5EF4-FFF2-40B4-BE49-F238E27FC236}">
                <a16:creationId xmlns:a16="http://schemas.microsoft.com/office/drawing/2014/main" id="{FC794AB9-479B-4CB6-93A3-922A2E6F02E0}"/>
              </a:ext>
            </a:extLst>
          </p:cNvPr>
          <p:cNvSpPr>
            <a:spLocks xmlns:a="http://schemas.openxmlformats.org/drawingml/2006/main" noGrp="1"/>
          </p:cNvSpPr>
          <p:nvPr/>
        </p:nvSpPr>
        <p:spPr>
          <a:xfrm xmlns:a="http://schemas.openxmlformats.org/drawingml/2006/main">
            <a:off x="4436459" y="6213920"/>
            <a:ext cx="231800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Modelled on FY24 cohort behaviour</a:t>
            </a:r>
          </a:p>
        </p:txBody>
      </p:sp>
      <p:sp>
        <p:nvSpPr>
          <p:cNvPr id="22" name="editable-text-09-21">
            <a:extLst xmlns:a="http://schemas.openxmlformats.org/drawingml/2006/main">
              <a:ext uri="{FF2B5EF4-FFF2-40B4-BE49-F238E27FC236}">
                <a16:creationId xmlns:a16="http://schemas.microsoft.com/office/drawing/2014/main" id="{B3BB634B-BA77-4A80-B080-479D9FBDECF6}"/>
              </a:ext>
            </a:extLst>
          </p:cNvPr>
          <p:cNvSpPr>
            <a:spLocks xmlns:a="http://schemas.openxmlformats.org/drawingml/2006/main" noGrp="1"/>
          </p:cNvSpPr>
          <p:nvPr/>
        </p:nvSpPr>
        <p:spPr>
          <a:xfrm xmlns:a="http://schemas.openxmlformats.org/drawingml/2006/main">
            <a:off x="8365046" y="1435132"/>
            <a:ext cx="1066991"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A0A0A">
                    <a:alpha val="0"/>
                  </a:srgbClr>
                </a:solidFill>
                <a:latin typeface="Space Grotesk"/>
                <a:ea typeface="Space Grotesk"/>
                <a:cs typeface="Space Grotesk"/>
              </a:defRPr>
            </a:pPr>
            <a:r>
              <a:rPr sz="1350" b="1">
                <a:solidFill>
                  <a:srgbClr val="0A0A0A">
                    <a:alpha val="0"/>
                  </a:srgbClr>
                </a:solidFill>
                <a:latin typeface="Space Grotesk"/>
                <a:ea typeface="Space Grotesk"/>
                <a:cs typeface="Space Grotesk"/>
              </a:rPr>
              <a:t>What to do</a:t>
            </a:r>
          </a:p>
        </p:txBody>
      </p:sp>
      <p:sp>
        <p:nvSpPr>
          <p:cNvPr id="23" name="editable-text-09-22">
            <a:extLst xmlns:a="http://schemas.openxmlformats.org/drawingml/2006/main">
              <a:ext uri="{FF2B5EF4-FFF2-40B4-BE49-F238E27FC236}">
                <a16:creationId xmlns:a16="http://schemas.microsoft.com/office/drawing/2014/main" id="{30B09845-C9DD-4840-9BB3-ADCB1FC47772}"/>
              </a:ext>
            </a:extLst>
          </p:cNvPr>
          <p:cNvSpPr>
            <a:spLocks xmlns:a="http://schemas.openxmlformats.org/drawingml/2006/main" noGrp="1"/>
          </p:cNvSpPr>
          <p:nvPr/>
        </p:nvSpPr>
        <p:spPr>
          <a:xfrm xmlns:a="http://schemas.openxmlformats.org/drawingml/2006/main">
            <a:off x="8504777" y="1879568"/>
            <a:ext cx="136198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Rewrite emails 1–3</a:t>
            </a:r>
          </a:p>
        </p:txBody>
      </p:sp>
      <p:sp>
        <p:nvSpPr>
          <p:cNvPr id="24" name="editable-text-09-23">
            <a:extLst xmlns:a="http://schemas.openxmlformats.org/drawingml/2006/main">
              <a:ext uri="{FF2B5EF4-FFF2-40B4-BE49-F238E27FC236}">
                <a16:creationId xmlns:a16="http://schemas.microsoft.com/office/drawing/2014/main" id="{D2DC87C8-F226-45DD-82ED-DD7B3CAAE114}"/>
              </a:ext>
            </a:extLst>
          </p:cNvPr>
          <p:cNvSpPr>
            <a:spLocks xmlns:a="http://schemas.openxmlformats.org/drawingml/2006/main" noGrp="1"/>
          </p:cNvSpPr>
          <p:nvPr/>
        </p:nvSpPr>
        <p:spPr>
          <a:xfrm xmlns:a="http://schemas.openxmlformats.org/drawingml/2006/main">
            <a:off x="8504777" y="1879568"/>
            <a:ext cx="2991803"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in human voice; ship behind a 50/50 holdout. Owner: lifecycle. Due: May 17.</a:t>
            </a:r>
          </a:p>
        </p:txBody>
      </p:sp>
      <p:sp>
        <p:nvSpPr>
          <p:cNvPr id="25" name="editable-text-09-24">
            <a:extLst xmlns:a="http://schemas.openxmlformats.org/drawingml/2006/main">
              <a:ext uri="{FF2B5EF4-FFF2-40B4-BE49-F238E27FC236}">
                <a16:creationId xmlns:a16="http://schemas.microsoft.com/office/drawing/2014/main" id="{A42A4D84-4D72-46F6-961D-B1CA28A7DEFC}"/>
              </a:ext>
            </a:extLst>
          </p:cNvPr>
          <p:cNvSpPr>
            <a:spLocks xmlns:a="http://schemas.openxmlformats.org/drawingml/2006/main" noGrp="1"/>
          </p:cNvSpPr>
          <p:nvPr/>
        </p:nvSpPr>
        <p:spPr>
          <a:xfrm xmlns:a="http://schemas.openxmlformats.org/drawingml/2006/main">
            <a:off x="8504777" y="2349151"/>
            <a:ext cx="1435799"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Route every signup</a:t>
            </a:r>
          </a:p>
        </p:txBody>
      </p:sp>
      <p:sp>
        <p:nvSpPr>
          <p:cNvPr id="26" name="editable-text-09-25">
            <a:extLst xmlns:a="http://schemas.openxmlformats.org/drawingml/2006/main">
              <a:ext uri="{FF2B5EF4-FFF2-40B4-BE49-F238E27FC236}">
                <a16:creationId xmlns:a16="http://schemas.microsoft.com/office/drawing/2014/main" id="{721944A2-B8DF-4A7E-B7F7-C1315FB35C3A}"/>
              </a:ext>
            </a:extLst>
          </p:cNvPr>
          <p:cNvSpPr>
            <a:spLocks xmlns:a="http://schemas.openxmlformats.org/drawingml/2006/main" noGrp="1"/>
          </p:cNvSpPr>
          <p:nvPr/>
        </p:nvSpPr>
        <p:spPr>
          <a:xfrm xmlns:a="http://schemas.openxmlformats.org/drawingml/2006/main">
            <a:off x="8504777" y="2349151"/>
            <a:ext cx="2884551"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to a named human for one personal reply within 24h, capped at the top 200 accounts/day. Owner: success. Due: May 24.</a:t>
            </a:r>
          </a:p>
        </p:txBody>
      </p:sp>
      <p:sp>
        <p:nvSpPr>
          <p:cNvPr id="27" name="editable-text-09-26">
            <a:extLst xmlns:a="http://schemas.openxmlformats.org/drawingml/2006/main">
              <a:ext uri="{FF2B5EF4-FFF2-40B4-BE49-F238E27FC236}">
                <a16:creationId xmlns:a16="http://schemas.microsoft.com/office/drawing/2014/main" id="{597F7840-7B72-480B-BEE7-8E7328BBF49E}"/>
              </a:ext>
            </a:extLst>
          </p:cNvPr>
          <p:cNvSpPr>
            <a:spLocks xmlns:a="http://schemas.openxmlformats.org/drawingml/2006/main" noGrp="1"/>
          </p:cNvSpPr>
          <p:nvPr/>
        </p:nvSpPr>
        <p:spPr>
          <a:xfrm xmlns:a="http://schemas.openxmlformats.org/drawingml/2006/main">
            <a:off x="8504777" y="2989898"/>
            <a:ext cx="2299907"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Instrument the 72-hour window</a:t>
            </a:r>
          </a:p>
        </p:txBody>
      </p:sp>
      <p:sp>
        <p:nvSpPr>
          <p:cNvPr id="28" name="editable-text-09-27">
            <a:extLst xmlns:a="http://schemas.openxmlformats.org/drawingml/2006/main">
              <a:ext uri="{FF2B5EF4-FFF2-40B4-BE49-F238E27FC236}">
                <a16:creationId xmlns:a16="http://schemas.microsoft.com/office/drawing/2014/main" id="{0165D481-82C7-43D0-B987-C4E7EE5A1A2D}"/>
              </a:ext>
            </a:extLst>
          </p:cNvPr>
          <p:cNvSpPr>
            <a:spLocks xmlns:a="http://schemas.openxmlformats.org/drawingml/2006/main" noGrp="1"/>
          </p:cNvSpPr>
          <p:nvPr/>
        </p:nvSpPr>
        <p:spPr>
          <a:xfrm xmlns:a="http://schemas.openxmlformats.org/drawingml/2006/main">
            <a:off x="8504777" y="2989898"/>
            <a:ext cx="3183065"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as a first-class metric in the weekly review. Owner: analytics. Due: June 1.</a:t>
            </a:r>
          </a:p>
        </p:txBody>
      </p:sp>
      <p:sp>
        <p:nvSpPr>
          <p:cNvPr id="29" name="editable-text-09-28">
            <a:extLst xmlns:a="http://schemas.openxmlformats.org/drawingml/2006/main">
              <a:ext uri="{FF2B5EF4-FFF2-40B4-BE49-F238E27FC236}">
                <a16:creationId xmlns:a16="http://schemas.microsoft.com/office/drawing/2014/main" id="{3932176E-806C-48CC-ABC9-393FC494C31E}"/>
              </a:ext>
            </a:extLst>
          </p:cNvPr>
          <p:cNvSpPr>
            <a:spLocks xmlns:a="http://schemas.openxmlformats.org/drawingml/2006/main" noGrp="1"/>
          </p:cNvSpPr>
          <p:nvPr/>
        </p:nvSpPr>
        <p:spPr>
          <a:xfrm xmlns:a="http://schemas.openxmlformats.org/drawingml/2006/main">
            <a:off x="8504777" y="3459385"/>
            <a:ext cx="198405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1">
                <a:solidFill>
                  <a:srgbClr val="0A0A0A">
                    <a:alpha val="0"/>
                  </a:srgbClr>
                </a:solidFill>
                <a:latin typeface="Space Grotesk"/>
                <a:ea typeface="Space Grotesk"/>
                <a:cs typeface="Space Grotesk"/>
              </a:defRPr>
            </a:pPr>
            <a:r>
              <a:rPr sz="1073" b="1">
                <a:solidFill>
                  <a:srgbClr val="0A0A0A">
                    <a:alpha val="0"/>
                  </a:srgbClr>
                </a:solidFill>
                <a:latin typeface="Space Grotesk"/>
                <a:ea typeface="Space Grotesk"/>
                <a:cs typeface="Space Grotesk"/>
              </a:rPr>
              <a:t>Run a quarterly teardown</a:t>
            </a:r>
          </a:p>
        </p:txBody>
      </p:sp>
      <p:sp>
        <p:nvSpPr>
          <p:cNvPr id="30" name="editable-text-09-29">
            <a:extLst xmlns:a="http://schemas.openxmlformats.org/drawingml/2006/main">
              <a:ext uri="{FF2B5EF4-FFF2-40B4-BE49-F238E27FC236}">
                <a16:creationId xmlns:a16="http://schemas.microsoft.com/office/drawing/2014/main" id="{B9CC20D2-CC3D-4728-843E-DA53DF895D13}"/>
              </a:ext>
            </a:extLst>
          </p:cNvPr>
          <p:cNvSpPr>
            <a:spLocks xmlns:a="http://schemas.openxmlformats.org/drawingml/2006/main" noGrp="1"/>
          </p:cNvSpPr>
          <p:nvPr/>
        </p:nvSpPr>
        <p:spPr>
          <a:xfrm xmlns:a="http://schemas.openxmlformats.org/drawingml/2006/main">
            <a:off x="8504777" y="3459385"/>
            <a:ext cx="3129725"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of the bottom decile — the cohorts that never made it to email #2 — to find the next lever. Owner: research. Due: June 30.</a:t>
            </a:r>
          </a:p>
        </p:txBody>
      </p:sp>
      <p:sp>
        <p:nvSpPr>
          <p:cNvPr id="31" name="editable-text-09-30">
            <a:extLst xmlns:a="http://schemas.openxmlformats.org/drawingml/2006/main">
              <a:ext uri="{FF2B5EF4-FFF2-40B4-BE49-F238E27FC236}">
                <a16:creationId xmlns:a16="http://schemas.microsoft.com/office/drawing/2014/main" id="{49095C60-9580-489F-91C8-45525B820601}"/>
              </a:ext>
            </a:extLst>
          </p:cNvPr>
          <p:cNvSpPr>
            <a:spLocks xmlns:a="http://schemas.openxmlformats.org/drawingml/2006/main" noGrp="1"/>
          </p:cNvSpPr>
          <p:nvPr/>
        </p:nvSpPr>
        <p:spPr>
          <a:xfrm xmlns:a="http://schemas.openxmlformats.org/drawingml/2006/main">
            <a:off x="8365046" y="6213920"/>
            <a:ext cx="217979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Pilot scope: top-decile signups</a:t>
            </a:r>
          </a:p>
        </p:txBody>
      </p:sp>
      <p:sp>
        <p:nvSpPr>
          <p:cNvPr id="32" name="editable-text-09-31">
            <a:extLst xmlns:a="http://schemas.openxmlformats.org/drawingml/2006/main">
              <a:ext uri="{FF2B5EF4-FFF2-40B4-BE49-F238E27FC236}">
                <a16:creationId xmlns:a16="http://schemas.microsoft.com/office/drawing/2014/main" id="{713C992D-DC15-469F-A12E-EA13BDA7B729}"/>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09 / 12</a:t>
            </a:r>
          </a:p>
        </p:txBody>
      </p:sp>
    </p:spTree>
    <p:extLst>
      <p:ext uri="{BB962C8B-B14F-4D97-AF65-F5344CB8AC3E}">
        <p14:creationId xmlns:p14="http://schemas.microsoft.com/office/powerpoint/2010/main" val="45612767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80510f6a0458464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10-01">
            <a:extLst xmlns:a="http://schemas.openxmlformats.org/drawingml/2006/main">
              <a:ext uri="{FF2B5EF4-FFF2-40B4-BE49-F238E27FC236}">
                <a16:creationId xmlns:a16="http://schemas.microsoft.com/office/drawing/2014/main" id="{9C883739-D9A4-403B-BBE3-569BECB1245E}"/>
              </a:ext>
            </a:extLst>
          </p:cNvPr>
          <p:cNvSpPr>
            <a:spLocks xmlns:a="http://schemas.openxmlformats.org/drawingml/2006/main" noGrp="1"/>
          </p:cNvSpPr>
          <p:nvPr/>
        </p:nvSpPr>
        <p:spPr>
          <a:xfrm xmlns:a="http://schemas.openxmlformats.org/drawingml/2006/main">
            <a:off x="431768" y="457200"/>
            <a:ext cx="1354931"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Section · Evidence</a:t>
            </a:r>
          </a:p>
        </p:txBody>
      </p:sp>
      <p:sp>
        <p:nvSpPr>
          <p:cNvPr id="3" name="editable-text-10-02">
            <a:extLst xmlns:a="http://schemas.openxmlformats.org/drawingml/2006/main">
              <a:ext uri="{FF2B5EF4-FFF2-40B4-BE49-F238E27FC236}">
                <a16:creationId xmlns:a16="http://schemas.microsoft.com/office/drawing/2014/main" id="{418E28B5-36EB-4841-8E96-712B33070407}"/>
              </a:ext>
            </a:extLst>
          </p:cNvPr>
          <p:cNvSpPr>
            <a:spLocks xmlns:a="http://schemas.openxmlformats.org/drawingml/2006/main" noGrp="1"/>
          </p:cNvSpPr>
          <p:nvPr/>
        </p:nvSpPr>
        <p:spPr>
          <a:xfrm xmlns:a="http://schemas.openxmlformats.org/drawingml/2006/main">
            <a:off x="431768" y="663226"/>
            <a:ext cx="2752916"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The curve</a:t>
            </a:r>
          </a:p>
        </p:txBody>
      </p:sp>
      <p:sp>
        <p:nvSpPr>
          <p:cNvPr id="4" name="editable-text-10-03">
            <a:extLst xmlns:a="http://schemas.openxmlformats.org/drawingml/2006/main">
              <a:ext uri="{FF2B5EF4-FFF2-40B4-BE49-F238E27FC236}">
                <a16:creationId xmlns:a16="http://schemas.microsoft.com/office/drawing/2014/main" id="{5A60F597-FAC6-4665-9FFD-EC114E99ECE5}"/>
              </a:ext>
            </a:extLst>
          </p:cNvPr>
          <p:cNvSpPr>
            <a:spLocks xmlns:a="http://schemas.openxmlformats.org/drawingml/2006/main" noGrp="1"/>
          </p:cNvSpPr>
          <p:nvPr/>
        </p:nvSpPr>
        <p:spPr>
          <a:xfrm xmlns:a="http://schemas.openxmlformats.org/drawingml/2006/main">
            <a:off x="431768" y="1121569"/>
            <a:ext cx="2393252"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bends at</a:t>
            </a:r>
          </a:p>
        </p:txBody>
      </p:sp>
      <p:sp>
        <p:nvSpPr>
          <p:cNvPr id="5" name="editable-text-10-04">
            <a:extLst xmlns:a="http://schemas.openxmlformats.org/drawingml/2006/main">
              <a:ext uri="{FF2B5EF4-FFF2-40B4-BE49-F238E27FC236}">
                <a16:creationId xmlns:a16="http://schemas.microsoft.com/office/drawing/2014/main" id="{599B493A-E56E-4871-857F-1FEBA70DF887}"/>
              </a:ext>
            </a:extLst>
          </p:cNvPr>
          <p:cNvSpPr>
            <a:spLocks xmlns:a="http://schemas.openxmlformats.org/drawingml/2006/main" noGrp="1"/>
          </p:cNvSpPr>
          <p:nvPr/>
        </p:nvSpPr>
        <p:spPr>
          <a:xfrm xmlns:a="http://schemas.openxmlformats.org/drawingml/2006/main">
            <a:off x="431768" y="1580007"/>
            <a:ext cx="2835497"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day three.</a:t>
            </a:r>
          </a:p>
        </p:txBody>
      </p:sp>
      <p:sp>
        <p:nvSpPr>
          <p:cNvPr id="6" name="editable-text-10-05">
            <a:extLst xmlns:a="http://schemas.openxmlformats.org/drawingml/2006/main">
              <a:ext uri="{FF2B5EF4-FFF2-40B4-BE49-F238E27FC236}">
                <a16:creationId xmlns:a16="http://schemas.microsoft.com/office/drawing/2014/main" id="{22E33D7C-5235-4829-BB7A-D803B1E31970}"/>
              </a:ext>
            </a:extLst>
          </p:cNvPr>
          <p:cNvSpPr>
            <a:spLocks xmlns:a="http://schemas.openxmlformats.org/drawingml/2006/main" noGrp="1"/>
          </p:cNvSpPr>
          <p:nvPr/>
        </p:nvSpPr>
        <p:spPr>
          <a:xfrm xmlns:a="http://schemas.openxmlformats.org/drawingml/2006/main">
            <a:off x="431768" y="3558635"/>
            <a:ext cx="2183987" cy="85648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Cohorts that received a written welcome and a human reply within 24 hours retain at roughly 2× the rate of the templated cohort, and the gap holds for ninety days.</a:t>
            </a:r>
          </a:p>
        </p:txBody>
      </p:sp>
      <p:sp>
        <p:nvSpPr>
          <p:cNvPr id="7" name="editable-text-10-06">
            <a:extLst xmlns:a="http://schemas.openxmlformats.org/drawingml/2006/main">
              <a:ext uri="{FF2B5EF4-FFF2-40B4-BE49-F238E27FC236}">
                <a16:creationId xmlns:a16="http://schemas.microsoft.com/office/drawing/2014/main" id="{E685BC3C-6079-4A12-AA3B-6F92454821F5}"/>
              </a:ext>
            </a:extLst>
          </p:cNvPr>
          <p:cNvSpPr>
            <a:spLocks xmlns:a="http://schemas.openxmlformats.org/drawingml/2006/main" noGrp="1"/>
          </p:cNvSpPr>
          <p:nvPr/>
        </p:nvSpPr>
        <p:spPr>
          <a:xfrm xmlns:a="http://schemas.openxmlformats.org/drawingml/2006/main">
            <a:off x="660368" y="5865400"/>
            <a:ext cx="190347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Templated welcome (control)</a:t>
            </a:r>
          </a:p>
        </p:txBody>
      </p:sp>
      <p:sp>
        <p:nvSpPr>
          <p:cNvPr id="8" name="editable-text-10-07">
            <a:extLst xmlns:a="http://schemas.openxmlformats.org/drawingml/2006/main">
              <a:ext uri="{FF2B5EF4-FFF2-40B4-BE49-F238E27FC236}">
                <a16:creationId xmlns:a16="http://schemas.microsoft.com/office/drawing/2014/main" id="{E72E0802-9B5D-41C3-B7C4-3FE5C1A457F3}"/>
              </a:ext>
            </a:extLst>
          </p:cNvPr>
          <p:cNvSpPr>
            <a:spLocks xmlns:a="http://schemas.openxmlformats.org/drawingml/2006/main" noGrp="1"/>
          </p:cNvSpPr>
          <p:nvPr/>
        </p:nvSpPr>
        <p:spPr>
          <a:xfrm xmlns:a="http://schemas.openxmlformats.org/drawingml/2006/main">
            <a:off x="660368" y="6065044"/>
            <a:ext cx="10744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Written welcome</a:t>
            </a:r>
          </a:p>
        </p:txBody>
      </p:sp>
      <p:sp>
        <p:nvSpPr>
          <p:cNvPr id="9" name="editable-text-10-08">
            <a:extLst xmlns:a="http://schemas.openxmlformats.org/drawingml/2006/main">
              <a:ext uri="{FF2B5EF4-FFF2-40B4-BE49-F238E27FC236}">
                <a16:creationId xmlns:a16="http://schemas.microsoft.com/office/drawing/2014/main" id="{0B79BB30-C21A-4CAA-B226-5007959868F6}"/>
              </a:ext>
            </a:extLst>
          </p:cNvPr>
          <p:cNvSpPr>
            <a:spLocks xmlns:a="http://schemas.openxmlformats.org/drawingml/2006/main" noGrp="1"/>
          </p:cNvSpPr>
          <p:nvPr/>
        </p:nvSpPr>
        <p:spPr>
          <a:xfrm xmlns:a="http://schemas.openxmlformats.org/drawingml/2006/main">
            <a:off x="660368" y="6264688"/>
            <a:ext cx="148894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Written + human reply</a:t>
            </a:r>
          </a:p>
        </p:txBody>
      </p:sp>
      <p:sp>
        <p:nvSpPr>
          <p:cNvPr id="10" name="editable-text-10-09">
            <a:extLst xmlns:a="http://schemas.openxmlformats.org/drawingml/2006/main">
              <a:ext uri="{FF2B5EF4-FFF2-40B4-BE49-F238E27FC236}">
                <a16:creationId xmlns:a16="http://schemas.microsoft.com/office/drawing/2014/main" id="{9E367F5B-36FA-4BA0-8920-0420A5E9EF38}"/>
              </a:ext>
            </a:extLst>
          </p:cNvPr>
          <p:cNvSpPr>
            <a:spLocks xmlns:a="http://schemas.openxmlformats.org/drawingml/2006/main" noGrp="1"/>
          </p:cNvSpPr>
          <p:nvPr/>
        </p:nvSpPr>
        <p:spPr>
          <a:xfrm xmlns:a="http://schemas.openxmlformats.org/drawingml/2006/main">
            <a:off x="5662041" y="457200"/>
            <a:ext cx="1940147"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 of cohort active, by day</a:t>
            </a:r>
          </a:p>
        </p:txBody>
      </p:sp>
      <p:sp>
        <p:nvSpPr>
          <p:cNvPr id="11" name="editable-text-10-10">
            <a:extLst xmlns:a="http://schemas.openxmlformats.org/drawingml/2006/main">
              <a:ext uri="{FF2B5EF4-FFF2-40B4-BE49-F238E27FC236}">
                <a16:creationId xmlns:a16="http://schemas.microsoft.com/office/drawing/2014/main" id="{A9EF38E9-5427-4947-8BC3-8A662937A082}"/>
              </a:ext>
            </a:extLst>
          </p:cNvPr>
          <p:cNvSpPr>
            <a:spLocks xmlns:a="http://schemas.openxmlformats.org/drawingml/2006/main" noGrp="1"/>
          </p:cNvSpPr>
          <p:nvPr/>
        </p:nvSpPr>
        <p:spPr>
          <a:xfrm xmlns:a="http://schemas.openxmlformats.org/drawingml/2006/main">
            <a:off x="5319141" y="644176"/>
            <a:ext cx="221075"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100</a:t>
            </a:r>
          </a:p>
        </p:txBody>
      </p:sp>
      <p:sp>
        <p:nvSpPr>
          <p:cNvPr id="12" name="editable-text-10-11">
            <a:extLst xmlns:a="http://schemas.openxmlformats.org/drawingml/2006/main">
              <a:ext uri="{FF2B5EF4-FFF2-40B4-BE49-F238E27FC236}">
                <a16:creationId xmlns:a16="http://schemas.microsoft.com/office/drawing/2014/main" id="{0708008B-61F6-464B-BF63-5B10CB052110}"/>
              </a:ext>
            </a:extLst>
          </p:cNvPr>
          <p:cNvSpPr>
            <a:spLocks xmlns:a="http://schemas.openxmlformats.org/drawingml/2006/main" noGrp="1"/>
          </p:cNvSpPr>
          <p:nvPr/>
        </p:nvSpPr>
        <p:spPr>
          <a:xfrm xmlns:a="http://schemas.openxmlformats.org/drawingml/2006/main">
            <a:off x="5319141" y="2002536"/>
            <a:ext cx="1600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75</a:t>
            </a:r>
          </a:p>
        </p:txBody>
      </p:sp>
      <p:sp>
        <p:nvSpPr>
          <p:cNvPr id="13" name="editable-text-10-12">
            <a:extLst xmlns:a="http://schemas.openxmlformats.org/drawingml/2006/main">
              <a:ext uri="{FF2B5EF4-FFF2-40B4-BE49-F238E27FC236}">
                <a16:creationId xmlns:a16="http://schemas.microsoft.com/office/drawing/2014/main" id="{A505D887-9315-4953-8EF9-150E3D52FE3E}"/>
              </a:ext>
            </a:extLst>
          </p:cNvPr>
          <p:cNvSpPr>
            <a:spLocks xmlns:a="http://schemas.openxmlformats.org/drawingml/2006/main" noGrp="1"/>
          </p:cNvSpPr>
          <p:nvPr/>
        </p:nvSpPr>
        <p:spPr>
          <a:xfrm xmlns:a="http://schemas.openxmlformats.org/drawingml/2006/main">
            <a:off x="5319141" y="3360896"/>
            <a:ext cx="1600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50</a:t>
            </a:r>
          </a:p>
        </p:txBody>
      </p:sp>
      <p:sp>
        <p:nvSpPr>
          <p:cNvPr id="14" name="editable-text-10-13">
            <a:extLst xmlns:a="http://schemas.openxmlformats.org/drawingml/2006/main">
              <a:ext uri="{FF2B5EF4-FFF2-40B4-BE49-F238E27FC236}">
                <a16:creationId xmlns:a16="http://schemas.microsoft.com/office/drawing/2014/main" id="{3E52E8A3-E47B-40F0-B4C9-1EB5D048F0A2}"/>
              </a:ext>
            </a:extLst>
          </p:cNvPr>
          <p:cNvSpPr>
            <a:spLocks xmlns:a="http://schemas.openxmlformats.org/drawingml/2006/main" noGrp="1"/>
          </p:cNvSpPr>
          <p:nvPr/>
        </p:nvSpPr>
        <p:spPr>
          <a:xfrm xmlns:a="http://schemas.openxmlformats.org/drawingml/2006/main">
            <a:off x="5319141" y="4719352"/>
            <a:ext cx="1600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25</a:t>
            </a:r>
          </a:p>
        </p:txBody>
      </p:sp>
      <p:sp>
        <p:nvSpPr>
          <p:cNvPr id="15" name="editable-text-10-14">
            <a:extLst xmlns:a="http://schemas.openxmlformats.org/drawingml/2006/main">
              <a:ext uri="{FF2B5EF4-FFF2-40B4-BE49-F238E27FC236}">
                <a16:creationId xmlns:a16="http://schemas.microsoft.com/office/drawing/2014/main" id="{A234CADD-39E8-4042-8707-50E62C05A120}"/>
              </a:ext>
            </a:extLst>
          </p:cNvPr>
          <p:cNvSpPr>
            <a:spLocks xmlns:a="http://schemas.openxmlformats.org/drawingml/2006/main" noGrp="1"/>
          </p:cNvSpPr>
          <p:nvPr/>
        </p:nvSpPr>
        <p:spPr>
          <a:xfrm xmlns:a="http://schemas.openxmlformats.org/drawingml/2006/main">
            <a:off x="5319141" y="6077712"/>
            <a:ext cx="99155"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a:t>
            </a:r>
          </a:p>
        </p:txBody>
      </p:sp>
      <p:sp>
        <p:nvSpPr>
          <p:cNvPr id="16" name="editable-text-10-15">
            <a:extLst xmlns:a="http://schemas.openxmlformats.org/drawingml/2006/main">
              <a:ext uri="{FF2B5EF4-FFF2-40B4-BE49-F238E27FC236}">
                <a16:creationId xmlns:a16="http://schemas.microsoft.com/office/drawing/2014/main" id="{F67700D2-6D7F-493D-B5E9-8687CE4DD6ED}"/>
              </a:ext>
            </a:extLst>
          </p:cNvPr>
          <p:cNvSpPr>
            <a:spLocks xmlns:a="http://schemas.openxmlformats.org/drawingml/2006/main" noGrp="1"/>
          </p:cNvSpPr>
          <p:nvPr/>
        </p:nvSpPr>
        <p:spPr>
          <a:xfrm xmlns:a="http://schemas.openxmlformats.org/drawingml/2006/main">
            <a:off x="5662041" y="6290120"/>
            <a:ext cx="17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D0</a:t>
            </a:r>
          </a:p>
        </p:txBody>
      </p:sp>
      <p:sp>
        <p:nvSpPr>
          <p:cNvPr id="17" name="editable-text-10-16">
            <a:extLst xmlns:a="http://schemas.openxmlformats.org/drawingml/2006/main">
              <a:ext uri="{FF2B5EF4-FFF2-40B4-BE49-F238E27FC236}">
                <a16:creationId xmlns:a16="http://schemas.microsoft.com/office/drawing/2014/main" id="{766D6B82-4C89-47E8-8EED-1CBFD7D8DC5C}"/>
              </a:ext>
            </a:extLst>
          </p:cNvPr>
          <p:cNvSpPr>
            <a:spLocks xmlns:a="http://schemas.openxmlformats.org/drawingml/2006/main" noGrp="1"/>
          </p:cNvSpPr>
          <p:nvPr/>
        </p:nvSpPr>
        <p:spPr>
          <a:xfrm xmlns:a="http://schemas.openxmlformats.org/drawingml/2006/main">
            <a:off x="6597777" y="6290120"/>
            <a:ext cx="17630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D7</a:t>
            </a:r>
          </a:p>
        </p:txBody>
      </p:sp>
      <p:sp>
        <p:nvSpPr>
          <p:cNvPr id="18" name="editable-text-10-17">
            <a:extLst xmlns:a="http://schemas.openxmlformats.org/drawingml/2006/main">
              <a:ext uri="{FF2B5EF4-FFF2-40B4-BE49-F238E27FC236}">
                <a16:creationId xmlns:a16="http://schemas.microsoft.com/office/drawing/2014/main" id="{4B3D1DC7-1C81-4778-8564-6936C1B1A514}"/>
              </a:ext>
            </a:extLst>
          </p:cNvPr>
          <p:cNvSpPr>
            <a:spLocks xmlns:a="http://schemas.openxmlformats.org/drawingml/2006/main" noGrp="1"/>
          </p:cNvSpPr>
          <p:nvPr/>
        </p:nvSpPr>
        <p:spPr>
          <a:xfrm xmlns:a="http://schemas.openxmlformats.org/drawingml/2006/main">
            <a:off x="7533608" y="6290120"/>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D14</a:t>
            </a:r>
          </a:p>
        </p:txBody>
      </p:sp>
      <p:sp>
        <p:nvSpPr>
          <p:cNvPr id="19" name="editable-text-10-18">
            <a:extLst xmlns:a="http://schemas.openxmlformats.org/drawingml/2006/main">
              <a:ext uri="{FF2B5EF4-FFF2-40B4-BE49-F238E27FC236}">
                <a16:creationId xmlns:a16="http://schemas.microsoft.com/office/drawing/2014/main" id="{6E21A61E-DE0B-4176-ABA7-9740DE88D633}"/>
              </a:ext>
            </a:extLst>
          </p:cNvPr>
          <p:cNvSpPr>
            <a:spLocks xmlns:a="http://schemas.openxmlformats.org/drawingml/2006/main" noGrp="1"/>
          </p:cNvSpPr>
          <p:nvPr/>
        </p:nvSpPr>
        <p:spPr>
          <a:xfrm xmlns:a="http://schemas.openxmlformats.org/drawingml/2006/main">
            <a:off x="8538401" y="6290120"/>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D30</a:t>
            </a:r>
          </a:p>
        </p:txBody>
      </p:sp>
      <p:sp>
        <p:nvSpPr>
          <p:cNvPr id="20" name="editable-text-10-19">
            <a:extLst xmlns:a="http://schemas.openxmlformats.org/drawingml/2006/main">
              <a:ext uri="{FF2B5EF4-FFF2-40B4-BE49-F238E27FC236}">
                <a16:creationId xmlns:a16="http://schemas.microsoft.com/office/drawing/2014/main" id="{B1D1C777-2506-4E97-AC2C-FC764D8264B0}"/>
              </a:ext>
            </a:extLst>
          </p:cNvPr>
          <p:cNvSpPr>
            <a:spLocks xmlns:a="http://schemas.openxmlformats.org/drawingml/2006/main" noGrp="1"/>
          </p:cNvSpPr>
          <p:nvPr/>
        </p:nvSpPr>
        <p:spPr>
          <a:xfrm xmlns:a="http://schemas.openxmlformats.org/drawingml/2006/main">
            <a:off x="9543193" y="6290120"/>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D45</a:t>
            </a:r>
          </a:p>
        </p:txBody>
      </p:sp>
      <p:sp>
        <p:nvSpPr>
          <p:cNvPr id="21" name="editable-text-10-20">
            <a:extLst xmlns:a="http://schemas.openxmlformats.org/drawingml/2006/main">
              <a:ext uri="{FF2B5EF4-FFF2-40B4-BE49-F238E27FC236}">
                <a16:creationId xmlns:a16="http://schemas.microsoft.com/office/drawing/2014/main" id="{67202202-8EA0-43AA-8072-43C1FA42CECB}"/>
              </a:ext>
            </a:extLst>
          </p:cNvPr>
          <p:cNvSpPr>
            <a:spLocks xmlns:a="http://schemas.openxmlformats.org/drawingml/2006/main" noGrp="1"/>
          </p:cNvSpPr>
          <p:nvPr/>
        </p:nvSpPr>
        <p:spPr>
          <a:xfrm xmlns:a="http://schemas.openxmlformats.org/drawingml/2006/main">
            <a:off x="10548080" y="6290120"/>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D60</a:t>
            </a:r>
          </a:p>
        </p:txBody>
      </p:sp>
      <p:sp>
        <p:nvSpPr>
          <p:cNvPr id="22" name="editable-text-10-21">
            <a:extLst xmlns:a="http://schemas.openxmlformats.org/drawingml/2006/main">
              <a:ext uri="{FF2B5EF4-FFF2-40B4-BE49-F238E27FC236}">
                <a16:creationId xmlns:a16="http://schemas.microsoft.com/office/drawing/2014/main" id="{C5DF5A7A-4ED7-4853-8A08-EB7C18FFF1E5}"/>
              </a:ext>
            </a:extLst>
          </p:cNvPr>
          <p:cNvSpPr>
            <a:spLocks xmlns:a="http://schemas.openxmlformats.org/drawingml/2006/main" noGrp="1"/>
          </p:cNvSpPr>
          <p:nvPr/>
        </p:nvSpPr>
        <p:spPr>
          <a:xfrm xmlns:a="http://schemas.openxmlformats.org/drawingml/2006/main">
            <a:off x="11552873" y="6290120"/>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D90</a:t>
            </a:r>
          </a:p>
        </p:txBody>
      </p:sp>
      <p:sp>
        <p:nvSpPr>
          <p:cNvPr id="23" name="editable-text-10-22">
            <a:extLst xmlns:a="http://schemas.openxmlformats.org/drawingml/2006/main">
              <a:ext uri="{FF2B5EF4-FFF2-40B4-BE49-F238E27FC236}">
                <a16:creationId xmlns:a16="http://schemas.microsoft.com/office/drawing/2014/main" id="{64B7CB1D-43BC-44B9-AEC6-EC9C9062FD1E}"/>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10 / 12</a:t>
            </a:r>
          </a:p>
        </p:txBody>
      </p:sp>
    </p:spTree>
    <p:extLst>
      <p:ext uri="{BB962C8B-B14F-4D97-AF65-F5344CB8AC3E}">
        <p14:creationId xmlns:p14="http://schemas.microsoft.com/office/powerpoint/2010/main" val="180642126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0008bd643b846f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11-01">
            <a:extLst xmlns:a="http://schemas.openxmlformats.org/drawingml/2006/main">
              <a:ext uri="{FF2B5EF4-FFF2-40B4-BE49-F238E27FC236}">
                <a16:creationId xmlns:a16="http://schemas.microsoft.com/office/drawing/2014/main" id="{10AD519D-208E-43A0-9170-736B5D3A1F82}"/>
              </a:ext>
            </a:extLst>
          </p:cNvPr>
          <p:cNvSpPr>
            <a:spLocks xmlns:a="http://schemas.openxmlformats.org/drawingml/2006/main" noGrp="1"/>
          </p:cNvSpPr>
          <p:nvPr/>
        </p:nvSpPr>
        <p:spPr>
          <a:xfrm xmlns:a="http://schemas.openxmlformats.org/drawingml/2006/main">
            <a:off x="507968" y="457200"/>
            <a:ext cx="2561939" cy="4381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A0A0A">
                    <a:alpha val="0"/>
                  </a:srgbClr>
                </a:solidFill>
                <a:latin typeface="Space Grotesk"/>
                <a:ea typeface="Space Grotesk"/>
                <a:cs typeface="Space Grotesk"/>
              </a:defRPr>
            </a:pPr>
            <a:r>
              <a:rPr sz="3150" b="1">
                <a:solidFill>
                  <a:srgbClr val="0A0A0A">
                    <a:alpha val="0"/>
                  </a:srgbClr>
                </a:solidFill>
                <a:latin typeface="Space Grotesk"/>
                <a:ea typeface="Space Grotesk"/>
                <a:cs typeface="Space Grotesk"/>
              </a:rPr>
              <a:t>From insight</a:t>
            </a:r>
          </a:p>
        </p:txBody>
      </p:sp>
      <p:sp>
        <p:nvSpPr>
          <p:cNvPr id="3" name="editable-text-11-02">
            <a:extLst xmlns:a="http://schemas.openxmlformats.org/drawingml/2006/main">
              <a:ext uri="{FF2B5EF4-FFF2-40B4-BE49-F238E27FC236}">
                <a16:creationId xmlns:a16="http://schemas.microsoft.com/office/drawing/2014/main" id="{93DDAA80-60D2-41D8-BBD0-D03FE54B2960}"/>
              </a:ext>
            </a:extLst>
          </p:cNvPr>
          <p:cNvSpPr>
            <a:spLocks xmlns:a="http://schemas.openxmlformats.org/drawingml/2006/main" noGrp="1"/>
          </p:cNvSpPr>
          <p:nvPr/>
        </p:nvSpPr>
        <p:spPr>
          <a:xfrm xmlns:a="http://schemas.openxmlformats.org/drawingml/2006/main">
            <a:off x="507968" y="812768"/>
            <a:ext cx="2238280" cy="4381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A0A0A">
                    <a:alpha val="0"/>
                  </a:srgbClr>
                </a:solidFill>
                <a:latin typeface="Space Grotesk"/>
                <a:ea typeface="Space Grotesk"/>
                <a:cs typeface="Space Grotesk"/>
              </a:defRPr>
            </a:pPr>
            <a:r>
              <a:rPr sz="3150" b="1">
                <a:solidFill>
                  <a:srgbClr val="0A0A0A">
                    <a:alpha val="0"/>
                  </a:srgbClr>
                </a:solidFill>
                <a:latin typeface="Space Grotesk"/>
                <a:ea typeface="Space Grotesk"/>
                <a:cs typeface="Space Grotesk"/>
              </a:rPr>
              <a:t>to default,</a:t>
            </a:r>
          </a:p>
        </p:txBody>
      </p:sp>
      <p:sp>
        <p:nvSpPr>
          <p:cNvPr id="4" name="editable-text-11-03">
            <a:extLst xmlns:a="http://schemas.openxmlformats.org/drawingml/2006/main">
              <a:ext uri="{FF2B5EF4-FFF2-40B4-BE49-F238E27FC236}">
                <a16:creationId xmlns:a16="http://schemas.microsoft.com/office/drawing/2014/main" id="{7538A64B-ACAC-4FE2-BBA8-D2E235A1B75F}"/>
              </a:ext>
            </a:extLst>
          </p:cNvPr>
          <p:cNvSpPr>
            <a:spLocks xmlns:a="http://schemas.openxmlformats.org/drawingml/2006/main" noGrp="1"/>
          </p:cNvSpPr>
          <p:nvPr/>
        </p:nvSpPr>
        <p:spPr>
          <a:xfrm xmlns:a="http://schemas.openxmlformats.org/drawingml/2006/main">
            <a:off x="507968" y="1168432"/>
            <a:ext cx="2690241" cy="4381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A0A0A">
                    <a:alpha val="0"/>
                  </a:srgbClr>
                </a:solidFill>
                <a:latin typeface="Space Grotesk"/>
                <a:ea typeface="Space Grotesk"/>
                <a:cs typeface="Space Grotesk"/>
              </a:defRPr>
            </a:pPr>
            <a:r>
              <a:rPr sz="3150" b="1">
                <a:solidFill>
                  <a:srgbClr val="0A0A0A">
                    <a:alpha val="0"/>
                  </a:srgbClr>
                </a:solidFill>
                <a:latin typeface="Space Grotesk"/>
                <a:ea typeface="Space Grotesk"/>
                <a:cs typeface="Space Grotesk"/>
              </a:rPr>
              <a:t>in five moves.</a:t>
            </a:r>
          </a:p>
        </p:txBody>
      </p:sp>
      <p:sp>
        <p:nvSpPr>
          <p:cNvPr id="5" name="editable-text-11-04">
            <a:extLst xmlns:a="http://schemas.openxmlformats.org/drawingml/2006/main">
              <a:ext uri="{FF2B5EF4-FFF2-40B4-BE49-F238E27FC236}">
                <a16:creationId xmlns:a16="http://schemas.microsoft.com/office/drawing/2014/main" id="{0B3E52E4-42C6-4FF6-8CDF-2147440E8880}"/>
              </a:ext>
            </a:extLst>
          </p:cNvPr>
          <p:cNvSpPr>
            <a:spLocks xmlns:a="http://schemas.openxmlformats.org/drawingml/2006/main" noGrp="1"/>
          </p:cNvSpPr>
          <p:nvPr/>
        </p:nvSpPr>
        <p:spPr>
          <a:xfrm xmlns:a="http://schemas.openxmlformats.org/drawingml/2006/main">
            <a:off x="8353996" y="482632"/>
            <a:ext cx="3155728" cy="71056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JetBrains Mono"/>
                <a:ea typeface="JetBrains Mono"/>
                <a:cs typeface="JetBrains Mono"/>
              </a:defRPr>
            </a:pPr>
            <a:r>
              <a:rPr sz="1073" b="0">
                <a:solidFill>
                  <a:srgbClr val="0A0A0A">
                    <a:alpha val="0"/>
                  </a:srgbClr>
                </a:solidFill>
                <a:latin typeface="JetBrains Mono"/>
                <a:ea typeface="JetBrains Mono"/>
                <a:cs typeface="JetBrains Mono"/>
              </a:rPr>
              <a:t>A repeatable path each pilot follows end-to-end before it is allowed to graduate to the default experience for every customer.</a:t>
            </a:r>
          </a:p>
        </p:txBody>
      </p:sp>
      <p:sp>
        <p:nvSpPr>
          <p:cNvPr id="6" name="editable-text-11-05">
            <a:extLst xmlns:a="http://schemas.openxmlformats.org/drawingml/2006/main">
              <a:ext uri="{FF2B5EF4-FFF2-40B4-BE49-F238E27FC236}">
                <a16:creationId xmlns:a16="http://schemas.microsoft.com/office/drawing/2014/main" id="{6C609280-8B3F-43B3-AF5A-6FF201DEF868}"/>
              </a:ext>
            </a:extLst>
          </p:cNvPr>
          <p:cNvSpPr>
            <a:spLocks xmlns:a="http://schemas.openxmlformats.org/drawingml/2006/main" noGrp="1"/>
          </p:cNvSpPr>
          <p:nvPr/>
        </p:nvSpPr>
        <p:spPr>
          <a:xfrm xmlns:a="http://schemas.openxmlformats.org/drawingml/2006/main">
            <a:off x="419100" y="3223260"/>
            <a:ext cx="7696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01 · Frame</a:t>
            </a:r>
          </a:p>
        </p:txBody>
      </p:sp>
      <p:sp>
        <p:nvSpPr>
          <p:cNvPr id="7" name="editable-text-11-06">
            <a:extLst xmlns:a="http://schemas.openxmlformats.org/drawingml/2006/main">
              <a:ext uri="{FF2B5EF4-FFF2-40B4-BE49-F238E27FC236}">
                <a16:creationId xmlns:a16="http://schemas.microsoft.com/office/drawing/2014/main" id="{329579D0-9FA1-45BA-A43A-EFB87CC254E3}"/>
              </a:ext>
            </a:extLst>
          </p:cNvPr>
          <p:cNvSpPr>
            <a:spLocks xmlns:a="http://schemas.openxmlformats.org/drawingml/2006/main" noGrp="1"/>
          </p:cNvSpPr>
          <p:nvPr/>
        </p:nvSpPr>
        <p:spPr>
          <a:xfrm xmlns:a="http://schemas.openxmlformats.org/drawingml/2006/main">
            <a:off x="419100" y="3460909"/>
            <a:ext cx="1203389"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1">
                <a:solidFill>
                  <a:srgbClr val="0A0A0A">
                    <a:alpha val="0"/>
                  </a:srgbClr>
                </a:solidFill>
                <a:latin typeface="Space Grotesk"/>
                <a:ea typeface="Space Grotesk"/>
                <a:cs typeface="Space Grotesk"/>
              </a:defRPr>
            </a:pPr>
            <a:r>
              <a:rPr sz="1463" b="1">
                <a:solidFill>
                  <a:srgbClr val="0A0A0A">
                    <a:alpha val="0"/>
                  </a:srgbClr>
                </a:solidFill>
                <a:latin typeface="Space Grotesk"/>
                <a:ea typeface="Space Grotesk"/>
                <a:cs typeface="Space Grotesk"/>
              </a:rPr>
              <a:t>Hypothesise</a:t>
            </a:r>
          </a:p>
        </p:txBody>
      </p:sp>
      <p:sp>
        <p:nvSpPr>
          <p:cNvPr id="8" name="editable-text-11-07">
            <a:extLst xmlns:a="http://schemas.openxmlformats.org/drawingml/2006/main">
              <a:ext uri="{FF2B5EF4-FFF2-40B4-BE49-F238E27FC236}">
                <a16:creationId xmlns:a16="http://schemas.microsoft.com/office/drawing/2014/main" id="{C80A20D3-0F94-446F-966D-8D1CFC5CECEF}"/>
              </a:ext>
            </a:extLst>
          </p:cNvPr>
          <p:cNvSpPr>
            <a:spLocks xmlns:a="http://schemas.openxmlformats.org/drawingml/2006/main" noGrp="1"/>
          </p:cNvSpPr>
          <p:nvPr/>
        </p:nvSpPr>
        <p:spPr>
          <a:xfrm xmlns:a="http://schemas.openxmlformats.org/drawingml/2006/main">
            <a:off x="419100" y="3765709"/>
            <a:ext cx="1448753" cy="68522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Translate the insight into a single behavioural hypothesis we can falsify within a sprint.</a:t>
            </a:r>
          </a:p>
        </p:txBody>
      </p:sp>
      <p:sp>
        <p:nvSpPr>
          <p:cNvPr id="9" name="editable-text-11-08">
            <a:extLst xmlns:a="http://schemas.openxmlformats.org/drawingml/2006/main">
              <a:ext uri="{FF2B5EF4-FFF2-40B4-BE49-F238E27FC236}">
                <a16:creationId xmlns:a16="http://schemas.microsoft.com/office/drawing/2014/main" id="{B0A5DA80-0422-43DF-97ED-9293E71D065B}"/>
              </a:ext>
            </a:extLst>
          </p:cNvPr>
          <p:cNvSpPr>
            <a:spLocks xmlns:a="http://schemas.openxmlformats.org/drawingml/2006/main" noGrp="1"/>
          </p:cNvSpPr>
          <p:nvPr/>
        </p:nvSpPr>
        <p:spPr>
          <a:xfrm xmlns:a="http://schemas.openxmlformats.org/drawingml/2006/main">
            <a:off x="2379059" y="3308890"/>
            <a:ext cx="842867"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02 · Design</a:t>
            </a:r>
          </a:p>
        </p:txBody>
      </p:sp>
      <p:sp>
        <p:nvSpPr>
          <p:cNvPr id="10" name="editable-text-11-09">
            <a:extLst xmlns:a="http://schemas.openxmlformats.org/drawingml/2006/main">
              <a:ext uri="{FF2B5EF4-FFF2-40B4-BE49-F238E27FC236}">
                <a16:creationId xmlns:a16="http://schemas.microsoft.com/office/drawing/2014/main" id="{EFD634A6-3BDE-43DD-86EF-0FB375B3BC20}"/>
              </a:ext>
            </a:extLst>
          </p:cNvPr>
          <p:cNvSpPr>
            <a:spLocks xmlns:a="http://schemas.openxmlformats.org/drawingml/2006/main" noGrp="1"/>
          </p:cNvSpPr>
          <p:nvPr/>
        </p:nvSpPr>
        <p:spPr>
          <a:xfrm xmlns:a="http://schemas.openxmlformats.org/drawingml/2006/main">
            <a:off x="2379059" y="3546538"/>
            <a:ext cx="711994"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1">
                <a:solidFill>
                  <a:srgbClr val="0A0A0A">
                    <a:alpha val="0"/>
                  </a:srgbClr>
                </a:solidFill>
                <a:latin typeface="Space Grotesk"/>
                <a:ea typeface="Space Grotesk"/>
                <a:cs typeface="Space Grotesk"/>
              </a:defRPr>
            </a:pPr>
            <a:r>
              <a:rPr sz="1463" b="1">
                <a:solidFill>
                  <a:srgbClr val="0A0A0A">
                    <a:alpha val="0"/>
                  </a:srgbClr>
                </a:solidFill>
                <a:latin typeface="Space Grotesk"/>
                <a:ea typeface="Space Grotesk"/>
                <a:cs typeface="Space Grotesk"/>
              </a:rPr>
              <a:t>Sketch</a:t>
            </a:r>
          </a:p>
        </p:txBody>
      </p:sp>
      <p:sp>
        <p:nvSpPr>
          <p:cNvPr id="11" name="editable-text-11-10">
            <a:extLst xmlns:a="http://schemas.openxmlformats.org/drawingml/2006/main">
              <a:ext uri="{FF2B5EF4-FFF2-40B4-BE49-F238E27FC236}">
                <a16:creationId xmlns:a16="http://schemas.microsoft.com/office/drawing/2014/main" id="{639935C8-B067-4B23-AA1E-2CBC75FF68A7}"/>
              </a:ext>
            </a:extLst>
          </p:cNvPr>
          <p:cNvSpPr>
            <a:spLocks xmlns:a="http://schemas.openxmlformats.org/drawingml/2006/main" noGrp="1"/>
          </p:cNvSpPr>
          <p:nvPr/>
        </p:nvSpPr>
        <p:spPr>
          <a:xfrm xmlns:a="http://schemas.openxmlformats.org/drawingml/2006/main">
            <a:off x="2379059" y="3851338"/>
            <a:ext cx="1547241"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Smallest end-to-end change that lets the hypothesis be tested cleanly.</a:t>
            </a:r>
          </a:p>
        </p:txBody>
      </p:sp>
      <p:sp>
        <p:nvSpPr>
          <p:cNvPr id="12" name="editable-text-11-11">
            <a:extLst xmlns:a="http://schemas.openxmlformats.org/drawingml/2006/main">
              <a:ext uri="{FF2B5EF4-FFF2-40B4-BE49-F238E27FC236}">
                <a16:creationId xmlns:a16="http://schemas.microsoft.com/office/drawing/2014/main" id="{07714EF8-09DD-486D-9038-584CA3684336}"/>
              </a:ext>
            </a:extLst>
          </p:cNvPr>
          <p:cNvSpPr>
            <a:spLocks xmlns:a="http://schemas.openxmlformats.org/drawingml/2006/main" noGrp="1"/>
          </p:cNvSpPr>
          <p:nvPr/>
        </p:nvSpPr>
        <p:spPr>
          <a:xfrm xmlns:a="http://schemas.openxmlformats.org/drawingml/2006/main">
            <a:off x="4339114" y="3308890"/>
            <a:ext cx="76962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03 · Pilot</a:t>
            </a:r>
          </a:p>
        </p:txBody>
      </p:sp>
      <p:sp>
        <p:nvSpPr>
          <p:cNvPr id="13" name="editable-text-11-12">
            <a:extLst xmlns:a="http://schemas.openxmlformats.org/drawingml/2006/main">
              <a:ext uri="{FF2B5EF4-FFF2-40B4-BE49-F238E27FC236}">
                <a16:creationId xmlns:a16="http://schemas.microsoft.com/office/drawing/2014/main" id="{D167DE9C-C9C5-4422-AA4D-549E4FDC8672}"/>
              </a:ext>
            </a:extLst>
          </p:cNvPr>
          <p:cNvSpPr>
            <a:spLocks xmlns:a="http://schemas.openxmlformats.org/drawingml/2006/main" noGrp="1"/>
          </p:cNvSpPr>
          <p:nvPr/>
        </p:nvSpPr>
        <p:spPr>
          <a:xfrm xmlns:a="http://schemas.openxmlformats.org/drawingml/2006/main">
            <a:off x="4339114" y="3546538"/>
            <a:ext cx="871252"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1">
                <a:solidFill>
                  <a:srgbClr val="0A0A0A">
                    <a:alpha val="0"/>
                  </a:srgbClr>
                </a:solidFill>
                <a:latin typeface="Space Grotesk"/>
                <a:ea typeface="Space Grotesk"/>
                <a:cs typeface="Space Grotesk"/>
              </a:defRPr>
            </a:pPr>
            <a:r>
              <a:rPr sz="1463" b="1">
                <a:solidFill>
                  <a:srgbClr val="0A0A0A">
                    <a:alpha val="0"/>
                  </a:srgbClr>
                </a:solidFill>
                <a:latin typeface="Space Grotesk"/>
                <a:ea typeface="Space Grotesk"/>
                <a:cs typeface="Space Grotesk"/>
              </a:rPr>
              <a:t>Ship 50/50</a:t>
            </a:r>
          </a:p>
        </p:txBody>
      </p:sp>
      <p:sp>
        <p:nvSpPr>
          <p:cNvPr id="14" name="editable-text-11-13">
            <a:extLst xmlns:a="http://schemas.openxmlformats.org/drawingml/2006/main">
              <a:ext uri="{FF2B5EF4-FFF2-40B4-BE49-F238E27FC236}">
                <a16:creationId xmlns:a16="http://schemas.microsoft.com/office/drawing/2014/main" id="{E8E78B96-2A6D-457B-BB83-50B7CA3A593A}"/>
              </a:ext>
            </a:extLst>
          </p:cNvPr>
          <p:cNvSpPr>
            <a:spLocks xmlns:a="http://schemas.openxmlformats.org/drawingml/2006/main" noGrp="1"/>
          </p:cNvSpPr>
          <p:nvPr/>
        </p:nvSpPr>
        <p:spPr>
          <a:xfrm xmlns:a="http://schemas.openxmlformats.org/drawingml/2006/main">
            <a:off x="4339114" y="3851338"/>
            <a:ext cx="1473232"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Holdout in one segment. Hold the line for two cycles before reading.</a:t>
            </a:r>
          </a:p>
        </p:txBody>
      </p:sp>
      <p:sp>
        <p:nvSpPr>
          <p:cNvPr id="15" name="editable-text-11-14">
            <a:extLst xmlns:a="http://schemas.openxmlformats.org/drawingml/2006/main">
              <a:ext uri="{FF2B5EF4-FFF2-40B4-BE49-F238E27FC236}">
                <a16:creationId xmlns:a16="http://schemas.microsoft.com/office/drawing/2014/main" id="{B5595D9F-A1F2-4331-B602-6BD59B25139E}"/>
              </a:ext>
            </a:extLst>
          </p:cNvPr>
          <p:cNvSpPr>
            <a:spLocks xmlns:a="http://schemas.openxmlformats.org/drawingml/2006/main" noGrp="1"/>
          </p:cNvSpPr>
          <p:nvPr/>
        </p:nvSpPr>
        <p:spPr>
          <a:xfrm xmlns:a="http://schemas.openxmlformats.org/drawingml/2006/main">
            <a:off x="6299073" y="3308890"/>
            <a:ext cx="696563"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04 · Read</a:t>
            </a:r>
          </a:p>
        </p:txBody>
      </p:sp>
      <p:sp>
        <p:nvSpPr>
          <p:cNvPr id="16" name="editable-text-11-15">
            <a:extLst xmlns:a="http://schemas.openxmlformats.org/drawingml/2006/main">
              <a:ext uri="{FF2B5EF4-FFF2-40B4-BE49-F238E27FC236}">
                <a16:creationId xmlns:a16="http://schemas.microsoft.com/office/drawing/2014/main" id="{3E572083-91A7-40E9-BB1E-8A19DAF0938C}"/>
              </a:ext>
            </a:extLst>
          </p:cNvPr>
          <p:cNvSpPr>
            <a:spLocks xmlns:a="http://schemas.openxmlformats.org/drawingml/2006/main" noGrp="1"/>
          </p:cNvSpPr>
          <p:nvPr/>
        </p:nvSpPr>
        <p:spPr>
          <a:xfrm xmlns:a="http://schemas.openxmlformats.org/drawingml/2006/main">
            <a:off x="6299073" y="3546538"/>
            <a:ext cx="657035"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1">
                <a:solidFill>
                  <a:srgbClr val="0A0A0A">
                    <a:alpha val="0"/>
                  </a:srgbClr>
                </a:solidFill>
                <a:latin typeface="Space Grotesk"/>
                <a:ea typeface="Space Grotesk"/>
                <a:cs typeface="Space Grotesk"/>
              </a:defRPr>
            </a:pPr>
            <a:r>
              <a:rPr sz="1463" b="1">
                <a:solidFill>
                  <a:srgbClr val="0A0A0A">
                    <a:alpha val="0"/>
                  </a:srgbClr>
                </a:solidFill>
                <a:latin typeface="Space Grotesk"/>
                <a:ea typeface="Space Grotesk"/>
                <a:cs typeface="Space Grotesk"/>
              </a:rPr>
              <a:t>Decide</a:t>
            </a:r>
          </a:p>
        </p:txBody>
      </p:sp>
      <p:sp>
        <p:nvSpPr>
          <p:cNvPr id="17" name="editable-text-11-16">
            <a:extLst xmlns:a="http://schemas.openxmlformats.org/drawingml/2006/main">
              <a:ext uri="{FF2B5EF4-FFF2-40B4-BE49-F238E27FC236}">
                <a16:creationId xmlns:a16="http://schemas.microsoft.com/office/drawing/2014/main" id="{BE2756E7-0B88-4D11-8E85-AFE6D3B74A9E}"/>
              </a:ext>
            </a:extLst>
          </p:cNvPr>
          <p:cNvSpPr>
            <a:spLocks xmlns:a="http://schemas.openxmlformats.org/drawingml/2006/main" noGrp="1"/>
          </p:cNvSpPr>
          <p:nvPr/>
        </p:nvSpPr>
        <p:spPr>
          <a:xfrm xmlns:a="http://schemas.openxmlformats.org/drawingml/2006/main">
            <a:off x="6299073" y="3851338"/>
            <a:ext cx="1504283"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Pre-registered metrics only. Kill, scale, or extend — not three of three.</a:t>
            </a:r>
          </a:p>
        </p:txBody>
      </p:sp>
      <p:sp>
        <p:nvSpPr>
          <p:cNvPr id="18" name="editable-text-11-17">
            <a:extLst xmlns:a="http://schemas.openxmlformats.org/drawingml/2006/main">
              <a:ext uri="{FF2B5EF4-FFF2-40B4-BE49-F238E27FC236}">
                <a16:creationId xmlns:a16="http://schemas.microsoft.com/office/drawing/2014/main" id="{CFB2D8DE-AE87-4AFF-829D-77EE17F39F88}"/>
              </a:ext>
            </a:extLst>
          </p:cNvPr>
          <p:cNvSpPr>
            <a:spLocks xmlns:a="http://schemas.openxmlformats.org/drawingml/2006/main" noGrp="1"/>
          </p:cNvSpPr>
          <p:nvPr/>
        </p:nvSpPr>
        <p:spPr>
          <a:xfrm xmlns:a="http://schemas.openxmlformats.org/drawingml/2006/main">
            <a:off x="8259128" y="3223260"/>
            <a:ext cx="916019"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05 · Default</a:t>
            </a:r>
          </a:p>
        </p:txBody>
      </p:sp>
      <p:sp>
        <p:nvSpPr>
          <p:cNvPr id="19" name="editable-text-11-18">
            <a:extLst xmlns:a="http://schemas.openxmlformats.org/drawingml/2006/main">
              <a:ext uri="{FF2B5EF4-FFF2-40B4-BE49-F238E27FC236}">
                <a16:creationId xmlns:a16="http://schemas.microsoft.com/office/drawing/2014/main" id="{7D59DE59-CFC0-41B7-A9FF-8B59CF5C8018}"/>
              </a:ext>
            </a:extLst>
          </p:cNvPr>
          <p:cNvSpPr>
            <a:spLocks xmlns:a="http://schemas.openxmlformats.org/drawingml/2006/main" noGrp="1"/>
          </p:cNvSpPr>
          <p:nvPr/>
        </p:nvSpPr>
        <p:spPr>
          <a:xfrm xmlns:a="http://schemas.openxmlformats.org/drawingml/2006/main">
            <a:off x="8259128" y="3460909"/>
            <a:ext cx="954881"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1">
                <a:solidFill>
                  <a:srgbClr val="0A0A0A">
                    <a:alpha val="0"/>
                  </a:srgbClr>
                </a:solidFill>
                <a:latin typeface="Space Grotesk"/>
                <a:ea typeface="Space Grotesk"/>
                <a:cs typeface="Space Grotesk"/>
              </a:defRPr>
            </a:pPr>
            <a:r>
              <a:rPr sz="1463" b="1">
                <a:solidFill>
                  <a:srgbClr val="0A0A0A">
                    <a:alpha val="0"/>
                  </a:srgbClr>
                </a:solidFill>
                <a:latin typeface="Space Grotesk"/>
                <a:ea typeface="Space Grotesk"/>
                <a:cs typeface="Space Grotesk"/>
              </a:rPr>
              <a:t>Graduate</a:t>
            </a:r>
          </a:p>
        </p:txBody>
      </p:sp>
      <p:sp>
        <p:nvSpPr>
          <p:cNvPr id="20" name="editable-text-11-19">
            <a:extLst xmlns:a="http://schemas.openxmlformats.org/drawingml/2006/main">
              <a:ext uri="{FF2B5EF4-FFF2-40B4-BE49-F238E27FC236}">
                <a16:creationId xmlns:a16="http://schemas.microsoft.com/office/drawing/2014/main" id="{28FED39D-B03A-4C4A-9EB4-A5D2FB3DD64B}"/>
              </a:ext>
            </a:extLst>
          </p:cNvPr>
          <p:cNvSpPr>
            <a:spLocks xmlns:a="http://schemas.openxmlformats.org/drawingml/2006/main" noGrp="1"/>
          </p:cNvSpPr>
          <p:nvPr/>
        </p:nvSpPr>
        <p:spPr>
          <a:xfrm xmlns:a="http://schemas.openxmlformats.org/drawingml/2006/main">
            <a:off x="8259128" y="3765709"/>
            <a:ext cx="1560481" cy="68522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Space Grotesk"/>
                <a:ea typeface="Space Grotesk"/>
                <a:cs typeface="Space Grotesk"/>
              </a:defRPr>
            </a:pPr>
            <a:r>
              <a:rPr sz="1073" b="0">
                <a:solidFill>
                  <a:srgbClr val="0A0A0A">
                    <a:alpha val="0"/>
                  </a:srgbClr>
                </a:solidFill>
                <a:latin typeface="Space Grotesk"/>
                <a:ea typeface="Space Grotesk"/>
                <a:cs typeface="Space Grotesk"/>
              </a:rPr>
              <a:t>Promote to the default surface and retire the legacy path inside the same release.</a:t>
            </a:r>
          </a:p>
        </p:txBody>
      </p:sp>
      <p:sp>
        <p:nvSpPr>
          <p:cNvPr id="21" name="editable-text-11-20">
            <a:extLst xmlns:a="http://schemas.openxmlformats.org/drawingml/2006/main">
              <a:ext uri="{FF2B5EF4-FFF2-40B4-BE49-F238E27FC236}">
                <a16:creationId xmlns:a16="http://schemas.microsoft.com/office/drawing/2014/main" id="{D1DA3DC0-356E-4A32-BCA2-56DF245436EF}"/>
              </a:ext>
            </a:extLst>
          </p:cNvPr>
          <p:cNvSpPr>
            <a:spLocks xmlns:a="http://schemas.openxmlformats.org/drawingml/2006/main" noGrp="1"/>
          </p:cNvSpPr>
          <p:nvPr/>
        </p:nvSpPr>
        <p:spPr>
          <a:xfrm xmlns:a="http://schemas.openxmlformats.org/drawingml/2006/main">
            <a:off x="10219277" y="3308890"/>
            <a:ext cx="5501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Outcome</a:t>
            </a:r>
          </a:p>
        </p:txBody>
      </p:sp>
      <p:sp>
        <p:nvSpPr>
          <p:cNvPr id="22" name="editable-text-11-21">
            <a:extLst xmlns:a="http://schemas.openxmlformats.org/drawingml/2006/main">
              <a:ext uri="{FF2B5EF4-FFF2-40B4-BE49-F238E27FC236}">
                <a16:creationId xmlns:a16="http://schemas.microsoft.com/office/drawing/2014/main" id="{59F4F3A5-1B1E-4280-B14C-6D8D2D46D88F}"/>
              </a:ext>
            </a:extLst>
          </p:cNvPr>
          <p:cNvSpPr>
            <a:spLocks xmlns:a="http://schemas.openxmlformats.org/drawingml/2006/main" noGrp="1"/>
          </p:cNvSpPr>
          <p:nvPr/>
        </p:nvSpPr>
        <p:spPr>
          <a:xfrm xmlns:a="http://schemas.openxmlformats.org/drawingml/2006/main">
            <a:off x="10219277" y="3546538"/>
            <a:ext cx="1209104"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1">
                <a:solidFill>
                  <a:srgbClr val="F5F4EF">
                    <a:alpha val="0"/>
                  </a:srgbClr>
                </a:solidFill>
                <a:latin typeface="Space Grotesk"/>
                <a:ea typeface="Space Grotesk"/>
                <a:cs typeface="Space Grotesk"/>
              </a:defRPr>
            </a:pPr>
            <a:r>
              <a:rPr sz="1463" b="1">
                <a:solidFill>
                  <a:srgbClr val="F5F4EF">
                    <a:alpha val="0"/>
                  </a:srgbClr>
                </a:solidFill>
                <a:latin typeface="Space Grotesk"/>
                <a:ea typeface="Space Grotesk"/>
                <a:cs typeface="Space Grotesk"/>
              </a:rPr>
              <a:t>New default</a:t>
            </a:r>
          </a:p>
        </p:txBody>
      </p:sp>
      <p:sp>
        <p:nvSpPr>
          <p:cNvPr id="23" name="editable-text-11-22">
            <a:extLst xmlns:a="http://schemas.openxmlformats.org/drawingml/2006/main">
              <a:ext uri="{FF2B5EF4-FFF2-40B4-BE49-F238E27FC236}">
                <a16:creationId xmlns:a16="http://schemas.microsoft.com/office/drawing/2014/main" id="{3A904665-2F5A-4D8A-824B-42930359B4C2}"/>
              </a:ext>
            </a:extLst>
          </p:cNvPr>
          <p:cNvSpPr>
            <a:spLocks xmlns:a="http://schemas.openxmlformats.org/drawingml/2006/main" noGrp="1"/>
          </p:cNvSpPr>
          <p:nvPr/>
        </p:nvSpPr>
        <p:spPr>
          <a:xfrm xmlns:a="http://schemas.openxmlformats.org/drawingml/2006/main">
            <a:off x="10219277" y="3851338"/>
            <a:ext cx="1459802"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F5F4EF">
                    <a:alpha val="0"/>
                  </a:srgbClr>
                </a:solidFill>
                <a:latin typeface="Space Grotesk"/>
                <a:ea typeface="Space Grotesk"/>
                <a:cs typeface="Space Grotesk"/>
              </a:defRPr>
            </a:pPr>
            <a:r>
              <a:rPr sz="1073" b="0">
                <a:solidFill>
                  <a:srgbClr val="F5F4EF">
                    <a:alpha val="0"/>
                  </a:srgbClr>
                </a:solidFill>
                <a:latin typeface="Space Grotesk"/>
                <a:ea typeface="Space Grotesk"/>
                <a:cs typeface="Space Grotesk"/>
              </a:rPr>
              <a:t>A change every customer feels — backed by a result we can show.</a:t>
            </a:r>
          </a:p>
        </p:txBody>
      </p:sp>
      <p:sp>
        <p:nvSpPr>
          <p:cNvPr id="24" name="editable-text-11-23">
            <a:extLst xmlns:a="http://schemas.openxmlformats.org/drawingml/2006/main">
              <a:ext uri="{FF2B5EF4-FFF2-40B4-BE49-F238E27FC236}">
                <a16:creationId xmlns:a16="http://schemas.microsoft.com/office/drawing/2014/main" id="{7C4C54C6-0206-44AB-B66C-1E2FA9CF3189}"/>
              </a:ext>
            </a:extLst>
          </p:cNvPr>
          <p:cNvSpPr>
            <a:spLocks xmlns:a="http://schemas.openxmlformats.org/drawingml/2006/main" noGrp="1"/>
          </p:cNvSpPr>
          <p:nvPr/>
        </p:nvSpPr>
        <p:spPr>
          <a:xfrm xmlns:a="http://schemas.openxmlformats.org/drawingml/2006/main">
            <a:off x="431768" y="6172391"/>
            <a:ext cx="10338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Week 1 · Frame</a:t>
            </a:r>
          </a:p>
        </p:txBody>
      </p:sp>
      <p:sp>
        <p:nvSpPr>
          <p:cNvPr id="25" name="editable-text-11-24">
            <a:extLst xmlns:a="http://schemas.openxmlformats.org/drawingml/2006/main">
              <a:ext uri="{FF2B5EF4-FFF2-40B4-BE49-F238E27FC236}">
                <a16:creationId xmlns:a16="http://schemas.microsoft.com/office/drawing/2014/main" id="{83D5FBFD-E4B0-4088-9123-E3B5ABA7ACBC}"/>
              </a:ext>
            </a:extLst>
          </p:cNvPr>
          <p:cNvSpPr>
            <a:spLocks xmlns:a="http://schemas.openxmlformats.org/drawingml/2006/main" noGrp="1"/>
          </p:cNvSpPr>
          <p:nvPr/>
        </p:nvSpPr>
        <p:spPr>
          <a:xfrm xmlns:a="http://schemas.openxmlformats.org/drawingml/2006/main">
            <a:off x="2319814" y="6172391"/>
            <a:ext cx="124720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Week 2–3 · Design</a:t>
            </a:r>
          </a:p>
        </p:txBody>
      </p:sp>
      <p:sp>
        <p:nvSpPr>
          <p:cNvPr id="26" name="editable-text-11-25">
            <a:extLst xmlns:a="http://schemas.openxmlformats.org/drawingml/2006/main">
              <a:ext uri="{FF2B5EF4-FFF2-40B4-BE49-F238E27FC236}">
                <a16:creationId xmlns:a16="http://schemas.microsoft.com/office/drawing/2014/main" id="{C4E8076F-8197-4253-8597-5BD183FC6593}"/>
              </a:ext>
            </a:extLst>
          </p:cNvPr>
          <p:cNvSpPr>
            <a:spLocks xmlns:a="http://schemas.openxmlformats.org/drawingml/2006/main" noGrp="1"/>
          </p:cNvSpPr>
          <p:nvPr/>
        </p:nvSpPr>
        <p:spPr>
          <a:xfrm xmlns:a="http://schemas.openxmlformats.org/drawingml/2006/main">
            <a:off x="4207859" y="6172391"/>
            <a:ext cx="117605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Week 3–6 · Pilot</a:t>
            </a:r>
          </a:p>
        </p:txBody>
      </p:sp>
      <p:sp>
        <p:nvSpPr>
          <p:cNvPr id="27" name="editable-text-11-26">
            <a:extLst xmlns:a="http://schemas.openxmlformats.org/drawingml/2006/main">
              <a:ext uri="{FF2B5EF4-FFF2-40B4-BE49-F238E27FC236}">
                <a16:creationId xmlns:a16="http://schemas.microsoft.com/office/drawing/2014/main" id="{8D6364A8-1741-4FC4-8674-79D5FBBDDB54}"/>
              </a:ext>
            </a:extLst>
          </p:cNvPr>
          <p:cNvSpPr>
            <a:spLocks xmlns:a="http://schemas.openxmlformats.org/drawingml/2006/main" noGrp="1"/>
          </p:cNvSpPr>
          <p:nvPr/>
        </p:nvSpPr>
        <p:spPr>
          <a:xfrm xmlns:a="http://schemas.openxmlformats.org/drawingml/2006/main">
            <a:off x="6095905" y="6172391"/>
            <a:ext cx="96269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Week 7 · Read</a:t>
            </a:r>
          </a:p>
        </p:txBody>
      </p:sp>
      <p:sp>
        <p:nvSpPr>
          <p:cNvPr id="28" name="editable-text-11-27">
            <a:extLst xmlns:a="http://schemas.openxmlformats.org/drawingml/2006/main">
              <a:ext uri="{FF2B5EF4-FFF2-40B4-BE49-F238E27FC236}">
                <a16:creationId xmlns:a16="http://schemas.microsoft.com/office/drawing/2014/main" id="{0525CB50-AC5E-4550-9643-9A933D267388}"/>
              </a:ext>
            </a:extLst>
          </p:cNvPr>
          <p:cNvSpPr>
            <a:spLocks xmlns:a="http://schemas.openxmlformats.org/drawingml/2006/main" noGrp="1"/>
          </p:cNvSpPr>
          <p:nvPr/>
        </p:nvSpPr>
        <p:spPr>
          <a:xfrm xmlns:a="http://schemas.openxmlformats.org/drawingml/2006/main">
            <a:off x="7983950" y="6172391"/>
            <a:ext cx="117605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Week 8 · Default</a:t>
            </a:r>
          </a:p>
        </p:txBody>
      </p:sp>
      <p:sp>
        <p:nvSpPr>
          <p:cNvPr id="29" name="editable-text-11-28">
            <a:extLst xmlns:a="http://schemas.openxmlformats.org/drawingml/2006/main">
              <a:ext uri="{FF2B5EF4-FFF2-40B4-BE49-F238E27FC236}">
                <a16:creationId xmlns:a16="http://schemas.microsoft.com/office/drawing/2014/main" id="{016266D5-0EAE-497B-B1B0-91B2A1A4B9B2}"/>
              </a:ext>
            </a:extLst>
          </p:cNvPr>
          <p:cNvSpPr>
            <a:spLocks xmlns:a="http://schemas.openxmlformats.org/drawingml/2006/main" noGrp="1"/>
          </p:cNvSpPr>
          <p:nvPr/>
        </p:nvSpPr>
        <p:spPr>
          <a:xfrm xmlns:a="http://schemas.openxmlformats.org/drawingml/2006/main">
            <a:off x="9871996" y="6172391"/>
            <a:ext cx="11049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Total · 8 weeks</a:t>
            </a:r>
          </a:p>
        </p:txBody>
      </p:sp>
      <p:sp>
        <p:nvSpPr>
          <p:cNvPr id="30" name="editable-text-11-29">
            <a:extLst xmlns:a="http://schemas.openxmlformats.org/drawingml/2006/main">
              <a:ext uri="{FF2B5EF4-FFF2-40B4-BE49-F238E27FC236}">
                <a16:creationId xmlns:a16="http://schemas.microsoft.com/office/drawing/2014/main" id="{2F0BEC9B-9F63-4CF2-A20F-FCAE040B1BE9}"/>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11 / 12</a:t>
            </a:r>
          </a:p>
        </p:txBody>
      </p:sp>
    </p:spTree>
    <p:extLst>
      <p:ext uri="{BB962C8B-B14F-4D97-AF65-F5344CB8AC3E}">
        <p14:creationId xmlns:p14="http://schemas.microsoft.com/office/powerpoint/2010/main" val="143239585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a4e41ebc3008460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12-01">
            <a:extLst xmlns:a="http://schemas.openxmlformats.org/drawingml/2006/main">
              <a:ext uri="{FF2B5EF4-FFF2-40B4-BE49-F238E27FC236}">
                <a16:creationId xmlns:a16="http://schemas.microsoft.com/office/drawing/2014/main" id="{B61CCB0B-4772-4B02-AFE5-48178E3FB17C}"/>
              </a:ext>
            </a:extLst>
          </p:cNvPr>
          <p:cNvSpPr>
            <a:spLocks xmlns:a="http://schemas.openxmlformats.org/drawingml/2006/main" noGrp="1"/>
          </p:cNvSpPr>
          <p:nvPr/>
        </p:nvSpPr>
        <p:spPr>
          <a:xfrm xmlns:a="http://schemas.openxmlformats.org/drawingml/2006/main">
            <a:off x="457200" y="374618"/>
            <a:ext cx="3263646"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Where each</a:t>
            </a:r>
          </a:p>
        </p:txBody>
      </p:sp>
      <p:sp>
        <p:nvSpPr>
          <p:cNvPr id="3" name="editable-text-12-02">
            <a:extLst xmlns:a="http://schemas.openxmlformats.org/drawingml/2006/main">
              <a:ext uri="{FF2B5EF4-FFF2-40B4-BE49-F238E27FC236}">
                <a16:creationId xmlns:a16="http://schemas.microsoft.com/office/drawing/2014/main" id="{A4C47793-E9A8-4FFD-A34C-3706AADEA7D5}"/>
              </a:ext>
            </a:extLst>
          </p:cNvPr>
          <p:cNvSpPr>
            <a:spLocks xmlns:a="http://schemas.openxmlformats.org/drawingml/2006/main" noGrp="1"/>
          </p:cNvSpPr>
          <p:nvPr/>
        </p:nvSpPr>
        <p:spPr>
          <a:xfrm xmlns:a="http://schemas.openxmlformats.org/drawingml/2006/main">
            <a:off x="457200" y="833056"/>
            <a:ext cx="3202877"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pilot earns</a:t>
            </a:r>
          </a:p>
        </p:txBody>
      </p:sp>
      <p:sp>
        <p:nvSpPr>
          <p:cNvPr id="4" name="editable-text-12-03">
            <a:extLst xmlns:a="http://schemas.openxmlformats.org/drawingml/2006/main">
              <a:ext uri="{FF2B5EF4-FFF2-40B4-BE49-F238E27FC236}">
                <a16:creationId xmlns:a16="http://schemas.microsoft.com/office/drawing/2014/main" id="{C8C63A39-FDE9-4840-8F71-1EFB5DD03D6A}"/>
              </a:ext>
            </a:extLst>
          </p:cNvPr>
          <p:cNvSpPr>
            <a:spLocks xmlns:a="http://schemas.openxmlformats.org/drawingml/2006/main" noGrp="1"/>
          </p:cNvSpPr>
          <p:nvPr/>
        </p:nvSpPr>
        <p:spPr>
          <a:xfrm xmlns:a="http://schemas.openxmlformats.org/drawingml/2006/main">
            <a:off x="457200" y="1291400"/>
            <a:ext cx="2243900" cy="577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0A0A0A">
                    <a:alpha val="0"/>
                  </a:srgbClr>
                </a:solidFill>
                <a:latin typeface="Space Grotesk"/>
                <a:ea typeface="Space Grotesk"/>
                <a:cs typeface="Space Grotesk"/>
              </a:defRPr>
            </a:pPr>
            <a:r>
              <a:rPr sz="4275" b="1">
                <a:solidFill>
                  <a:srgbClr val="0A0A0A">
                    <a:alpha val="0"/>
                  </a:srgbClr>
                </a:solidFill>
                <a:latin typeface="Space Grotesk"/>
                <a:ea typeface="Space Grotesk"/>
                <a:cs typeface="Space Grotesk"/>
              </a:rPr>
              <a:t>its keep.</a:t>
            </a:r>
          </a:p>
        </p:txBody>
      </p:sp>
      <p:sp>
        <p:nvSpPr>
          <p:cNvPr id="5" name="editable-text-12-04">
            <a:extLst xmlns:a="http://schemas.openxmlformats.org/drawingml/2006/main">
              <a:ext uri="{FF2B5EF4-FFF2-40B4-BE49-F238E27FC236}">
                <a16:creationId xmlns:a16="http://schemas.microsoft.com/office/drawing/2014/main" id="{DC10159C-D192-4CD7-AEEE-8E859B701FB4}"/>
              </a:ext>
            </a:extLst>
          </p:cNvPr>
          <p:cNvSpPr>
            <a:spLocks xmlns:a="http://schemas.openxmlformats.org/drawingml/2006/main" noGrp="1"/>
          </p:cNvSpPr>
          <p:nvPr/>
        </p:nvSpPr>
        <p:spPr>
          <a:xfrm xmlns:a="http://schemas.openxmlformats.org/drawingml/2006/main">
            <a:off x="8404955" y="419100"/>
            <a:ext cx="3237833" cy="71056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0A0A0A">
                    <a:alpha val="0"/>
                  </a:srgbClr>
                </a:solidFill>
                <a:latin typeface="JetBrains Mono"/>
                <a:ea typeface="JetBrains Mono"/>
                <a:cs typeface="JetBrains Mono"/>
              </a:defRPr>
            </a:pPr>
            <a:r>
              <a:rPr sz="1073" b="0">
                <a:solidFill>
                  <a:srgbClr val="0A0A0A">
                    <a:alpha val="0"/>
                  </a:srgbClr>
                </a:solidFill>
                <a:latin typeface="JetBrains Mono"/>
                <a:ea typeface="JetBrains Mono"/>
                <a:cs typeface="JetBrains Mono"/>
              </a:rPr>
              <a:t>Scored against the four levers that matter most this cycle. We will only carry forward bets that win on at least two.</a:t>
            </a:r>
          </a:p>
        </p:txBody>
      </p:sp>
      <p:sp>
        <p:nvSpPr>
          <p:cNvPr id="6" name="editable-text-12-05">
            <a:extLst xmlns:a="http://schemas.openxmlformats.org/drawingml/2006/main">
              <a:ext uri="{FF2B5EF4-FFF2-40B4-BE49-F238E27FC236}">
                <a16:creationId xmlns:a16="http://schemas.microsoft.com/office/drawing/2014/main" id="{B1FF8CA9-6B2E-4E10-86C3-3CFCC7D23993}"/>
              </a:ext>
            </a:extLst>
          </p:cNvPr>
          <p:cNvSpPr>
            <a:spLocks xmlns:a="http://schemas.openxmlformats.org/drawingml/2006/main" noGrp="1"/>
          </p:cNvSpPr>
          <p:nvPr/>
        </p:nvSpPr>
        <p:spPr>
          <a:xfrm xmlns:a="http://schemas.openxmlformats.org/drawingml/2006/main">
            <a:off x="393668" y="2183321"/>
            <a:ext cx="403955"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Lever</a:t>
            </a:r>
          </a:p>
        </p:txBody>
      </p:sp>
      <p:sp>
        <p:nvSpPr>
          <p:cNvPr id="7" name="editable-text-12-06">
            <a:extLst xmlns:a="http://schemas.openxmlformats.org/drawingml/2006/main">
              <a:ext uri="{FF2B5EF4-FFF2-40B4-BE49-F238E27FC236}">
                <a16:creationId xmlns:a16="http://schemas.microsoft.com/office/drawing/2014/main" id="{0E19A19B-4746-4542-BFFE-2B4F336FC36B}"/>
              </a:ext>
            </a:extLst>
          </p:cNvPr>
          <p:cNvSpPr>
            <a:spLocks xmlns:a="http://schemas.openxmlformats.org/drawingml/2006/main" noGrp="1"/>
          </p:cNvSpPr>
          <p:nvPr/>
        </p:nvSpPr>
        <p:spPr>
          <a:xfrm xmlns:a="http://schemas.openxmlformats.org/drawingml/2006/main">
            <a:off x="4288346" y="2183321"/>
            <a:ext cx="1135475"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Rewrite welcome</a:t>
            </a:r>
          </a:p>
        </p:txBody>
      </p:sp>
      <p:sp>
        <p:nvSpPr>
          <p:cNvPr id="8" name="editable-text-12-07">
            <a:extLst xmlns:a="http://schemas.openxmlformats.org/drawingml/2006/main">
              <a:ext uri="{FF2B5EF4-FFF2-40B4-BE49-F238E27FC236}">
                <a16:creationId xmlns:a16="http://schemas.microsoft.com/office/drawing/2014/main" id="{C141AF8E-A58A-41DD-B8CE-2FADA15AD393}"/>
              </a:ext>
            </a:extLst>
          </p:cNvPr>
          <p:cNvSpPr>
            <a:spLocks xmlns:a="http://schemas.openxmlformats.org/drawingml/2006/main" noGrp="1"/>
          </p:cNvSpPr>
          <p:nvPr/>
        </p:nvSpPr>
        <p:spPr>
          <a:xfrm xmlns:a="http://schemas.openxmlformats.org/drawingml/2006/main">
            <a:off x="6884765" y="2183321"/>
            <a:ext cx="106222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Quiet upgrades</a:t>
            </a:r>
          </a:p>
        </p:txBody>
      </p:sp>
      <p:sp>
        <p:nvSpPr>
          <p:cNvPr id="9" name="editable-text-12-08">
            <a:extLst xmlns:a="http://schemas.openxmlformats.org/drawingml/2006/main">
              <a:ext uri="{FF2B5EF4-FFF2-40B4-BE49-F238E27FC236}">
                <a16:creationId xmlns:a16="http://schemas.microsoft.com/office/drawing/2014/main" id="{57FA6442-E6F9-4D40-8D7D-139B12D58BAD}"/>
              </a:ext>
            </a:extLst>
          </p:cNvPr>
          <p:cNvSpPr>
            <a:spLocks xmlns:a="http://schemas.openxmlformats.org/drawingml/2006/main" noGrp="1"/>
          </p:cNvSpPr>
          <p:nvPr/>
        </p:nvSpPr>
        <p:spPr>
          <a:xfrm xmlns:a="http://schemas.openxmlformats.org/drawingml/2006/main">
            <a:off x="9481280" y="2183321"/>
            <a:ext cx="1135475"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Inbox-as-search</a:t>
            </a:r>
          </a:p>
        </p:txBody>
      </p:sp>
      <p:sp>
        <p:nvSpPr>
          <p:cNvPr id="10" name="editable-text-12-09">
            <a:extLst xmlns:a="http://schemas.openxmlformats.org/drawingml/2006/main">
              <a:ext uri="{FF2B5EF4-FFF2-40B4-BE49-F238E27FC236}">
                <a16:creationId xmlns:a16="http://schemas.microsoft.com/office/drawing/2014/main" id="{33E7CB2A-DAB7-41AB-9635-614E764D1A70}"/>
              </a:ext>
            </a:extLst>
          </p:cNvPr>
          <p:cNvSpPr>
            <a:spLocks xmlns:a="http://schemas.openxmlformats.org/drawingml/2006/main" noGrp="1"/>
          </p:cNvSpPr>
          <p:nvPr/>
        </p:nvSpPr>
        <p:spPr>
          <a:xfrm xmlns:a="http://schemas.openxmlformats.org/drawingml/2006/main">
            <a:off x="393668" y="2957798"/>
            <a:ext cx="1171670" cy="196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0A0A0A">
                    <a:alpha val="0"/>
                  </a:srgbClr>
                </a:solidFill>
                <a:latin typeface="Space Grotesk"/>
                <a:ea typeface="Space Grotesk"/>
                <a:cs typeface="Space Grotesk"/>
              </a:defRPr>
            </a:pPr>
            <a:r>
              <a:rPr sz="1238" b="1">
                <a:solidFill>
                  <a:srgbClr val="0A0A0A">
                    <a:alpha val="0"/>
                  </a:srgbClr>
                </a:solidFill>
                <a:latin typeface="Space Grotesk"/>
                <a:ea typeface="Space Grotesk"/>
                <a:cs typeface="Space Grotesk"/>
              </a:rPr>
              <a:t>Time-to-impact</a:t>
            </a:r>
          </a:p>
        </p:txBody>
      </p:sp>
      <p:sp>
        <p:nvSpPr>
          <p:cNvPr id="11" name="editable-text-12-10">
            <a:extLst xmlns:a="http://schemas.openxmlformats.org/drawingml/2006/main">
              <a:ext uri="{FF2B5EF4-FFF2-40B4-BE49-F238E27FC236}">
                <a16:creationId xmlns:a16="http://schemas.microsoft.com/office/drawing/2014/main" id="{9B0075C1-2409-4E4D-A2D5-0438B3C05709}"/>
              </a:ext>
            </a:extLst>
          </p:cNvPr>
          <p:cNvSpPr>
            <a:spLocks xmlns:a="http://schemas.openxmlformats.org/drawingml/2006/main" noGrp="1"/>
          </p:cNvSpPr>
          <p:nvPr/>
        </p:nvSpPr>
        <p:spPr>
          <a:xfrm xmlns:a="http://schemas.openxmlformats.org/drawingml/2006/main">
            <a:off x="4377214" y="2966942"/>
            <a:ext cx="6548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 4 weeks</a:t>
            </a:r>
          </a:p>
        </p:txBody>
      </p:sp>
      <p:sp>
        <p:nvSpPr>
          <p:cNvPr id="12" name="editable-text-12-11">
            <a:extLst xmlns:a="http://schemas.openxmlformats.org/drawingml/2006/main">
              <a:ext uri="{FF2B5EF4-FFF2-40B4-BE49-F238E27FC236}">
                <a16:creationId xmlns:a16="http://schemas.microsoft.com/office/drawing/2014/main" id="{72C4F2B4-0644-4866-86A1-5D3984E0F301}"/>
              </a:ext>
            </a:extLst>
          </p:cNvPr>
          <p:cNvSpPr>
            <a:spLocks xmlns:a="http://schemas.openxmlformats.org/drawingml/2006/main" noGrp="1"/>
          </p:cNvSpPr>
          <p:nvPr/>
        </p:nvSpPr>
        <p:spPr>
          <a:xfrm xmlns:a="http://schemas.openxmlformats.org/drawingml/2006/main">
            <a:off x="6980015" y="2966942"/>
            <a:ext cx="65989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6–8 weeks</a:t>
            </a:r>
          </a:p>
        </p:txBody>
      </p:sp>
      <p:sp>
        <p:nvSpPr>
          <p:cNvPr id="13" name="editable-text-12-12">
            <a:extLst xmlns:a="http://schemas.openxmlformats.org/drawingml/2006/main">
              <a:ext uri="{FF2B5EF4-FFF2-40B4-BE49-F238E27FC236}">
                <a16:creationId xmlns:a16="http://schemas.microsoft.com/office/drawing/2014/main" id="{382BEB04-72F9-47A2-99B2-72B872382871}"/>
              </a:ext>
            </a:extLst>
          </p:cNvPr>
          <p:cNvSpPr>
            <a:spLocks xmlns:a="http://schemas.openxmlformats.org/drawingml/2006/main" noGrp="1"/>
          </p:cNvSpPr>
          <p:nvPr/>
        </p:nvSpPr>
        <p:spPr>
          <a:xfrm xmlns:a="http://schemas.openxmlformats.org/drawingml/2006/main">
            <a:off x="9570149" y="2966942"/>
            <a:ext cx="6548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 4 weeks</a:t>
            </a:r>
          </a:p>
        </p:txBody>
      </p:sp>
      <p:sp>
        <p:nvSpPr>
          <p:cNvPr id="14" name="editable-text-12-13">
            <a:extLst xmlns:a="http://schemas.openxmlformats.org/drawingml/2006/main">
              <a:ext uri="{FF2B5EF4-FFF2-40B4-BE49-F238E27FC236}">
                <a16:creationId xmlns:a16="http://schemas.microsoft.com/office/drawing/2014/main" id="{E45EF7B6-3A4E-4B56-80C9-B3903DD5F230}"/>
              </a:ext>
            </a:extLst>
          </p:cNvPr>
          <p:cNvSpPr>
            <a:spLocks xmlns:a="http://schemas.openxmlformats.org/drawingml/2006/main" noGrp="1"/>
          </p:cNvSpPr>
          <p:nvPr/>
        </p:nvSpPr>
        <p:spPr>
          <a:xfrm xmlns:a="http://schemas.openxmlformats.org/drawingml/2006/main">
            <a:off x="393668" y="3745802"/>
            <a:ext cx="884873" cy="196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0A0A0A">
                    <a:alpha val="0"/>
                  </a:srgbClr>
                </a:solidFill>
                <a:latin typeface="Space Grotesk"/>
                <a:ea typeface="Space Grotesk"/>
                <a:cs typeface="Space Grotesk"/>
              </a:defRPr>
            </a:pPr>
            <a:r>
              <a:rPr sz="1238" b="1">
                <a:solidFill>
                  <a:srgbClr val="0A0A0A">
                    <a:alpha val="0"/>
                  </a:srgbClr>
                </a:solidFill>
                <a:latin typeface="Space Grotesk"/>
                <a:ea typeface="Space Grotesk"/>
                <a:cs typeface="Space Grotesk"/>
              </a:rPr>
              <a:t>Build cost</a:t>
            </a:r>
          </a:p>
        </p:txBody>
      </p:sp>
      <p:sp>
        <p:nvSpPr>
          <p:cNvPr id="15" name="editable-text-12-14">
            <a:extLst xmlns:a="http://schemas.openxmlformats.org/drawingml/2006/main">
              <a:ext uri="{FF2B5EF4-FFF2-40B4-BE49-F238E27FC236}">
                <a16:creationId xmlns:a16="http://schemas.microsoft.com/office/drawing/2014/main" id="{9AE1DDAA-3A66-439B-A118-8A2CD01F389F}"/>
              </a:ext>
            </a:extLst>
          </p:cNvPr>
          <p:cNvSpPr>
            <a:spLocks xmlns:a="http://schemas.openxmlformats.org/drawingml/2006/main" noGrp="1"/>
          </p:cNvSpPr>
          <p:nvPr/>
        </p:nvSpPr>
        <p:spPr>
          <a:xfrm xmlns:a="http://schemas.openxmlformats.org/drawingml/2006/main">
            <a:off x="4377214" y="3755041"/>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Low</a:t>
            </a:r>
          </a:p>
        </p:txBody>
      </p:sp>
      <p:sp>
        <p:nvSpPr>
          <p:cNvPr id="16" name="editable-text-12-15">
            <a:extLst xmlns:a="http://schemas.openxmlformats.org/drawingml/2006/main">
              <a:ext uri="{FF2B5EF4-FFF2-40B4-BE49-F238E27FC236}">
                <a16:creationId xmlns:a16="http://schemas.microsoft.com/office/drawing/2014/main" id="{5100CBD7-1876-4D55-872B-E451DA5A135B}"/>
              </a:ext>
            </a:extLst>
          </p:cNvPr>
          <p:cNvSpPr>
            <a:spLocks xmlns:a="http://schemas.openxmlformats.org/drawingml/2006/main" noGrp="1"/>
          </p:cNvSpPr>
          <p:nvPr/>
        </p:nvSpPr>
        <p:spPr>
          <a:xfrm xmlns:a="http://schemas.openxmlformats.org/drawingml/2006/main">
            <a:off x="6980015" y="3755041"/>
            <a:ext cx="452628"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Medium</a:t>
            </a:r>
          </a:p>
        </p:txBody>
      </p:sp>
      <p:sp>
        <p:nvSpPr>
          <p:cNvPr id="17" name="editable-text-12-16">
            <a:extLst xmlns:a="http://schemas.openxmlformats.org/drawingml/2006/main">
              <a:ext uri="{FF2B5EF4-FFF2-40B4-BE49-F238E27FC236}">
                <a16:creationId xmlns:a16="http://schemas.microsoft.com/office/drawing/2014/main" id="{0A781B90-CB2C-491B-86FC-A647E2436F94}"/>
              </a:ext>
            </a:extLst>
          </p:cNvPr>
          <p:cNvSpPr>
            <a:spLocks xmlns:a="http://schemas.openxmlformats.org/drawingml/2006/main" noGrp="1"/>
          </p:cNvSpPr>
          <p:nvPr/>
        </p:nvSpPr>
        <p:spPr>
          <a:xfrm xmlns:a="http://schemas.openxmlformats.org/drawingml/2006/main">
            <a:off x="9570149" y="3755041"/>
            <a:ext cx="24536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Low</a:t>
            </a:r>
          </a:p>
        </p:txBody>
      </p:sp>
      <p:sp>
        <p:nvSpPr>
          <p:cNvPr id="18" name="editable-text-12-17">
            <a:extLst xmlns:a="http://schemas.openxmlformats.org/drawingml/2006/main">
              <a:ext uri="{FF2B5EF4-FFF2-40B4-BE49-F238E27FC236}">
                <a16:creationId xmlns:a16="http://schemas.microsoft.com/office/drawing/2014/main" id="{412B66A0-D83D-484E-8AF8-8C58E8B1D109}"/>
              </a:ext>
            </a:extLst>
          </p:cNvPr>
          <p:cNvSpPr>
            <a:spLocks xmlns:a="http://schemas.openxmlformats.org/drawingml/2006/main" noGrp="1"/>
          </p:cNvSpPr>
          <p:nvPr/>
        </p:nvSpPr>
        <p:spPr>
          <a:xfrm xmlns:a="http://schemas.openxmlformats.org/drawingml/2006/main">
            <a:off x="393668" y="4533900"/>
            <a:ext cx="1799844" cy="196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0A0A0A">
                    <a:alpha val="0"/>
                  </a:srgbClr>
                </a:solidFill>
                <a:latin typeface="Space Grotesk"/>
                <a:ea typeface="Space Grotesk"/>
                <a:cs typeface="Space Grotesk"/>
              </a:defRPr>
            </a:pPr>
            <a:r>
              <a:rPr sz="1238" b="1">
                <a:solidFill>
                  <a:srgbClr val="0A0A0A">
                    <a:alpha val="0"/>
                  </a:srgbClr>
                </a:solidFill>
                <a:latin typeface="Space Grotesk"/>
                <a:ea typeface="Space Grotesk"/>
                <a:cs typeface="Space Grotesk"/>
              </a:rPr>
              <a:t>Retention lift (model)</a:t>
            </a:r>
          </a:p>
        </p:txBody>
      </p:sp>
      <p:sp>
        <p:nvSpPr>
          <p:cNvPr id="19" name="editable-text-12-18">
            <a:extLst xmlns:a="http://schemas.openxmlformats.org/drawingml/2006/main">
              <a:ext uri="{FF2B5EF4-FFF2-40B4-BE49-F238E27FC236}">
                <a16:creationId xmlns:a16="http://schemas.microsoft.com/office/drawing/2014/main" id="{5BAD6AA2-8471-4DDC-BCC1-8BC5A464685C}"/>
              </a:ext>
            </a:extLst>
          </p:cNvPr>
          <p:cNvSpPr>
            <a:spLocks xmlns:a="http://schemas.openxmlformats.org/drawingml/2006/main" noGrp="1"/>
          </p:cNvSpPr>
          <p:nvPr/>
        </p:nvSpPr>
        <p:spPr>
          <a:xfrm xmlns:a="http://schemas.openxmlformats.org/drawingml/2006/main">
            <a:off x="4377214" y="4543044"/>
            <a:ext cx="7981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+19 pts D90</a:t>
            </a:r>
          </a:p>
        </p:txBody>
      </p:sp>
      <p:sp>
        <p:nvSpPr>
          <p:cNvPr id="20" name="editable-text-12-19">
            <a:extLst xmlns:a="http://schemas.openxmlformats.org/drawingml/2006/main">
              <a:ext uri="{FF2B5EF4-FFF2-40B4-BE49-F238E27FC236}">
                <a16:creationId xmlns:a16="http://schemas.microsoft.com/office/drawing/2014/main" id="{2DF169E8-4A8B-434A-BB42-AE7F9E9BE163}"/>
              </a:ext>
            </a:extLst>
          </p:cNvPr>
          <p:cNvSpPr>
            <a:spLocks xmlns:a="http://schemas.openxmlformats.org/drawingml/2006/main" noGrp="1"/>
          </p:cNvSpPr>
          <p:nvPr/>
        </p:nvSpPr>
        <p:spPr>
          <a:xfrm xmlns:a="http://schemas.openxmlformats.org/drawingml/2006/main">
            <a:off x="6980015" y="4543044"/>
            <a:ext cx="7290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+7 pts D90</a:t>
            </a:r>
          </a:p>
        </p:txBody>
      </p:sp>
      <p:sp>
        <p:nvSpPr>
          <p:cNvPr id="21" name="editable-text-12-20">
            <a:extLst xmlns:a="http://schemas.openxmlformats.org/drawingml/2006/main">
              <a:ext uri="{FF2B5EF4-FFF2-40B4-BE49-F238E27FC236}">
                <a16:creationId xmlns:a16="http://schemas.microsoft.com/office/drawing/2014/main" id="{A7429233-7174-4139-B079-D3008AB6AB05}"/>
              </a:ext>
            </a:extLst>
          </p:cNvPr>
          <p:cNvSpPr>
            <a:spLocks xmlns:a="http://schemas.openxmlformats.org/drawingml/2006/main" noGrp="1"/>
          </p:cNvSpPr>
          <p:nvPr/>
        </p:nvSpPr>
        <p:spPr>
          <a:xfrm xmlns:a="http://schemas.openxmlformats.org/drawingml/2006/main">
            <a:off x="9576530" y="4543044"/>
            <a:ext cx="729044"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+5 pts D90</a:t>
            </a:r>
          </a:p>
        </p:txBody>
      </p:sp>
      <p:sp>
        <p:nvSpPr>
          <p:cNvPr id="22" name="editable-text-12-21">
            <a:extLst xmlns:a="http://schemas.openxmlformats.org/drawingml/2006/main">
              <a:ext uri="{FF2B5EF4-FFF2-40B4-BE49-F238E27FC236}">
                <a16:creationId xmlns:a16="http://schemas.microsoft.com/office/drawing/2014/main" id="{7E85B6C1-1563-4D62-99EB-76E10F251E01}"/>
              </a:ext>
            </a:extLst>
          </p:cNvPr>
          <p:cNvSpPr>
            <a:spLocks xmlns:a="http://schemas.openxmlformats.org/drawingml/2006/main" noGrp="1"/>
          </p:cNvSpPr>
          <p:nvPr/>
        </p:nvSpPr>
        <p:spPr>
          <a:xfrm xmlns:a="http://schemas.openxmlformats.org/drawingml/2006/main">
            <a:off x="393668" y="5325046"/>
            <a:ext cx="1675638" cy="1968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0A0A0A">
                    <a:alpha val="0"/>
                  </a:srgbClr>
                </a:solidFill>
                <a:latin typeface="Space Grotesk"/>
                <a:ea typeface="Space Grotesk"/>
                <a:cs typeface="Space Grotesk"/>
              </a:defRPr>
            </a:pPr>
            <a:r>
              <a:rPr sz="1238" b="1">
                <a:solidFill>
                  <a:srgbClr val="0A0A0A">
                    <a:alpha val="0"/>
                  </a:srgbClr>
                </a:solidFill>
                <a:latin typeface="Space Grotesk"/>
                <a:ea typeface="Space Grotesk"/>
                <a:cs typeface="Space Grotesk"/>
              </a:rPr>
              <a:t>Risk to power users</a:t>
            </a:r>
          </a:p>
        </p:txBody>
      </p:sp>
      <p:sp>
        <p:nvSpPr>
          <p:cNvPr id="23" name="editable-text-12-22">
            <a:extLst xmlns:a="http://schemas.openxmlformats.org/drawingml/2006/main">
              <a:ext uri="{FF2B5EF4-FFF2-40B4-BE49-F238E27FC236}">
                <a16:creationId xmlns:a16="http://schemas.microsoft.com/office/drawing/2014/main" id="{3EDB3714-E03D-4C91-BF06-9C89FDE6BCF4}"/>
              </a:ext>
            </a:extLst>
          </p:cNvPr>
          <p:cNvSpPr>
            <a:spLocks xmlns:a="http://schemas.openxmlformats.org/drawingml/2006/main" noGrp="1"/>
          </p:cNvSpPr>
          <p:nvPr/>
        </p:nvSpPr>
        <p:spPr>
          <a:xfrm xmlns:a="http://schemas.openxmlformats.org/drawingml/2006/main">
            <a:off x="4377214" y="5334191"/>
            <a:ext cx="31451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None</a:t>
            </a:r>
          </a:p>
        </p:txBody>
      </p:sp>
      <p:sp>
        <p:nvSpPr>
          <p:cNvPr id="24" name="editable-text-12-23">
            <a:extLst xmlns:a="http://schemas.openxmlformats.org/drawingml/2006/main">
              <a:ext uri="{FF2B5EF4-FFF2-40B4-BE49-F238E27FC236}">
                <a16:creationId xmlns:a16="http://schemas.microsoft.com/office/drawing/2014/main" id="{7D30D45D-D4D1-48A8-BBC1-EE828A5226B7}"/>
              </a:ext>
            </a:extLst>
          </p:cNvPr>
          <p:cNvSpPr>
            <a:spLocks xmlns:a="http://schemas.openxmlformats.org/drawingml/2006/main" noGrp="1"/>
          </p:cNvSpPr>
          <p:nvPr/>
        </p:nvSpPr>
        <p:spPr>
          <a:xfrm xmlns:a="http://schemas.openxmlformats.org/drawingml/2006/main">
            <a:off x="6973729" y="5334191"/>
            <a:ext cx="590836"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4EF">
                    <a:alpha val="0"/>
                  </a:srgbClr>
                </a:solidFill>
                <a:latin typeface="JetBrains Mono"/>
                <a:ea typeface="JetBrains Mono"/>
                <a:cs typeface="JetBrains Mono"/>
              </a:defRPr>
            </a:pPr>
            <a:r>
              <a:rPr sz="900" b="0">
                <a:solidFill>
                  <a:srgbClr val="F5F4EF">
                    <a:alpha val="0"/>
                  </a:srgbClr>
                </a:solidFill>
                <a:latin typeface="JetBrains Mono"/>
                <a:ea typeface="JetBrains Mono"/>
                <a:cs typeface="JetBrains Mono"/>
              </a:rPr>
              <a:t>Material</a:t>
            </a:r>
          </a:p>
        </p:txBody>
      </p:sp>
      <p:sp>
        <p:nvSpPr>
          <p:cNvPr id="25" name="editable-text-12-24">
            <a:extLst xmlns:a="http://schemas.openxmlformats.org/drawingml/2006/main">
              <a:ext uri="{FF2B5EF4-FFF2-40B4-BE49-F238E27FC236}">
                <a16:creationId xmlns:a16="http://schemas.microsoft.com/office/drawing/2014/main" id="{3AD395A6-09BE-4965-9179-9EFF4CC94E2D}"/>
              </a:ext>
            </a:extLst>
          </p:cNvPr>
          <p:cNvSpPr>
            <a:spLocks xmlns:a="http://schemas.openxmlformats.org/drawingml/2006/main" noGrp="1"/>
          </p:cNvSpPr>
          <p:nvPr/>
        </p:nvSpPr>
        <p:spPr>
          <a:xfrm xmlns:a="http://schemas.openxmlformats.org/drawingml/2006/main">
            <a:off x="9481280" y="5334191"/>
            <a:ext cx="1143572"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Soft, reversible</a:t>
            </a:r>
          </a:p>
        </p:txBody>
      </p:sp>
      <p:sp>
        <p:nvSpPr>
          <p:cNvPr id="26" name="editable-text-12-25">
            <a:extLst xmlns:a="http://schemas.openxmlformats.org/drawingml/2006/main">
              <a:ext uri="{FF2B5EF4-FFF2-40B4-BE49-F238E27FC236}">
                <a16:creationId xmlns:a16="http://schemas.microsoft.com/office/drawing/2014/main" id="{676BD31C-18AE-485C-8BAF-F7F3369E7FAC}"/>
              </a:ext>
            </a:extLst>
          </p:cNvPr>
          <p:cNvSpPr>
            <a:spLocks xmlns:a="http://schemas.openxmlformats.org/drawingml/2006/main" noGrp="1"/>
          </p:cNvSpPr>
          <p:nvPr/>
        </p:nvSpPr>
        <p:spPr>
          <a:xfrm xmlns:a="http://schemas.openxmlformats.org/drawingml/2006/main">
            <a:off x="139732" y="6633020"/>
            <a:ext cx="493300"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A0A0A">
                    <a:alpha val="0"/>
                  </a:srgbClr>
                </a:solidFill>
                <a:latin typeface="JetBrains Mono"/>
                <a:ea typeface="JetBrains Mono"/>
                <a:cs typeface="JetBrains Mono"/>
              </a:defRPr>
            </a:pPr>
            <a:r>
              <a:rPr sz="900" b="0">
                <a:solidFill>
                  <a:srgbClr val="0A0A0A">
                    <a:alpha val="0"/>
                  </a:srgbClr>
                </a:solidFill>
                <a:latin typeface="JetBrains Mono"/>
                <a:ea typeface="JetBrains Mono"/>
                <a:cs typeface="JetBrains Mono"/>
              </a:rPr>
              <a:t>12 / 12</a:t>
            </a:r>
          </a:p>
        </p:txBody>
      </p:sp>
    </p:spTree>
    <p:extLst>
      <p:ext uri="{BB962C8B-B14F-4D97-AF65-F5344CB8AC3E}">
        <p14:creationId xmlns:p14="http://schemas.microsoft.com/office/powerpoint/2010/main" val="264481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2026-06-08T02:12:14.3730000Z</dcterms:created>
  <dcterms:modified xsi:type="dcterms:W3CDTF">2026-06-08T02:12:14.3730000Z</dcterms:modified>
</coreProperties>
</file>