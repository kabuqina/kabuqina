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21dbf245db4f79" /><Relationship Type="http://schemas.openxmlformats.org/officeDocument/2006/relationships/extended-properties" Target="/docProps/app.xml" Id="R0f0143a89e6d4cf8" /><Relationship Type="http://schemas.openxmlformats.org/officeDocument/2006/relationships/officeDocument" Target="/ppt/presentation.xml" Id="R0f1a828e77da4271" /></Relationships>
</file>

<file path=ppt/presentation.xml><?xml version="1.0" encoding="utf-8"?>
<p:presentation xmlns:p="http://schemas.openxmlformats.org/presentationml/2006/main">
  <p:sldMasterIdLst>
    <p:sldMasterId xmlns:r="http://schemas.openxmlformats.org/officeDocument/2006/relationships" id="2147483648" r:id="Rc097de056f6f49b8"/>
  </p:sldMasterIdLst>
  <p:notesMasterIdLst>
    <p:notesMasterId xmlns:r="http://schemas.openxmlformats.org/officeDocument/2006/relationships" r:id="Rc08b1ead16874815"/>
  </p:notesMasterIdLst>
  <p:sldIdLst>
    <p:sldId xmlns:r="http://schemas.openxmlformats.org/officeDocument/2006/relationships" id="256" r:id="R06c85551d5e9447c"/>
    <p:sldId xmlns:r="http://schemas.openxmlformats.org/officeDocument/2006/relationships" id="257" r:id="R5302231c9f364c23"/>
    <p:sldId xmlns:r="http://schemas.openxmlformats.org/officeDocument/2006/relationships" id="258" r:id="Rbfe6f547f1474331"/>
    <p:sldId xmlns:r="http://schemas.openxmlformats.org/officeDocument/2006/relationships" id="259" r:id="R4fda926aa1fa4cf4"/>
    <p:sldId xmlns:r="http://schemas.openxmlformats.org/officeDocument/2006/relationships" id="260" r:id="Rd6e3687570bb4e78"/>
    <p:sldId xmlns:r="http://schemas.openxmlformats.org/officeDocument/2006/relationships" id="261" r:id="Reaa9f5584bc34a46"/>
    <p:sldId xmlns:r="http://schemas.openxmlformats.org/officeDocument/2006/relationships" id="262" r:id="R3be06980948a43c5"/>
    <p:sldId xmlns:r="http://schemas.openxmlformats.org/officeDocument/2006/relationships" id="263" r:id="R77d4c02ed6714f6a"/>
    <p:sldId xmlns:r="http://schemas.openxmlformats.org/officeDocument/2006/relationships" id="264" r:id="R762aa84cd9e04d42"/>
    <p:sldId xmlns:r="http://schemas.openxmlformats.org/officeDocument/2006/relationships" id="265" r:id="R40e0ca8ea3904ec1"/>
    <p:sldId xmlns:r="http://schemas.openxmlformats.org/officeDocument/2006/relationships" id="266" r:id="R798e6e4312d344f3"/>
    <p:sldId xmlns:r="http://schemas.openxmlformats.org/officeDocument/2006/relationships" id="267" r:id="R7045d7c027644ba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e58fbf09c304aea" /><Relationship Type="http://schemas.openxmlformats.org/officeDocument/2006/relationships/slideMaster" Target="/ppt/slideMasters/slideMaster1.xml" Id="Rc097de056f6f49b8" /><Relationship Type="http://schemas.openxmlformats.org/officeDocument/2006/relationships/notesMaster" Target="/ppt/notesMasters/notesMaster1.xml" Id="Rc08b1ead16874815" /><Relationship Type="http://schemas.openxmlformats.org/officeDocument/2006/relationships/presProps" Target="/ppt/presProps.xml" Id="Rdfc7f5a59ca64329" /><Relationship Type="http://schemas.openxmlformats.org/officeDocument/2006/relationships/viewProps" Target="/ppt/viewProps.xml" Id="R85a1546b9c3f4928" /><Relationship Type="http://schemas.openxmlformats.org/officeDocument/2006/relationships/tableStyles" Target="/ppt/tableStyles.xml" Id="R720f29b3d06e43d5" /><Relationship Type="http://schemas.openxmlformats.org/officeDocument/2006/relationships/slide" Target="/ppt/slides/slide1.xml" Id="R06c85551d5e9447c" /><Relationship Type="http://schemas.openxmlformats.org/officeDocument/2006/relationships/slide" Target="/ppt/slides/slide2.xml" Id="R5302231c9f364c23" /><Relationship Type="http://schemas.openxmlformats.org/officeDocument/2006/relationships/slide" Target="/ppt/slides/slide3.xml" Id="Rbfe6f547f1474331" /><Relationship Type="http://schemas.openxmlformats.org/officeDocument/2006/relationships/slide" Target="/ppt/slides/slide4.xml" Id="R4fda926aa1fa4cf4" /><Relationship Type="http://schemas.openxmlformats.org/officeDocument/2006/relationships/slide" Target="/ppt/slides/slide5.xml" Id="Rd6e3687570bb4e78" /><Relationship Type="http://schemas.openxmlformats.org/officeDocument/2006/relationships/slide" Target="/ppt/slides/slide6.xml" Id="Reaa9f5584bc34a46" /><Relationship Type="http://schemas.openxmlformats.org/officeDocument/2006/relationships/slide" Target="/ppt/slides/slide7.xml" Id="R3be06980948a43c5" /><Relationship Type="http://schemas.openxmlformats.org/officeDocument/2006/relationships/slide" Target="/ppt/slides/slide8.xml" Id="R77d4c02ed6714f6a" /><Relationship Type="http://schemas.openxmlformats.org/officeDocument/2006/relationships/slide" Target="/ppt/slides/slide9.xml" Id="R762aa84cd9e04d42" /><Relationship Type="http://schemas.openxmlformats.org/officeDocument/2006/relationships/slide" Target="/ppt/slides/slide10.xml" Id="R40e0ca8ea3904ec1" /><Relationship Type="http://schemas.openxmlformats.org/officeDocument/2006/relationships/slide" Target="/ppt/slides/slide11.xml" Id="R798e6e4312d344f3" /><Relationship Type="http://schemas.openxmlformats.org/officeDocument/2006/relationships/slide" Target="/ppt/slides/slide12.xml" Id="R7045d7c027644b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5866dd7d0242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75b7c9d7c34025" /><Relationship Type="http://schemas.openxmlformats.org/officeDocument/2006/relationships/notesMaster" Target="/ppt/notesMasters/notesMaster1.xml" Id="Rac4d0ea3c6f142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00aed730254e99" /><Relationship Type="http://schemas.openxmlformats.org/officeDocument/2006/relationships/notesMaster" Target="/ppt/notesMasters/notesMaster1.xml" Id="R4e3d577051bd40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4cd1f786fc4647" /><Relationship Type="http://schemas.openxmlformats.org/officeDocument/2006/relationships/notesMaster" Target="/ppt/notesMasters/notesMaster1.xml" Id="Rff96d283a5624c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93eb46d626438e" /><Relationship Type="http://schemas.openxmlformats.org/officeDocument/2006/relationships/notesMaster" Target="/ppt/notesMasters/notesMaster1.xml" Id="R1794145fa47444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df312b892149c8" /><Relationship Type="http://schemas.openxmlformats.org/officeDocument/2006/relationships/notesMaster" Target="/ppt/notesMasters/notesMaster1.xml" Id="R5050ed527d5842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ef0d397a15437d" /><Relationship Type="http://schemas.openxmlformats.org/officeDocument/2006/relationships/notesMaster" Target="/ppt/notesMasters/notesMaster1.xml" Id="Rf85ef5e6ca6448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6293d740094ed0" /><Relationship Type="http://schemas.openxmlformats.org/officeDocument/2006/relationships/notesMaster" Target="/ppt/notesMasters/notesMaster1.xml" Id="R21e05b99b5654f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4e53c9f7a04692" /><Relationship Type="http://schemas.openxmlformats.org/officeDocument/2006/relationships/notesMaster" Target="/ppt/notesMasters/notesMaster1.xml" Id="R4d276dcf34c749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2987caf50c457c" /><Relationship Type="http://schemas.openxmlformats.org/officeDocument/2006/relationships/notesMaster" Target="/ppt/notesMasters/notesMaster1.xml" Id="R906e2ebfad9e4a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f6ac90fa974e56" /><Relationship Type="http://schemas.openxmlformats.org/officeDocument/2006/relationships/notesMaster" Target="/ppt/notesMasters/notesMaster1.xml" Id="R532d7346562e4a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0a8196326140ce" /><Relationship Type="http://schemas.openxmlformats.org/officeDocument/2006/relationships/notesMaster" Target="/ppt/notesMasters/notesMaster1.xml" Id="R8baeb977f27042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372c831b6641b8" /><Relationship Type="http://schemas.openxmlformats.org/officeDocument/2006/relationships/notesMaster" Target="/ppt/notesMasters/notesMaster1.xml" Id="R20f9c8b109844a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c84306fe8346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88b7acc9c14839" /><Relationship Type="http://schemas.openxmlformats.org/officeDocument/2006/relationships/slideLayout" Target="/ppt/slideLayouts/slideLayout1.xml" Id="R0cf871aacbc142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f871aacbc142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12d9716fff4ee8" /><Relationship Type="http://schemas.openxmlformats.org/officeDocument/2006/relationships/image" Target="/ppt/media/image.png" Id="Rf189e181626646fd" /><Relationship Type="http://schemas.openxmlformats.org/officeDocument/2006/relationships/notesSlide" Target="/ppt/notesSlides/notesSlide1.xml" Id="R62daaf86bb224a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c11f854c47427b" /><Relationship Type="http://schemas.openxmlformats.org/officeDocument/2006/relationships/image" Target="/ppt/media/image2.png" Id="Rad24340308e34a25" /><Relationship Type="http://schemas.openxmlformats.org/officeDocument/2006/relationships/notesSlide" Target="/ppt/notesSlides/notesSlide2.xml" Id="Rf2f2891a75054a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059a97eda2495e" /><Relationship Type="http://schemas.openxmlformats.org/officeDocument/2006/relationships/image" Target="/ppt/media/image3.png" Id="Rb147482d87934148" /><Relationship Type="http://schemas.openxmlformats.org/officeDocument/2006/relationships/notesSlide" Target="/ppt/notesSlides/notesSlide3.xml" Id="R2f344318996749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75399e855c4763" /><Relationship Type="http://schemas.openxmlformats.org/officeDocument/2006/relationships/image" Target="/ppt/media/image4.png" Id="R9cd0913b8ff14c7b" /><Relationship Type="http://schemas.openxmlformats.org/officeDocument/2006/relationships/notesSlide" Target="/ppt/notesSlides/notesSlide4.xml" Id="R890a822475044a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d91a69639247fd" /><Relationship Type="http://schemas.openxmlformats.org/officeDocument/2006/relationships/image" Target="/ppt/media/image5.png" Id="R0718005253ae43f6" /><Relationship Type="http://schemas.openxmlformats.org/officeDocument/2006/relationships/notesSlide" Target="/ppt/notesSlides/notesSlide5.xml" Id="R133a5e56fbbf49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b40e01d44f491b" /><Relationship Type="http://schemas.openxmlformats.org/officeDocument/2006/relationships/image" Target="/ppt/media/image6.png" Id="Rba0159c52990496e" /><Relationship Type="http://schemas.openxmlformats.org/officeDocument/2006/relationships/notesSlide" Target="/ppt/notesSlides/notesSlide6.xml" Id="R14ce760083f849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efdcd79e4e455a" /><Relationship Type="http://schemas.openxmlformats.org/officeDocument/2006/relationships/image" Target="/ppt/media/image7.png" Id="R5cf910ef8c154a0d" /><Relationship Type="http://schemas.openxmlformats.org/officeDocument/2006/relationships/notesSlide" Target="/ppt/notesSlides/notesSlide7.xml" Id="Rb69e5cc7f8354c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405143accd4cf7" /><Relationship Type="http://schemas.openxmlformats.org/officeDocument/2006/relationships/image" Target="/ppt/media/image8.png" Id="R956cd421d2f846d9" /><Relationship Type="http://schemas.openxmlformats.org/officeDocument/2006/relationships/notesSlide" Target="/ppt/notesSlides/notesSlide8.xml" Id="R7331ba14a7ab49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67b72355063405b" /><Relationship Type="http://schemas.openxmlformats.org/officeDocument/2006/relationships/image" Target="/ppt/media/image9.png" Id="R3315f3ed80d942ab" /><Relationship Type="http://schemas.openxmlformats.org/officeDocument/2006/relationships/notesSlide" Target="/ppt/notesSlides/notesSlide9.xml" Id="R42b9d9a97db640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c8ab0ef6b64d7f" /><Relationship Type="http://schemas.openxmlformats.org/officeDocument/2006/relationships/image" Target="/ppt/media/image10.png" Id="R458485de94334209" /><Relationship Type="http://schemas.openxmlformats.org/officeDocument/2006/relationships/notesSlide" Target="/ppt/notesSlides/notesSlide10.xml" Id="Ree9624af6a1644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969ccd11bc42f8" /><Relationship Type="http://schemas.openxmlformats.org/officeDocument/2006/relationships/image" Target="/ppt/media/image11.png" Id="R57339f0757ee4e4f" /><Relationship Type="http://schemas.openxmlformats.org/officeDocument/2006/relationships/notesSlide" Target="/ppt/notesSlides/notesSlide11.xml" Id="R94da0953ca1b4d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e4548058914dac" /><Relationship Type="http://schemas.openxmlformats.org/officeDocument/2006/relationships/image" Target="/ppt/media/image12.png" Id="R599ba958c969455e" /><Relationship Type="http://schemas.openxmlformats.org/officeDocument/2006/relationships/notesSlide" Target="/ppt/notesSlides/notesSlide12.xml" Id="R9712b00835ab421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f189e181626646f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1-01">
            <a:extLst xmlns:a="http://schemas.openxmlformats.org/drawingml/2006/main">
              <a:ext uri="{FF2B5EF4-FFF2-40B4-BE49-F238E27FC236}">
                <a16:creationId xmlns:a16="http://schemas.microsoft.com/office/drawing/2014/main" id="{30C02804-CCD7-43DA-814F-AA3E6A4E597A}"/>
              </a:ext>
            </a:extLst>
          </p:cNvPr>
          <p:cNvSpPr>
            <a:spLocks xmlns:a="http://schemas.openxmlformats.org/drawingml/2006/main" noGrp="1"/>
          </p:cNvSpPr>
          <p:nvPr/>
        </p:nvSpPr>
        <p:spPr>
          <a:xfrm xmlns:a="http://schemas.openxmlformats.org/drawingml/2006/main">
            <a:off x="507968" y="387382"/>
            <a:ext cx="598170"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Field Notes</a:t>
            </a:r>
          </a:p>
        </p:txBody>
      </p:sp>
      <p:sp>
        <p:nvSpPr>
          <p:cNvPr id="3" name="editable-text-01-02">
            <a:extLst xmlns:a="http://schemas.openxmlformats.org/drawingml/2006/main">
              <a:ext uri="{FF2B5EF4-FFF2-40B4-BE49-F238E27FC236}">
                <a16:creationId xmlns:a16="http://schemas.microsoft.com/office/drawing/2014/main" id="{0F73F881-6748-4F31-80EF-49E1FE71AB5F}"/>
              </a:ext>
            </a:extLst>
          </p:cNvPr>
          <p:cNvSpPr>
            <a:spLocks xmlns:a="http://schemas.openxmlformats.org/drawingml/2006/main" noGrp="1"/>
          </p:cNvSpPr>
          <p:nvPr/>
        </p:nvSpPr>
        <p:spPr>
          <a:xfrm xmlns:a="http://schemas.openxmlformats.org/drawingml/2006/main">
            <a:off x="507968" y="1425607"/>
            <a:ext cx="1054989"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 research debrief, vol. iii</a:t>
            </a:r>
          </a:p>
        </p:txBody>
      </p:sp>
      <p:sp>
        <p:nvSpPr>
          <p:cNvPr id="4" name="editable-text-01-03">
            <a:extLst xmlns:a="http://schemas.openxmlformats.org/drawingml/2006/main">
              <a:ext uri="{FF2B5EF4-FFF2-40B4-BE49-F238E27FC236}">
                <a16:creationId xmlns:a16="http://schemas.microsoft.com/office/drawing/2014/main" id="{8BF19637-FB3F-4E2D-B628-A5D42BAF029A}"/>
              </a:ext>
            </a:extLst>
          </p:cNvPr>
          <p:cNvSpPr>
            <a:spLocks xmlns:a="http://schemas.openxmlformats.org/drawingml/2006/main" noGrp="1"/>
          </p:cNvSpPr>
          <p:nvPr/>
        </p:nvSpPr>
        <p:spPr>
          <a:xfrm xmlns:a="http://schemas.openxmlformats.org/drawingml/2006/main">
            <a:off x="507968" y="1644301"/>
            <a:ext cx="9367647" cy="3324987"/>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050" b="0">
                <a:solidFill>
                  <a:srgbClr val="2A241B">
                    <a:alpha val="0"/>
                  </a:srgbClr>
                </a:solidFill>
                <a:latin typeface="Cormorant Garamond"/>
                <a:ea typeface="Cormorant Garamond"/>
                <a:cs typeface="Cormorant Garamond"/>
              </a:defRPr>
            </a:pPr>
            <a:r>
              <a:rPr sz="13050" b="0">
                <a:solidFill>
                  <a:srgbClr val="2A241B">
                    <a:alpha val="0"/>
                  </a:srgbClr>
                </a:solidFill>
                <a:latin typeface="Cormorant Garamond"/>
                <a:ea typeface="Cormorant Garamond"/>
                <a:cs typeface="Cormorant Garamond"/>
              </a:rPr>
              <a:t>What we learned this quarter.</a:t>
            </a:r>
          </a:p>
        </p:txBody>
      </p:sp>
      <p:sp>
        <p:nvSpPr>
          <p:cNvPr id="5" name="editable-text-01-04">
            <a:extLst xmlns:a="http://schemas.openxmlformats.org/drawingml/2006/main">
              <a:ext uri="{FF2B5EF4-FFF2-40B4-BE49-F238E27FC236}">
                <a16:creationId xmlns:a16="http://schemas.microsoft.com/office/drawing/2014/main" id="{639222A6-0F65-4AB8-A713-95F0F7089D5E}"/>
              </a:ext>
            </a:extLst>
          </p:cNvPr>
          <p:cNvSpPr>
            <a:spLocks xmlns:a="http://schemas.openxmlformats.org/drawingml/2006/main" noGrp="1"/>
          </p:cNvSpPr>
          <p:nvPr/>
        </p:nvSpPr>
        <p:spPr>
          <a:xfrm xmlns:a="http://schemas.openxmlformats.org/drawingml/2006/main">
            <a:off x="507968" y="5036725"/>
            <a:ext cx="3285554" cy="41833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Work Sans"/>
                <a:ea typeface="Work Sans"/>
                <a:cs typeface="Work Sans"/>
              </a:defRPr>
            </a:pPr>
            <a:r>
              <a:rPr sz="900" b="0">
                <a:solidFill>
                  <a:srgbClr val="5C5345">
                    <a:alpha val="0"/>
                  </a:srgbClr>
                </a:solidFill>
                <a:latin typeface="Work Sans"/>
                <a:ea typeface="Work Sans"/>
                <a:cs typeface="Work Sans"/>
              </a:rPr>
              <a:t>A short, honest look at what our customers told us between January and March — what's working, what's quietly broken, and what we want to try next.</a:t>
            </a:r>
          </a:p>
        </p:txBody>
      </p:sp>
      <p:sp>
        <p:nvSpPr>
          <p:cNvPr id="6" name="editable-text-01-05">
            <a:extLst xmlns:a="http://schemas.openxmlformats.org/drawingml/2006/main">
              <a:ext uri="{FF2B5EF4-FFF2-40B4-BE49-F238E27FC236}">
                <a16:creationId xmlns:a16="http://schemas.microsoft.com/office/drawing/2014/main" id="{E5AF90D0-3F2F-420F-AFC6-E0E7D3EC5A8A}"/>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7" name="editable-text-01-06">
            <a:extLst xmlns:a="http://schemas.openxmlformats.org/drawingml/2006/main">
              <a:ext uri="{FF2B5EF4-FFF2-40B4-BE49-F238E27FC236}">
                <a16:creationId xmlns:a16="http://schemas.microsoft.com/office/drawing/2014/main" id="{C3E320B7-AC60-4D75-BC83-4BE1B2D7957E}"/>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143840464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ad24340308e34a2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2-01">
            <a:extLst xmlns:a="http://schemas.openxmlformats.org/drawingml/2006/main">
              <a:ext uri="{FF2B5EF4-FFF2-40B4-BE49-F238E27FC236}">
                <a16:creationId xmlns:a16="http://schemas.microsoft.com/office/drawing/2014/main" id="{B6165402-4CB7-4612-83D0-D4063E05E01F}"/>
              </a:ext>
            </a:extLst>
          </p:cNvPr>
          <p:cNvSpPr>
            <a:spLocks xmlns:a="http://schemas.openxmlformats.org/drawingml/2006/main" noGrp="1"/>
          </p:cNvSpPr>
          <p:nvPr/>
        </p:nvSpPr>
        <p:spPr>
          <a:xfrm xmlns:a="http://schemas.openxmlformats.org/drawingml/2006/main">
            <a:off x="507968" y="387382"/>
            <a:ext cx="496538"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Foreword</a:t>
            </a:r>
          </a:p>
        </p:txBody>
      </p:sp>
      <p:sp>
        <p:nvSpPr>
          <p:cNvPr id="3" name="editable-text-02-02">
            <a:extLst xmlns:a="http://schemas.openxmlformats.org/drawingml/2006/main">
              <a:ext uri="{FF2B5EF4-FFF2-40B4-BE49-F238E27FC236}">
                <a16:creationId xmlns:a16="http://schemas.microsoft.com/office/drawing/2014/main" id="{D32AC9B0-7ED4-4381-835F-BC5D512764C2}"/>
              </a:ext>
            </a:extLst>
          </p:cNvPr>
          <p:cNvSpPr>
            <a:spLocks xmlns:a="http://schemas.openxmlformats.org/drawingml/2006/main" noGrp="1"/>
          </p:cNvSpPr>
          <p:nvPr/>
        </p:nvSpPr>
        <p:spPr>
          <a:xfrm xmlns:a="http://schemas.openxmlformats.org/drawingml/2006/main">
            <a:off x="11628406" y="381000"/>
            <a:ext cx="93631"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ii</a:t>
            </a:r>
          </a:p>
        </p:txBody>
      </p:sp>
      <p:sp>
        <p:nvSpPr>
          <p:cNvPr id="4" name="editable-text-02-03">
            <a:extLst xmlns:a="http://schemas.openxmlformats.org/drawingml/2006/main">
              <a:ext uri="{FF2B5EF4-FFF2-40B4-BE49-F238E27FC236}">
                <a16:creationId xmlns:a16="http://schemas.microsoft.com/office/drawing/2014/main" id="{51574CB9-DCD7-4DC0-BCC6-0A12A19ABADB}"/>
              </a:ext>
            </a:extLst>
          </p:cNvPr>
          <p:cNvSpPr>
            <a:spLocks xmlns:a="http://schemas.openxmlformats.org/drawingml/2006/main" noGrp="1"/>
          </p:cNvSpPr>
          <p:nvPr/>
        </p:nvSpPr>
        <p:spPr>
          <a:xfrm xmlns:a="http://schemas.openxmlformats.org/drawingml/2006/main">
            <a:off x="507968" y="1168432"/>
            <a:ext cx="4081177" cy="10541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We spent eight weeks listening, and what we heard surprised us in the kindest way.</a:t>
            </a:r>
          </a:p>
        </p:txBody>
      </p:sp>
      <p:sp>
        <p:nvSpPr>
          <p:cNvPr id="5" name="editable-text-02-04">
            <a:extLst xmlns:a="http://schemas.openxmlformats.org/drawingml/2006/main">
              <a:ext uri="{FF2B5EF4-FFF2-40B4-BE49-F238E27FC236}">
                <a16:creationId xmlns:a16="http://schemas.microsoft.com/office/drawing/2014/main" id="{C0436FB4-04CC-4D93-8C0F-AACB0552857C}"/>
              </a:ext>
            </a:extLst>
          </p:cNvPr>
          <p:cNvSpPr>
            <a:spLocks xmlns:a="http://schemas.openxmlformats.org/drawingml/2006/main" noGrp="1"/>
          </p:cNvSpPr>
          <p:nvPr/>
        </p:nvSpPr>
        <p:spPr>
          <a:xfrm xmlns:a="http://schemas.openxmlformats.org/drawingml/2006/main">
            <a:off x="6858000" y="1282732"/>
            <a:ext cx="4846415"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The team ran twenty-eight long-form interviews, shadowed nine teams during their busiest week of the year, and sat with the support inbox for ten unbroken days.</a:t>
            </a:r>
          </a:p>
        </p:txBody>
      </p:sp>
      <p:sp>
        <p:nvSpPr>
          <p:cNvPr id="6" name="editable-text-02-05">
            <a:extLst xmlns:a="http://schemas.openxmlformats.org/drawingml/2006/main">
              <a:ext uri="{FF2B5EF4-FFF2-40B4-BE49-F238E27FC236}">
                <a16:creationId xmlns:a16="http://schemas.microsoft.com/office/drawing/2014/main" id="{A5A89C25-61BB-4FF9-B227-C8BB27FF8630}"/>
              </a:ext>
            </a:extLst>
          </p:cNvPr>
          <p:cNvSpPr>
            <a:spLocks xmlns:a="http://schemas.openxmlformats.org/drawingml/2006/main" noGrp="1"/>
          </p:cNvSpPr>
          <p:nvPr/>
        </p:nvSpPr>
        <p:spPr>
          <a:xfrm xmlns:a="http://schemas.openxmlformats.org/drawingml/2006/main">
            <a:off x="6858000" y="1764887"/>
            <a:ext cx="4589907"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The themes that emerged were not the ones we set out to find. The brief asked about onboarding; the answers we got were about trust. So we followed the thread.</a:t>
            </a:r>
          </a:p>
        </p:txBody>
      </p:sp>
      <p:sp>
        <p:nvSpPr>
          <p:cNvPr id="7" name="editable-text-02-06">
            <a:extLst xmlns:a="http://schemas.openxmlformats.org/drawingml/2006/main">
              <a:ext uri="{FF2B5EF4-FFF2-40B4-BE49-F238E27FC236}">
                <a16:creationId xmlns:a16="http://schemas.microsoft.com/office/drawing/2014/main" id="{DF8A8BF3-B957-4ACE-BCCB-C050997D7674}"/>
              </a:ext>
            </a:extLst>
          </p:cNvPr>
          <p:cNvSpPr>
            <a:spLocks xmlns:a="http://schemas.openxmlformats.org/drawingml/2006/main" noGrp="1"/>
          </p:cNvSpPr>
          <p:nvPr/>
        </p:nvSpPr>
        <p:spPr>
          <a:xfrm xmlns:a="http://schemas.openxmlformats.org/drawingml/2006/main">
            <a:off x="6858000" y="2247138"/>
            <a:ext cx="4786122"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This deck is the short version. Each insight is a door — open the ones that matter to your team this quarter, and let the others wait.</a:t>
            </a:r>
          </a:p>
        </p:txBody>
      </p:sp>
      <p:sp>
        <p:nvSpPr>
          <p:cNvPr id="8" name="editable-text-02-07">
            <a:extLst xmlns:a="http://schemas.openxmlformats.org/drawingml/2006/main">
              <a:ext uri="{FF2B5EF4-FFF2-40B4-BE49-F238E27FC236}">
                <a16:creationId xmlns:a16="http://schemas.microsoft.com/office/drawing/2014/main" id="{C2DD1BCF-0BCD-44FE-89D7-5D0A192CFA08}"/>
              </a:ext>
            </a:extLst>
          </p:cNvPr>
          <p:cNvSpPr>
            <a:spLocks xmlns:a="http://schemas.openxmlformats.org/drawingml/2006/main" noGrp="1"/>
          </p:cNvSpPr>
          <p:nvPr/>
        </p:nvSpPr>
        <p:spPr>
          <a:xfrm xmlns:a="http://schemas.openxmlformats.org/drawingml/2006/main">
            <a:off x="6858000" y="2729294"/>
            <a:ext cx="840677"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 The research desk</a:t>
            </a:r>
          </a:p>
        </p:txBody>
      </p:sp>
      <p:sp>
        <p:nvSpPr>
          <p:cNvPr id="9" name="editable-text-02-08">
            <a:extLst xmlns:a="http://schemas.openxmlformats.org/drawingml/2006/main">
              <a:ext uri="{FF2B5EF4-FFF2-40B4-BE49-F238E27FC236}">
                <a16:creationId xmlns:a16="http://schemas.microsoft.com/office/drawing/2014/main" id="{90912961-062A-4D75-82E7-06D64CF3AB76}"/>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10" name="editable-text-02-09">
            <a:extLst xmlns:a="http://schemas.openxmlformats.org/drawingml/2006/main">
              <a:ext uri="{FF2B5EF4-FFF2-40B4-BE49-F238E27FC236}">
                <a16:creationId xmlns:a16="http://schemas.microsoft.com/office/drawing/2014/main" id="{E9E3D660-3E7D-49C4-AA1B-E807175357FC}"/>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7010667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b147482d8793414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3-01">
            <a:extLst xmlns:a="http://schemas.openxmlformats.org/drawingml/2006/main">
              <a:ext uri="{FF2B5EF4-FFF2-40B4-BE49-F238E27FC236}">
                <a16:creationId xmlns:a16="http://schemas.microsoft.com/office/drawing/2014/main" id="{35C06819-0007-49A0-BC5C-A7FE6A2324F3}"/>
              </a:ext>
            </a:extLst>
          </p:cNvPr>
          <p:cNvSpPr>
            <a:spLocks xmlns:a="http://schemas.openxmlformats.org/drawingml/2006/main" noGrp="1"/>
          </p:cNvSpPr>
          <p:nvPr/>
        </p:nvSpPr>
        <p:spPr>
          <a:xfrm xmlns:a="http://schemas.openxmlformats.org/drawingml/2006/main">
            <a:off x="507968" y="387382"/>
            <a:ext cx="621697"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The Method</a:t>
            </a:r>
          </a:p>
        </p:txBody>
      </p:sp>
      <p:sp>
        <p:nvSpPr>
          <p:cNvPr id="3" name="editable-text-03-02">
            <a:extLst xmlns:a="http://schemas.openxmlformats.org/drawingml/2006/main">
              <a:ext uri="{FF2B5EF4-FFF2-40B4-BE49-F238E27FC236}">
                <a16:creationId xmlns:a16="http://schemas.microsoft.com/office/drawing/2014/main" id="{04E1A0E1-F031-4E07-A2A5-DB970EF97F6A}"/>
              </a:ext>
            </a:extLst>
          </p:cNvPr>
          <p:cNvSpPr>
            <a:spLocks xmlns:a="http://schemas.openxmlformats.org/drawingml/2006/main" noGrp="1"/>
          </p:cNvSpPr>
          <p:nvPr/>
        </p:nvSpPr>
        <p:spPr>
          <a:xfrm xmlns:a="http://schemas.openxmlformats.org/drawingml/2006/main">
            <a:off x="11600783" y="381000"/>
            <a:ext cx="121349"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iii</a:t>
            </a:r>
          </a:p>
        </p:txBody>
      </p:sp>
      <p:sp>
        <p:nvSpPr>
          <p:cNvPr id="4" name="editable-text-03-03">
            <a:extLst xmlns:a="http://schemas.openxmlformats.org/drawingml/2006/main">
              <a:ext uri="{FF2B5EF4-FFF2-40B4-BE49-F238E27FC236}">
                <a16:creationId xmlns:a16="http://schemas.microsoft.com/office/drawing/2014/main" id="{9AF0B5FA-91F7-4AC9-A750-FFE0F5CD7D22}"/>
              </a:ext>
            </a:extLst>
          </p:cNvPr>
          <p:cNvSpPr>
            <a:spLocks xmlns:a="http://schemas.openxmlformats.org/drawingml/2006/main" noGrp="1"/>
          </p:cNvSpPr>
          <p:nvPr/>
        </p:nvSpPr>
        <p:spPr>
          <a:xfrm xmlns:a="http://schemas.openxmlformats.org/drawingml/2006/main">
            <a:off x="711232" y="1625632"/>
            <a:ext cx="8591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a:t>
            </a:r>
          </a:p>
        </p:txBody>
      </p:sp>
      <p:sp>
        <p:nvSpPr>
          <p:cNvPr id="5" name="editable-text-03-04">
            <a:extLst xmlns:a="http://schemas.openxmlformats.org/drawingml/2006/main">
              <a:ext uri="{FF2B5EF4-FFF2-40B4-BE49-F238E27FC236}">
                <a16:creationId xmlns:a16="http://schemas.microsoft.com/office/drawing/2014/main" id="{12CC2A2B-0930-4510-A154-045CC64EFDB6}"/>
              </a:ext>
            </a:extLst>
          </p:cNvPr>
          <p:cNvSpPr>
            <a:spLocks xmlns:a="http://schemas.openxmlformats.org/drawingml/2006/main" noGrp="1"/>
          </p:cNvSpPr>
          <p:nvPr/>
        </p:nvSpPr>
        <p:spPr>
          <a:xfrm xmlns:a="http://schemas.openxmlformats.org/drawingml/2006/main">
            <a:off x="711232" y="4909947"/>
            <a:ext cx="712565" cy="3810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475" b="0">
                <a:solidFill>
                  <a:srgbClr val="2A241B">
                    <a:alpha val="0"/>
                  </a:srgbClr>
                </a:solidFill>
                <a:latin typeface="Cormorant Garamond"/>
                <a:ea typeface="Cormorant Garamond"/>
                <a:cs typeface="Cormorant Garamond"/>
              </a:defRPr>
            </a:pPr>
            <a:r>
              <a:rPr sz="2475" b="0">
                <a:solidFill>
                  <a:srgbClr val="2A241B">
                    <a:alpha val="0"/>
                  </a:srgbClr>
                </a:solidFill>
                <a:latin typeface="Cormorant Garamond"/>
                <a:ea typeface="Cormorant Garamond"/>
                <a:cs typeface="Cormorant Garamond"/>
              </a:rPr>
              <a:t>Listen</a:t>
            </a:r>
          </a:p>
        </p:txBody>
      </p:sp>
      <p:sp>
        <p:nvSpPr>
          <p:cNvPr id="6" name="editable-text-03-05">
            <a:extLst xmlns:a="http://schemas.openxmlformats.org/drawingml/2006/main">
              <a:ext uri="{FF2B5EF4-FFF2-40B4-BE49-F238E27FC236}">
                <a16:creationId xmlns:a16="http://schemas.microsoft.com/office/drawing/2014/main" id="{35AD5B34-FBAC-4A7A-BD9F-02DBA64C3D00}"/>
              </a:ext>
            </a:extLst>
          </p:cNvPr>
          <p:cNvSpPr>
            <a:spLocks xmlns:a="http://schemas.openxmlformats.org/drawingml/2006/main" noGrp="1"/>
          </p:cNvSpPr>
          <p:nvPr/>
        </p:nvSpPr>
        <p:spPr>
          <a:xfrm xmlns:a="http://schemas.openxmlformats.org/drawingml/2006/main">
            <a:off x="711232" y="5239321"/>
            <a:ext cx="2291239"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Twenty-eight long-form conversations with customers across four segments and three regions.</a:t>
            </a:r>
          </a:p>
        </p:txBody>
      </p:sp>
      <p:sp>
        <p:nvSpPr>
          <p:cNvPr id="7" name="editable-text-03-06">
            <a:extLst xmlns:a="http://schemas.openxmlformats.org/drawingml/2006/main">
              <a:ext uri="{FF2B5EF4-FFF2-40B4-BE49-F238E27FC236}">
                <a16:creationId xmlns:a16="http://schemas.microsoft.com/office/drawing/2014/main" id="{0A5E1DC3-687A-4651-BAC0-16B21058D674}"/>
              </a:ext>
            </a:extLst>
          </p:cNvPr>
          <p:cNvSpPr>
            <a:spLocks xmlns:a="http://schemas.openxmlformats.org/drawingml/2006/main" noGrp="1"/>
          </p:cNvSpPr>
          <p:nvPr/>
        </p:nvSpPr>
        <p:spPr>
          <a:xfrm xmlns:a="http://schemas.openxmlformats.org/drawingml/2006/main">
            <a:off x="3549682" y="1625632"/>
            <a:ext cx="11363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ii.</a:t>
            </a:r>
          </a:p>
        </p:txBody>
      </p:sp>
      <p:sp>
        <p:nvSpPr>
          <p:cNvPr id="8" name="editable-text-03-07">
            <a:extLst xmlns:a="http://schemas.openxmlformats.org/drawingml/2006/main">
              <a:ext uri="{FF2B5EF4-FFF2-40B4-BE49-F238E27FC236}">
                <a16:creationId xmlns:a16="http://schemas.microsoft.com/office/drawing/2014/main" id="{094F5748-470C-4F3E-8C3C-96F53EFE1097}"/>
              </a:ext>
            </a:extLst>
          </p:cNvPr>
          <p:cNvSpPr>
            <a:spLocks xmlns:a="http://schemas.openxmlformats.org/drawingml/2006/main" noGrp="1"/>
          </p:cNvSpPr>
          <p:nvPr/>
        </p:nvSpPr>
        <p:spPr>
          <a:xfrm xmlns:a="http://schemas.openxmlformats.org/drawingml/2006/main">
            <a:off x="3549682" y="5081207"/>
            <a:ext cx="741617" cy="3810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475" b="0">
                <a:solidFill>
                  <a:srgbClr val="2A241B">
                    <a:alpha val="0"/>
                  </a:srgbClr>
                </a:solidFill>
                <a:latin typeface="Cormorant Garamond"/>
                <a:ea typeface="Cormorant Garamond"/>
                <a:cs typeface="Cormorant Garamond"/>
              </a:defRPr>
            </a:pPr>
            <a:r>
              <a:rPr sz="2475" b="0">
                <a:solidFill>
                  <a:srgbClr val="2A241B">
                    <a:alpha val="0"/>
                  </a:srgbClr>
                </a:solidFill>
                <a:latin typeface="Cormorant Garamond"/>
                <a:ea typeface="Cormorant Garamond"/>
                <a:cs typeface="Cormorant Garamond"/>
              </a:rPr>
              <a:t>Watch</a:t>
            </a:r>
          </a:p>
        </p:txBody>
      </p:sp>
      <p:sp>
        <p:nvSpPr>
          <p:cNvPr id="9" name="editable-text-03-08">
            <a:extLst xmlns:a="http://schemas.openxmlformats.org/drawingml/2006/main">
              <a:ext uri="{FF2B5EF4-FFF2-40B4-BE49-F238E27FC236}">
                <a16:creationId xmlns:a16="http://schemas.microsoft.com/office/drawing/2014/main" id="{2229F05C-CCB8-4F91-960A-C9F98677F2F3}"/>
              </a:ext>
            </a:extLst>
          </p:cNvPr>
          <p:cNvSpPr>
            <a:spLocks xmlns:a="http://schemas.openxmlformats.org/drawingml/2006/main" noGrp="1"/>
          </p:cNvSpPr>
          <p:nvPr/>
        </p:nvSpPr>
        <p:spPr>
          <a:xfrm xmlns:a="http://schemas.openxmlformats.org/drawingml/2006/main">
            <a:off x="3549682" y="5410581"/>
            <a:ext cx="2289143"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Nine on-site shadowing sessions during peak workflows. We took notes, not video.</a:t>
            </a:r>
          </a:p>
        </p:txBody>
      </p:sp>
      <p:sp>
        <p:nvSpPr>
          <p:cNvPr id="10" name="editable-text-03-09">
            <a:extLst xmlns:a="http://schemas.openxmlformats.org/drawingml/2006/main">
              <a:ext uri="{FF2B5EF4-FFF2-40B4-BE49-F238E27FC236}">
                <a16:creationId xmlns:a16="http://schemas.microsoft.com/office/drawing/2014/main" id="{7685E13C-642B-4B15-A977-602909389BDB}"/>
              </a:ext>
            </a:extLst>
          </p:cNvPr>
          <p:cNvSpPr>
            <a:spLocks xmlns:a="http://schemas.openxmlformats.org/drawingml/2006/main" noGrp="1"/>
          </p:cNvSpPr>
          <p:nvPr/>
        </p:nvSpPr>
        <p:spPr>
          <a:xfrm xmlns:a="http://schemas.openxmlformats.org/drawingml/2006/main">
            <a:off x="6388132" y="1625632"/>
            <a:ext cx="141351"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iii.</a:t>
            </a:r>
          </a:p>
        </p:txBody>
      </p:sp>
      <p:sp>
        <p:nvSpPr>
          <p:cNvPr id="11" name="editable-text-03-10">
            <a:extLst xmlns:a="http://schemas.openxmlformats.org/drawingml/2006/main">
              <a:ext uri="{FF2B5EF4-FFF2-40B4-BE49-F238E27FC236}">
                <a16:creationId xmlns:a16="http://schemas.microsoft.com/office/drawing/2014/main" id="{76CA7201-2AE8-441D-8465-9E4C05188D29}"/>
              </a:ext>
            </a:extLst>
          </p:cNvPr>
          <p:cNvSpPr>
            <a:spLocks xmlns:a="http://schemas.openxmlformats.org/drawingml/2006/main" noGrp="1"/>
          </p:cNvSpPr>
          <p:nvPr/>
        </p:nvSpPr>
        <p:spPr>
          <a:xfrm xmlns:a="http://schemas.openxmlformats.org/drawingml/2006/main">
            <a:off x="6388132" y="4909947"/>
            <a:ext cx="597503" cy="3810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475" b="0">
                <a:solidFill>
                  <a:srgbClr val="2A241B">
                    <a:alpha val="0"/>
                  </a:srgbClr>
                </a:solidFill>
                <a:latin typeface="Cormorant Garamond"/>
                <a:ea typeface="Cormorant Garamond"/>
                <a:cs typeface="Cormorant Garamond"/>
              </a:defRPr>
            </a:pPr>
            <a:r>
              <a:rPr sz="2475" b="0">
                <a:solidFill>
                  <a:srgbClr val="2A241B">
                    <a:alpha val="0"/>
                  </a:srgbClr>
                </a:solidFill>
                <a:latin typeface="Cormorant Garamond"/>
                <a:ea typeface="Cormorant Garamond"/>
                <a:cs typeface="Cormorant Garamond"/>
              </a:rPr>
              <a:t>Read</a:t>
            </a:r>
          </a:p>
        </p:txBody>
      </p:sp>
      <p:sp>
        <p:nvSpPr>
          <p:cNvPr id="12" name="editable-text-03-11">
            <a:extLst xmlns:a="http://schemas.openxmlformats.org/drawingml/2006/main">
              <a:ext uri="{FF2B5EF4-FFF2-40B4-BE49-F238E27FC236}">
                <a16:creationId xmlns:a16="http://schemas.microsoft.com/office/drawing/2014/main" id="{5202E94E-32FA-483E-B0FF-809EC3C21A19}"/>
              </a:ext>
            </a:extLst>
          </p:cNvPr>
          <p:cNvSpPr>
            <a:spLocks xmlns:a="http://schemas.openxmlformats.org/drawingml/2006/main" noGrp="1"/>
          </p:cNvSpPr>
          <p:nvPr/>
        </p:nvSpPr>
        <p:spPr>
          <a:xfrm xmlns:a="http://schemas.openxmlformats.org/drawingml/2006/main">
            <a:off x="6388132" y="5239321"/>
            <a:ext cx="2291715"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Ten days inside the support inbox, tagging every message by intent and emotional tone.</a:t>
            </a:r>
          </a:p>
        </p:txBody>
      </p:sp>
      <p:sp>
        <p:nvSpPr>
          <p:cNvPr id="13" name="editable-text-03-12">
            <a:extLst xmlns:a="http://schemas.openxmlformats.org/drawingml/2006/main">
              <a:ext uri="{FF2B5EF4-FFF2-40B4-BE49-F238E27FC236}">
                <a16:creationId xmlns:a16="http://schemas.microsoft.com/office/drawing/2014/main" id="{757FBD4C-DF5B-4907-8FAC-B169439C550D}"/>
              </a:ext>
            </a:extLst>
          </p:cNvPr>
          <p:cNvSpPr>
            <a:spLocks xmlns:a="http://schemas.openxmlformats.org/drawingml/2006/main" noGrp="1"/>
          </p:cNvSpPr>
          <p:nvPr/>
        </p:nvSpPr>
        <p:spPr>
          <a:xfrm xmlns:a="http://schemas.openxmlformats.org/drawingml/2006/main">
            <a:off x="9226582" y="1625632"/>
            <a:ext cx="125254"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iv.</a:t>
            </a:r>
          </a:p>
        </p:txBody>
      </p:sp>
      <p:sp>
        <p:nvSpPr>
          <p:cNvPr id="14" name="editable-text-03-13">
            <a:extLst xmlns:a="http://schemas.openxmlformats.org/drawingml/2006/main">
              <a:ext uri="{FF2B5EF4-FFF2-40B4-BE49-F238E27FC236}">
                <a16:creationId xmlns:a16="http://schemas.microsoft.com/office/drawing/2014/main" id="{7829F9B0-0AE8-4488-A344-E7C0AD06C5D5}"/>
              </a:ext>
            </a:extLst>
          </p:cNvPr>
          <p:cNvSpPr>
            <a:spLocks xmlns:a="http://schemas.openxmlformats.org/drawingml/2006/main" noGrp="1"/>
          </p:cNvSpPr>
          <p:nvPr/>
        </p:nvSpPr>
        <p:spPr>
          <a:xfrm xmlns:a="http://schemas.openxmlformats.org/drawingml/2006/main">
            <a:off x="9226582" y="4909947"/>
            <a:ext cx="718280" cy="3810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475" b="0">
                <a:solidFill>
                  <a:srgbClr val="2A241B">
                    <a:alpha val="0"/>
                  </a:srgbClr>
                </a:solidFill>
                <a:latin typeface="Cormorant Garamond"/>
                <a:ea typeface="Cormorant Garamond"/>
                <a:cs typeface="Cormorant Garamond"/>
              </a:defRPr>
            </a:pPr>
            <a:r>
              <a:rPr sz="2475" b="0">
                <a:solidFill>
                  <a:srgbClr val="2A241B">
                    <a:alpha val="0"/>
                  </a:srgbClr>
                </a:solidFill>
                <a:latin typeface="Cormorant Garamond"/>
                <a:ea typeface="Cormorant Garamond"/>
                <a:cs typeface="Cormorant Garamond"/>
              </a:rPr>
              <a:t>Distill</a:t>
            </a:r>
          </a:p>
        </p:txBody>
      </p:sp>
      <p:sp>
        <p:nvSpPr>
          <p:cNvPr id="15" name="editable-text-03-14">
            <a:extLst xmlns:a="http://schemas.openxmlformats.org/drawingml/2006/main">
              <a:ext uri="{FF2B5EF4-FFF2-40B4-BE49-F238E27FC236}">
                <a16:creationId xmlns:a16="http://schemas.microsoft.com/office/drawing/2014/main" id="{55B3174C-EF8D-4B6B-B742-E63DD2B24C8C}"/>
              </a:ext>
            </a:extLst>
          </p:cNvPr>
          <p:cNvSpPr>
            <a:spLocks xmlns:a="http://schemas.openxmlformats.org/drawingml/2006/main" noGrp="1"/>
          </p:cNvSpPr>
          <p:nvPr/>
        </p:nvSpPr>
        <p:spPr>
          <a:xfrm xmlns:a="http://schemas.openxmlformats.org/drawingml/2006/main">
            <a:off x="9226582" y="5239321"/>
            <a:ext cx="2177320"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Three rounds of thematic clustering with the design and policy teams, ending in eight themes.</a:t>
            </a:r>
          </a:p>
        </p:txBody>
      </p:sp>
      <p:sp>
        <p:nvSpPr>
          <p:cNvPr id="16" name="editable-text-03-15">
            <a:extLst xmlns:a="http://schemas.openxmlformats.org/drawingml/2006/main">
              <a:ext uri="{FF2B5EF4-FFF2-40B4-BE49-F238E27FC236}">
                <a16:creationId xmlns:a16="http://schemas.microsoft.com/office/drawing/2014/main" id="{F2B08367-B76B-4321-951A-07F21FD410A1}"/>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17" name="editable-text-03-16">
            <a:extLst xmlns:a="http://schemas.openxmlformats.org/drawingml/2006/main">
              <a:ext uri="{FF2B5EF4-FFF2-40B4-BE49-F238E27FC236}">
                <a16:creationId xmlns:a16="http://schemas.microsoft.com/office/drawing/2014/main" id="{BC9AA9C7-352A-4E92-8B6B-698ECDBBB8BB}"/>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119463358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cd0913b8ff14c7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4-01">
            <a:extLst xmlns:a="http://schemas.openxmlformats.org/drawingml/2006/main">
              <a:ext uri="{FF2B5EF4-FFF2-40B4-BE49-F238E27FC236}">
                <a16:creationId xmlns:a16="http://schemas.microsoft.com/office/drawing/2014/main" id="{D71A761B-838B-4A63-9731-98C00B77B842}"/>
              </a:ext>
            </a:extLst>
          </p:cNvPr>
          <p:cNvSpPr>
            <a:spLocks xmlns:a="http://schemas.openxmlformats.org/drawingml/2006/main" noGrp="1"/>
          </p:cNvSpPr>
          <p:nvPr/>
        </p:nvSpPr>
        <p:spPr>
          <a:xfrm xmlns:a="http://schemas.openxmlformats.org/drawingml/2006/main">
            <a:off x="507968" y="387382"/>
            <a:ext cx="419481"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Insights</a:t>
            </a:r>
          </a:p>
        </p:txBody>
      </p:sp>
      <p:sp>
        <p:nvSpPr>
          <p:cNvPr id="3" name="editable-text-04-02">
            <a:extLst xmlns:a="http://schemas.openxmlformats.org/drawingml/2006/main">
              <a:ext uri="{FF2B5EF4-FFF2-40B4-BE49-F238E27FC236}">
                <a16:creationId xmlns:a16="http://schemas.microsoft.com/office/drawing/2014/main" id="{9EDA42FA-C313-4BAC-A3B2-F98C8DAA92CD}"/>
              </a:ext>
            </a:extLst>
          </p:cNvPr>
          <p:cNvSpPr>
            <a:spLocks xmlns:a="http://schemas.openxmlformats.org/drawingml/2006/main" noGrp="1"/>
          </p:cNvSpPr>
          <p:nvPr/>
        </p:nvSpPr>
        <p:spPr>
          <a:xfrm xmlns:a="http://schemas.openxmlformats.org/drawingml/2006/main">
            <a:off x="11612213" y="381000"/>
            <a:ext cx="10991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iv</a:t>
            </a:r>
          </a:p>
        </p:txBody>
      </p:sp>
      <p:sp>
        <p:nvSpPr>
          <p:cNvPr id="4" name="editable-text-04-03">
            <a:extLst xmlns:a="http://schemas.openxmlformats.org/drawingml/2006/main">
              <a:ext uri="{FF2B5EF4-FFF2-40B4-BE49-F238E27FC236}">
                <a16:creationId xmlns:a16="http://schemas.microsoft.com/office/drawing/2014/main" id="{B625B6AE-E8E7-4174-A521-4B23A4F26741}"/>
              </a:ext>
            </a:extLst>
          </p:cNvPr>
          <p:cNvSpPr>
            <a:spLocks xmlns:a="http://schemas.openxmlformats.org/drawingml/2006/main" noGrp="1"/>
          </p:cNvSpPr>
          <p:nvPr/>
        </p:nvSpPr>
        <p:spPr>
          <a:xfrm xmlns:a="http://schemas.openxmlformats.org/drawingml/2006/main">
            <a:off x="1455896" y="1625632"/>
            <a:ext cx="1749076" cy="5969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4050" b="0">
                <a:solidFill>
                  <a:srgbClr val="2A241B">
                    <a:alpha val="0"/>
                  </a:srgbClr>
                </a:solidFill>
                <a:latin typeface="Cormorant Garamond"/>
                <a:ea typeface="Cormorant Garamond"/>
                <a:cs typeface="Cormorant Garamond"/>
              </a:defRPr>
            </a:pPr>
            <a:r>
              <a:rPr sz="4050" b="0">
                <a:solidFill>
                  <a:srgbClr val="2A241B">
                    <a:alpha val="0"/>
                  </a:srgbClr>
                </a:solidFill>
                <a:latin typeface="Cormorant Garamond"/>
                <a:ea typeface="Cormorant Garamond"/>
                <a:cs typeface="Cormorant Garamond"/>
              </a:rPr>
              <a:t>Insight #1</a:t>
            </a:r>
          </a:p>
        </p:txBody>
      </p:sp>
      <p:sp>
        <p:nvSpPr>
          <p:cNvPr id="5" name="editable-text-04-04">
            <a:extLst xmlns:a="http://schemas.openxmlformats.org/drawingml/2006/main">
              <a:ext uri="{FF2B5EF4-FFF2-40B4-BE49-F238E27FC236}">
                <a16:creationId xmlns:a16="http://schemas.microsoft.com/office/drawing/2014/main" id="{15553E5D-189B-49BE-A17A-552954A09AFB}"/>
              </a:ext>
            </a:extLst>
          </p:cNvPr>
          <p:cNvSpPr>
            <a:spLocks xmlns:a="http://schemas.openxmlformats.org/drawingml/2006/main" noGrp="1"/>
          </p:cNvSpPr>
          <p:nvPr/>
        </p:nvSpPr>
        <p:spPr>
          <a:xfrm xmlns:a="http://schemas.openxmlformats.org/drawingml/2006/main">
            <a:off x="1732407" y="2225326"/>
            <a:ext cx="1196150"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Trust is the onboarding</a:t>
            </a:r>
          </a:p>
        </p:txBody>
      </p:sp>
      <p:sp>
        <p:nvSpPr>
          <p:cNvPr id="6" name="editable-text-04-05">
            <a:extLst xmlns:a="http://schemas.openxmlformats.org/drawingml/2006/main">
              <a:ext uri="{FF2B5EF4-FFF2-40B4-BE49-F238E27FC236}">
                <a16:creationId xmlns:a16="http://schemas.microsoft.com/office/drawing/2014/main" id="{47451F7A-6B71-492E-865D-B7CCE859E503}"/>
              </a:ext>
            </a:extLst>
          </p:cNvPr>
          <p:cNvSpPr>
            <a:spLocks xmlns:a="http://schemas.openxmlformats.org/drawingml/2006/main" noGrp="1"/>
          </p:cNvSpPr>
          <p:nvPr/>
        </p:nvSpPr>
        <p:spPr>
          <a:xfrm xmlns:a="http://schemas.openxmlformats.org/drawingml/2006/main">
            <a:off x="1508379" y="2596325"/>
            <a:ext cx="1643825" cy="85648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Customers don't churn on day one because the product is hard. They churn because the first three emails feel like a stranger.</a:t>
            </a:r>
          </a:p>
        </p:txBody>
      </p:sp>
      <p:sp>
        <p:nvSpPr>
          <p:cNvPr id="7" name="editable-text-04-06">
            <a:extLst xmlns:a="http://schemas.openxmlformats.org/drawingml/2006/main">
              <a:ext uri="{FF2B5EF4-FFF2-40B4-BE49-F238E27FC236}">
                <a16:creationId xmlns:a16="http://schemas.microsoft.com/office/drawing/2014/main" id="{23CDBB09-015A-4ABD-BC51-347657219582}"/>
              </a:ext>
            </a:extLst>
          </p:cNvPr>
          <p:cNvSpPr>
            <a:spLocks xmlns:a="http://schemas.openxmlformats.org/drawingml/2006/main" noGrp="1"/>
          </p:cNvSpPr>
          <p:nvPr/>
        </p:nvSpPr>
        <p:spPr>
          <a:xfrm xmlns:a="http://schemas.openxmlformats.org/drawingml/2006/main">
            <a:off x="5224558" y="1625632"/>
            <a:ext cx="1780985" cy="5969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4050" b="0">
                <a:solidFill>
                  <a:srgbClr val="2A241B">
                    <a:alpha val="0"/>
                  </a:srgbClr>
                </a:solidFill>
                <a:latin typeface="Cormorant Garamond"/>
                <a:ea typeface="Cormorant Garamond"/>
                <a:cs typeface="Cormorant Garamond"/>
              </a:defRPr>
            </a:pPr>
            <a:r>
              <a:rPr sz="4050" b="0">
                <a:solidFill>
                  <a:srgbClr val="2A241B">
                    <a:alpha val="0"/>
                  </a:srgbClr>
                </a:solidFill>
                <a:latin typeface="Cormorant Garamond"/>
                <a:ea typeface="Cormorant Garamond"/>
                <a:cs typeface="Cormorant Garamond"/>
              </a:rPr>
              <a:t>Insight #2</a:t>
            </a:r>
          </a:p>
        </p:txBody>
      </p:sp>
      <p:sp>
        <p:nvSpPr>
          <p:cNvPr id="8" name="editable-text-04-07">
            <a:extLst xmlns:a="http://schemas.openxmlformats.org/drawingml/2006/main">
              <a:ext uri="{FF2B5EF4-FFF2-40B4-BE49-F238E27FC236}">
                <a16:creationId xmlns:a16="http://schemas.microsoft.com/office/drawing/2014/main" id="{2D415F85-1486-428F-A444-111705E7DF5F}"/>
              </a:ext>
            </a:extLst>
          </p:cNvPr>
          <p:cNvSpPr>
            <a:spLocks xmlns:a="http://schemas.openxmlformats.org/drawingml/2006/main" noGrp="1"/>
          </p:cNvSpPr>
          <p:nvPr/>
        </p:nvSpPr>
        <p:spPr>
          <a:xfrm xmlns:a="http://schemas.openxmlformats.org/drawingml/2006/main">
            <a:off x="5388483" y="2225326"/>
            <a:ext cx="1453134"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Power users dread upgrades</a:t>
            </a:r>
          </a:p>
        </p:txBody>
      </p:sp>
      <p:sp>
        <p:nvSpPr>
          <p:cNvPr id="9" name="editable-text-04-08">
            <a:extLst xmlns:a="http://schemas.openxmlformats.org/drawingml/2006/main">
              <a:ext uri="{FF2B5EF4-FFF2-40B4-BE49-F238E27FC236}">
                <a16:creationId xmlns:a16="http://schemas.microsoft.com/office/drawing/2014/main" id="{E118E4D3-B86A-4963-8CD9-ED13A0695D21}"/>
              </a:ext>
            </a:extLst>
          </p:cNvPr>
          <p:cNvSpPr>
            <a:spLocks xmlns:a="http://schemas.openxmlformats.org/drawingml/2006/main" noGrp="1"/>
          </p:cNvSpPr>
          <p:nvPr/>
        </p:nvSpPr>
        <p:spPr>
          <a:xfrm xmlns:a="http://schemas.openxmlformats.org/drawingml/2006/main">
            <a:off x="5302377" y="2596325"/>
            <a:ext cx="1625251" cy="68522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The people we asked to love new features the most quietly resent them. They want fewer surprises, not bigger ones.</a:t>
            </a:r>
          </a:p>
        </p:txBody>
      </p:sp>
      <p:sp>
        <p:nvSpPr>
          <p:cNvPr id="10" name="editable-text-04-09">
            <a:extLst xmlns:a="http://schemas.openxmlformats.org/drawingml/2006/main">
              <a:ext uri="{FF2B5EF4-FFF2-40B4-BE49-F238E27FC236}">
                <a16:creationId xmlns:a16="http://schemas.microsoft.com/office/drawing/2014/main" id="{2A3351B6-AB35-499E-A48B-0C7CA2604E04}"/>
              </a:ext>
            </a:extLst>
          </p:cNvPr>
          <p:cNvSpPr>
            <a:spLocks xmlns:a="http://schemas.openxmlformats.org/drawingml/2006/main" noGrp="1"/>
          </p:cNvSpPr>
          <p:nvPr/>
        </p:nvSpPr>
        <p:spPr>
          <a:xfrm xmlns:a="http://schemas.openxmlformats.org/drawingml/2006/main">
            <a:off x="9011603" y="1625632"/>
            <a:ext cx="1776032" cy="5969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4050" b="0">
                <a:solidFill>
                  <a:srgbClr val="2A241B">
                    <a:alpha val="0"/>
                  </a:srgbClr>
                </a:solidFill>
                <a:latin typeface="Cormorant Garamond"/>
                <a:ea typeface="Cormorant Garamond"/>
                <a:cs typeface="Cormorant Garamond"/>
              </a:defRPr>
            </a:pPr>
            <a:r>
              <a:rPr sz="4050" b="0">
                <a:solidFill>
                  <a:srgbClr val="2A241B">
                    <a:alpha val="0"/>
                  </a:srgbClr>
                </a:solidFill>
                <a:latin typeface="Cormorant Garamond"/>
                <a:ea typeface="Cormorant Garamond"/>
                <a:cs typeface="Cormorant Garamond"/>
              </a:rPr>
              <a:t>Insight #3</a:t>
            </a:r>
          </a:p>
        </p:txBody>
      </p:sp>
      <p:sp>
        <p:nvSpPr>
          <p:cNvPr id="11" name="editable-text-04-10">
            <a:extLst xmlns:a="http://schemas.openxmlformats.org/drawingml/2006/main">
              <a:ext uri="{FF2B5EF4-FFF2-40B4-BE49-F238E27FC236}">
                <a16:creationId xmlns:a16="http://schemas.microsoft.com/office/drawing/2014/main" id="{F32DFAB6-079F-4C2D-AE62-C4DD80DD4634}"/>
              </a:ext>
            </a:extLst>
          </p:cNvPr>
          <p:cNvSpPr>
            <a:spLocks xmlns:a="http://schemas.openxmlformats.org/drawingml/2006/main" noGrp="1"/>
          </p:cNvSpPr>
          <p:nvPr/>
        </p:nvSpPr>
        <p:spPr>
          <a:xfrm xmlns:a="http://schemas.openxmlformats.org/drawingml/2006/main">
            <a:off x="9411367" y="2225326"/>
            <a:ext cx="976408"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Support is product</a:t>
            </a:r>
          </a:p>
        </p:txBody>
      </p:sp>
      <p:sp>
        <p:nvSpPr>
          <p:cNvPr id="12" name="editable-text-04-11">
            <a:extLst xmlns:a="http://schemas.openxmlformats.org/drawingml/2006/main">
              <a:ext uri="{FF2B5EF4-FFF2-40B4-BE49-F238E27FC236}">
                <a16:creationId xmlns:a16="http://schemas.microsoft.com/office/drawing/2014/main" id="{BFD1AC05-11BD-4852-A911-54F8D86A3E87}"/>
              </a:ext>
            </a:extLst>
          </p:cNvPr>
          <p:cNvSpPr>
            <a:spLocks xmlns:a="http://schemas.openxmlformats.org/drawingml/2006/main" noGrp="1"/>
          </p:cNvSpPr>
          <p:nvPr/>
        </p:nvSpPr>
        <p:spPr>
          <a:xfrm xmlns:a="http://schemas.openxmlformats.org/drawingml/2006/main">
            <a:off x="9028843" y="2596325"/>
            <a:ext cx="1741551" cy="85648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Half of "feature requests" in the inbox are existing features that customers couldn't find. We have a discovery problem dressed as a roadmap problem.</a:t>
            </a:r>
          </a:p>
        </p:txBody>
      </p:sp>
      <p:sp>
        <p:nvSpPr>
          <p:cNvPr id="13" name="editable-text-04-12">
            <a:extLst xmlns:a="http://schemas.openxmlformats.org/drawingml/2006/main">
              <a:ext uri="{FF2B5EF4-FFF2-40B4-BE49-F238E27FC236}">
                <a16:creationId xmlns:a16="http://schemas.microsoft.com/office/drawing/2014/main" id="{4E7576CC-292B-4EE2-9C39-19D36B6DCAEC}"/>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14" name="editable-text-04-13">
            <a:extLst xmlns:a="http://schemas.openxmlformats.org/drawingml/2006/main">
              <a:ext uri="{FF2B5EF4-FFF2-40B4-BE49-F238E27FC236}">
                <a16:creationId xmlns:a16="http://schemas.microsoft.com/office/drawing/2014/main" id="{EE5FCDAA-2662-493C-A956-036D51CA77FA}"/>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15764440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0718005253ae43f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5-01">
            <a:extLst xmlns:a="http://schemas.openxmlformats.org/drawingml/2006/main">
              <a:ext uri="{FF2B5EF4-FFF2-40B4-BE49-F238E27FC236}">
                <a16:creationId xmlns:a16="http://schemas.microsoft.com/office/drawing/2014/main" id="{5AD38CC1-28AE-4063-8F4A-0704037E7B0B}"/>
              </a:ext>
            </a:extLst>
          </p:cNvPr>
          <p:cNvSpPr>
            <a:spLocks xmlns:a="http://schemas.openxmlformats.org/drawingml/2006/main" noGrp="1"/>
          </p:cNvSpPr>
          <p:nvPr/>
        </p:nvSpPr>
        <p:spPr>
          <a:xfrm xmlns:a="http://schemas.openxmlformats.org/drawingml/2006/main">
            <a:off x="507968" y="387382"/>
            <a:ext cx="1022128"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A closer look · 1 of 3</a:t>
            </a:r>
          </a:p>
        </p:txBody>
      </p:sp>
      <p:sp>
        <p:nvSpPr>
          <p:cNvPr id="3" name="editable-text-05-02">
            <a:extLst xmlns:a="http://schemas.openxmlformats.org/drawingml/2006/main">
              <a:ext uri="{FF2B5EF4-FFF2-40B4-BE49-F238E27FC236}">
                <a16:creationId xmlns:a16="http://schemas.microsoft.com/office/drawing/2014/main" id="{C864C765-A560-401D-919D-1B3D36185C40}"/>
              </a:ext>
            </a:extLst>
          </p:cNvPr>
          <p:cNvSpPr>
            <a:spLocks xmlns:a="http://schemas.openxmlformats.org/drawingml/2006/main" noGrp="1"/>
          </p:cNvSpPr>
          <p:nvPr/>
        </p:nvSpPr>
        <p:spPr>
          <a:xfrm xmlns:a="http://schemas.openxmlformats.org/drawingml/2006/main">
            <a:off x="11639836" y="381000"/>
            <a:ext cx="8229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v</a:t>
            </a:r>
          </a:p>
        </p:txBody>
      </p:sp>
      <p:sp>
        <p:nvSpPr>
          <p:cNvPr id="4" name="editable-text-05-03">
            <a:extLst xmlns:a="http://schemas.openxmlformats.org/drawingml/2006/main">
              <a:ext uri="{FF2B5EF4-FFF2-40B4-BE49-F238E27FC236}">
                <a16:creationId xmlns:a16="http://schemas.microsoft.com/office/drawing/2014/main" id="{4A3DE907-14D9-4D17-B609-ABB5D2E5357B}"/>
              </a:ext>
            </a:extLst>
          </p:cNvPr>
          <p:cNvSpPr>
            <a:spLocks xmlns:a="http://schemas.openxmlformats.org/drawingml/2006/main" noGrp="1"/>
          </p:cNvSpPr>
          <p:nvPr/>
        </p:nvSpPr>
        <p:spPr>
          <a:xfrm xmlns:a="http://schemas.openxmlformats.org/drawingml/2006/main">
            <a:off x="5841683" y="1800035"/>
            <a:ext cx="546735"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on insight #1</a:t>
            </a:r>
          </a:p>
        </p:txBody>
      </p:sp>
      <p:sp>
        <p:nvSpPr>
          <p:cNvPr id="5" name="editable-text-05-04">
            <a:extLst xmlns:a="http://schemas.openxmlformats.org/drawingml/2006/main">
              <a:ext uri="{FF2B5EF4-FFF2-40B4-BE49-F238E27FC236}">
                <a16:creationId xmlns:a16="http://schemas.microsoft.com/office/drawing/2014/main" id="{200F3FF9-A591-4A71-A86F-C5AA55451135}"/>
              </a:ext>
            </a:extLst>
          </p:cNvPr>
          <p:cNvSpPr>
            <a:spLocks xmlns:a="http://schemas.openxmlformats.org/drawingml/2006/main" noGrp="1"/>
          </p:cNvSpPr>
          <p:nvPr/>
        </p:nvSpPr>
        <p:spPr>
          <a:xfrm xmlns:a="http://schemas.openxmlformats.org/drawingml/2006/main">
            <a:off x="3665220" y="2037779"/>
            <a:ext cx="4899565" cy="2415254"/>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450" b="0">
                <a:solidFill>
                  <a:srgbClr val="2A241B">
                    <a:alpha val="0"/>
                  </a:srgbClr>
                </a:solidFill>
                <a:latin typeface="Cormorant Garamond"/>
                <a:ea typeface="Cormorant Garamond"/>
                <a:cs typeface="Cormorant Garamond"/>
              </a:defRPr>
            </a:pPr>
            <a:r>
              <a:rPr sz="9450" b="0">
                <a:solidFill>
                  <a:srgbClr val="2A241B">
                    <a:alpha val="0"/>
                  </a:srgbClr>
                </a:solidFill>
                <a:latin typeface="Cormorant Garamond"/>
                <a:ea typeface="Cormorant Garamond"/>
                <a:cs typeface="Cormorant Garamond"/>
              </a:rPr>
              <a:t>Trust is the onboarding.</a:t>
            </a:r>
          </a:p>
        </p:txBody>
      </p:sp>
      <p:sp>
        <p:nvSpPr>
          <p:cNvPr id="6" name="editable-text-05-05">
            <a:extLst xmlns:a="http://schemas.openxmlformats.org/drawingml/2006/main">
              <a:ext uri="{FF2B5EF4-FFF2-40B4-BE49-F238E27FC236}">
                <a16:creationId xmlns:a16="http://schemas.microsoft.com/office/drawing/2014/main" id="{5F510712-3D4C-4A11-AED2-68A335AFE7D7}"/>
              </a:ext>
            </a:extLst>
          </p:cNvPr>
          <p:cNvSpPr>
            <a:spLocks xmlns:a="http://schemas.openxmlformats.org/drawingml/2006/main" noGrp="1"/>
          </p:cNvSpPr>
          <p:nvPr/>
        </p:nvSpPr>
        <p:spPr>
          <a:xfrm xmlns:a="http://schemas.openxmlformats.org/drawingml/2006/main">
            <a:off x="4252817" y="4556951"/>
            <a:ext cx="3724275"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The product can be perfect on day one, but if the welcome email reads like a contract, half of new accounts will never log in twice. The fix is small and writerly, not technical.</a:t>
            </a:r>
          </a:p>
        </p:txBody>
      </p:sp>
      <p:sp>
        <p:nvSpPr>
          <p:cNvPr id="7" name="editable-text-05-06">
            <a:extLst xmlns:a="http://schemas.openxmlformats.org/drawingml/2006/main">
              <a:ext uri="{FF2B5EF4-FFF2-40B4-BE49-F238E27FC236}">
                <a16:creationId xmlns:a16="http://schemas.microsoft.com/office/drawing/2014/main" id="{22F5DDC9-3420-4198-B056-451CA0F8BB62}"/>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April 29, 2026</a:t>
            </a:r>
          </a:p>
        </p:txBody>
      </p:sp>
      <p:sp>
        <p:nvSpPr>
          <p:cNvPr id="8" name="editable-text-05-07">
            <a:extLst xmlns:a="http://schemas.openxmlformats.org/drawingml/2006/main">
              <a:ext uri="{FF2B5EF4-FFF2-40B4-BE49-F238E27FC236}">
                <a16:creationId xmlns:a16="http://schemas.microsoft.com/office/drawing/2014/main" id="{DA5D8FE7-A2CF-4A24-8C84-9C257FC310D2}"/>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21342742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ba0159c52990496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6-01">
            <a:extLst xmlns:a="http://schemas.openxmlformats.org/drawingml/2006/main">
              <a:ext uri="{FF2B5EF4-FFF2-40B4-BE49-F238E27FC236}">
                <a16:creationId xmlns:a16="http://schemas.microsoft.com/office/drawing/2014/main" id="{5D162D9B-7D8A-4617-AD03-F28B52EBA902}"/>
              </a:ext>
            </a:extLst>
          </p:cNvPr>
          <p:cNvSpPr>
            <a:spLocks xmlns:a="http://schemas.openxmlformats.org/drawingml/2006/main" noGrp="1"/>
          </p:cNvSpPr>
          <p:nvPr/>
        </p:nvSpPr>
        <p:spPr>
          <a:xfrm xmlns:a="http://schemas.openxmlformats.org/drawingml/2006/main">
            <a:off x="507968" y="387382"/>
            <a:ext cx="816197"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By the numbers</a:t>
            </a:r>
          </a:p>
        </p:txBody>
      </p:sp>
      <p:sp>
        <p:nvSpPr>
          <p:cNvPr id="3" name="editable-text-06-02">
            <a:extLst xmlns:a="http://schemas.openxmlformats.org/drawingml/2006/main">
              <a:ext uri="{FF2B5EF4-FFF2-40B4-BE49-F238E27FC236}">
                <a16:creationId xmlns:a16="http://schemas.microsoft.com/office/drawing/2014/main" id="{6B7484D1-C10F-4E01-B029-47DCC2F3EDBD}"/>
              </a:ext>
            </a:extLst>
          </p:cNvPr>
          <p:cNvSpPr>
            <a:spLocks xmlns:a="http://schemas.openxmlformats.org/drawingml/2006/main" noGrp="1"/>
          </p:cNvSpPr>
          <p:nvPr/>
        </p:nvSpPr>
        <p:spPr>
          <a:xfrm xmlns:a="http://schemas.openxmlformats.org/drawingml/2006/main">
            <a:off x="11612213" y="381000"/>
            <a:ext cx="10991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vi</a:t>
            </a:r>
          </a:p>
        </p:txBody>
      </p:sp>
      <p:sp>
        <p:nvSpPr>
          <p:cNvPr id="4" name="editable-text-06-03">
            <a:extLst xmlns:a="http://schemas.openxmlformats.org/drawingml/2006/main">
              <a:ext uri="{FF2B5EF4-FFF2-40B4-BE49-F238E27FC236}">
                <a16:creationId xmlns:a16="http://schemas.microsoft.com/office/drawing/2014/main" id="{1CA3294C-09D9-499F-ACA4-07F03C4B2215}"/>
              </a:ext>
            </a:extLst>
          </p:cNvPr>
          <p:cNvSpPr>
            <a:spLocks xmlns:a="http://schemas.openxmlformats.org/drawingml/2006/main" noGrp="1"/>
          </p:cNvSpPr>
          <p:nvPr/>
        </p:nvSpPr>
        <p:spPr>
          <a:xfrm xmlns:a="http://schemas.openxmlformats.org/drawingml/2006/main">
            <a:off x="787432" y="1536668"/>
            <a:ext cx="1270635" cy="301276"/>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of new accounts open the third email,</a:t>
            </a:r>
          </a:p>
        </p:txBody>
      </p:sp>
      <p:sp>
        <p:nvSpPr>
          <p:cNvPr id="5" name="editable-text-06-04">
            <a:extLst xmlns:a="http://schemas.openxmlformats.org/drawingml/2006/main">
              <a:ext uri="{FF2B5EF4-FFF2-40B4-BE49-F238E27FC236}">
                <a16:creationId xmlns:a16="http://schemas.microsoft.com/office/drawing/2014/main" id="{1B12BA1D-8648-4956-9290-0370ABB0F69B}"/>
              </a:ext>
            </a:extLst>
          </p:cNvPr>
          <p:cNvSpPr>
            <a:spLocks xmlns:a="http://schemas.openxmlformats.org/drawingml/2006/main" noGrp="1"/>
          </p:cNvSpPr>
          <p:nvPr/>
        </p:nvSpPr>
        <p:spPr>
          <a:xfrm xmlns:a="http://schemas.openxmlformats.org/drawingml/2006/main">
            <a:off x="787432" y="1808988"/>
            <a:ext cx="1016889"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up from 41% last quarter.</a:t>
            </a:r>
          </a:p>
        </p:txBody>
      </p:sp>
      <p:sp>
        <p:nvSpPr>
          <p:cNvPr id="6" name="editable-text-06-05">
            <a:extLst xmlns:a="http://schemas.openxmlformats.org/drawingml/2006/main">
              <a:ext uri="{FF2B5EF4-FFF2-40B4-BE49-F238E27FC236}">
                <a16:creationId xmlns:a16="http://schemas.microsoft.com/office/drawing/2014/main" id="{BCE6BC4D-B185-4CB4-B394-0DA3D5396061}"/>
              </a:ext>
            </a:extLst>
          </p:cNvPr>
          <p:cNvSpPr>
            <a:spLocks xmlns:a="http://schemas.openxmlformats.org/drawingml/2006/main" noGrp="1"/>
          </p:cNvSpPr>
          <p:nvPr/>
        </p:nvSpPr>
        <p:spPr>
          <a:xfrm xmlns:a="http://schemas.openxmlformats.org/drawingml/2006/main">
            <a:off x="787432" y="3432905"/>
            <a:ext cx="3021140" cy="25019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0" b="0">
                <a:solidFill>
                  <a:srgbClr val="2A241B">
                    <a:alpha val="0"/>
                  </a:srgbClr>
                </a:solidFill>
                <a:latin typeface="Cormorant Garamond"/>
                <a:ea typeface="Cormorant Garamond"/>
                <a:cs typeface="Cormorant Garamond"/>
              </a:defRPr>
            </a:pPr>
            <a:r>
              <a:rPr sz="18000" b="0">
                <a:solidFill>
                  <a:srgbClr val="2A241B">
                    <a:alpha val="0"/>
                  </a:srgbClr>
                </a:solidFill>
                <a:latin typeface="Cormorant Garamond"/>
                <a:ea typeface="Cormorant Garamond"/>
                <a:cs typeface="Cormorant Garamond"/>
              </a:rPr>
              <a:t>68%</a:t>
            </a:r>
          </a:p>
        </p:txBody>
      </p:sp>
      <p:sp>
        <p:nvSpPr>
          <p:cNvPr id="7" name="editable-text-06-06">
            <a:extLst xmlns:a="http://schemas.openxmlformats.org/drawingml/2006/main">
              <a:ext uri="{FF2B5EF4-FFF2-40B4-BE49-F238E27FC236}">
                <a16:creationId xmlns:a16="http://schemas.microsoft.com/office/drawing/2014/main" id="{D785F71C-C84B-4A8D-A8B1-B21D3F27F9CB}"/>
              </a:ext>
            </a:extLst>
          </p:cNvPr>
          <p:cNvSpPr>
            <a:spLocks xmlns:a="http://schemas.openxmlformats.org/drawingml/2006/main" noGrp="1"/>
          </p:cNvSpPr>
          <p:nvPr/>
        </p:nvSpPr>
        <p:spPr>
          <a:xfrm xmlns:a="http://schemas.openxmlformats.org/drawingml/2006/main">
            <a:off x="8356568" y="1416082"/>
            <a:ext cx="1118902" cy="15747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1250" b="0">
                <a:solidFill>
                  <a:srgbClr val="2A241B">
                    <a:alpha val="0"/>
                  </a:srgbClr>
                </a:solidFill>
                <a:latin typeface="Cormorant Garamond"/>
                <a:ea typeface="Cormorant Garamond"/>
                <a:cs typeface="Cormorant Garamond"/>
              </a:defRPr>
            </a:pPr>
            <a:r>
              <a:rPr sz="11250" b="0">
                <a:solidFill>
                  <a:srgbClr val="2A241B">
                    <a:alpha val="0"/>
                  </a:srgbClr>
                </a:solidFill>
                <a:latin typeface="Cormorant Garamond"/>
                <a:ea typeface="Cormorant Garamond"/>
                <a:cs typeface="Cormorant Garamond"/>
              </a:rPr>
              <a:t>28</a:t>
            </a:r>
          </a:p>
        </p:txBody>
      </p:sp>
      <p:sp>
        <p:nvSpPr>
          <p:cNvPr id="8" name="editable-text-06-07">
            <a:extLst xmlns:a="http://schemas.openxmlformats.org/drawingml/2006/main">
              <a:ext uri="{FF2B5EF4-FFF2-40B4-BE49-F238E27FC236}">
                <a16:creationId xmlns:a16="http://schemas.microsoft.com/office/drawing/2014/main" id="{05B56ED3-4675-4D53-B8FB-10B97EFC82BA}"/>
              </a:ext>
            </a:extLst>
          </p:cNvPr>
          <p:cNvSpPr>
            <a:spLocks xmlns:a="http://schemas.openxmlformats.org/drawingml/2006/main" noGrp="1"/>
          </p:cNvSpPr>
          <p:nvPr/>
        </p:nvSpPr>
        <p:spPr>
          <a:xfrm xmlns:a="http://schemas.openxmlformats.org/drawingml/2006/main">
            <a:off x="8356568" y="3004376"/>
            <a:ext cx="1421416" cy="282226"/>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long-form customer interviews, across four segments.</a:t>
            </a:r>
          </a:p>
        </p:txBody>
      </p:sp>
      <p:sp>
        <p:nvSpPr>
          <p:cNvPr id="9" name="editable-text-06-08">
            <a:extLst xmlns:a="http://schemas.openxmlformats.org/drawingml/2006/main">
              <a:ext uri="{FF2B5EF4-FFF2-40B4-BE49-F238E27FC236}">
                <a16:creationId xmlns:a16="http://schemas.microsoft.com/office/drawing/2014/main" id="{05F489E9-72FF-4EE0-BA9B-AAF786598FBE}"/>
              </a:ext>
            </a:extLst>
          </p:cNvPr>
          <p:cNvSpPr>
            <a:spLocks xmlns:a="http://schemas.openxmlformats.org/drawingml/2006/main" noGrp="1"/>
          </p:cNvSpPr>
          <p:nvPr/>
        </p:nvSpPr>
        <p:spPr>
          <a:xfrm xmlns:a="http://schemas.openxmlformats.org/drawingml/2006/main">
            <a:off x="8356568" y="3854482"/>
            <a:ext cx="603218" cy="15747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1250" b="0">
                <a:solidFill>
                  <a:srgbClr val="2A241B">
                    <a:alpha val="0"/>
                  </a:srgbClr>
                </a:solidFill>
                <a:latin typeface="Cormorant Garamond"/>
                <a:ea typeface="Cormorant Garamond"/>
                <a:cs typeface="Cormorant Garamond"/>
              </a:defRPr>
            </a:pPr>
            <a:r>
              <a:rPr sz="11250" b="0">
                <a:solidFill>
                  <a:srgbClr val="2A241B">
                    <a:alpha val="0"/>
                  </a:srgbClr>
                </a:solidFill>
                <a:latin typeface="Cormorant Garamond"/>
                <a:ea typeface="Cormorant Garamond"/>
                <a:cs typeface="Cormorant Garamond"/>
              </a:rPr>
              <a:t>9</a:t>
            </a:r>
          </a:p>
        </p:txBody>
      </p:sp>
      <p:sp>
        <p:nvSpPr>
          <p:cNvPr id="10" name="editable-text-06-09">
            <a:extLst xmlns:a="http://schemas.openxmlformats.org/drawingml/2006/main">
              <a:ext uri="{FF2B5EF4-FFF2-40B4-BE49-F238E27FC236}">
                <a16:creationId xmlns:a16="http://schemas.microsoft.com/office/drawing/2014/main" id="{6145583A-227B-47BA-A7BA-9B431D1768CC}"/>
              </a:ext>
            </a:extLst>
          </p:cNvPr>
          <p:cNvSpPr>
            <a:spLocks xmlns:a="http://schemas.openxmlformats.org/drawingml/2006/main" noGrp="1"/>
          </p:cNvSpPr>
          <p:nvPr/>
        </p:nvSpPr>
        <p:spPr>
          <a:xfrm xmlns:a="http://schemas.openxmlformats.org/drawingml/2006/main">
            <a:off x="8356568" y="5442776"/>
            <a:ext cx="1336929" cy="282226"/>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teams we shadowed for their busiest week of the year.</a:t>
            </a:r>
          </a:p>
        </p:txBody>
      </p:sp>
      <p:sp>
        <p:nvSpPr>
          <p:cNvPr id="11" name="editable-text-06-10">
            <a:extLst xmlns:a="http://schemas.openxmlformats.org/drawingml/2006/main">
              <a:ext uri="{FF2B5EF4-FFF2-40B4-BE49-F238E27FC236}">
                <a16:creationId xmlns:a16="http://schemas.microsoft.com/office/drawing/2014/main" id="{F8D72EF4-AE20-45E5-B5C1-990CB48778AA}"/>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12" name="editable-text-06-11">
            <a:extLst xmlns:a="http://schemas.openxmlformats.org/drawingml/2006/main">
              <a:ext uri="{FF2B5EF4-FFF2-40B4-BE49-F238E27FC236}">
                <a16:creationId xmlns:a16="http://schemas.microsoft.com/office/drawing/2014/main" id="{F2217632-6547-4014-B88C-E541615D9208}"/>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15764591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5cf910ef8c154a0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7-01">
            <a:extLst xmlns:a="http://schemas.openxmlformats.org/drawingml/2006/main">
              <a:ext uri="{FF2B5EF4-FFF2-40B4-BE49-F238E27FC236}">
                <a16:creationId xmlns:a16="http://schemas.microsoft.com/office/drawing/2014/main" id="{501035CF-E1FA-4CD7-8A02-EA1473E40339}"/>
              </a:ext>
            </a:extLst>
          </p:cNvPr>
          <p:cNvSpPr>
            <a:spLocks xmlns:a="http://schemas.openxmlformats.org/drawingml/2006/main" noGrp="1"/>
          </p:cNvSpPr>
          <p:nvPr/>
        </p:nvSpPr>
        <p:spPr>
          <a:xfrm xmlns:a="http://schemas.openxmlformats.org/drawingml/2006/main">
            <a:off x="507968" y="387382"/>
            <a:ext cx="720090"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In their words</a:t>
            </a:r>
          </a:p>
        </p:txBody>
      </p:sp>
      <p:sp>
        <p:nvSpPr>
          <p:cNvPr id="3" name="editable-text-07-02">
            <a:extLst xmlns:a="http://schemas.openxmlformats.org/drawingml/2006/main">
              <a:ext uri="{FF2B5EF4-FFF2-40B4-BE49-F238E27FC236}">
                <a16:creationId xmlns:a16="http://schemas.microsoft.com/office/drawing/2014/main" id="{2A54DC9E-EEFB-4117-81C1-94641434ED5E}"/>
              </a:ext>
            </a:extLst>
          </p:cNvPr>
          <p:cNvSpPr>
            <a:spLocks xmlns:a="http://schemas.openxmlformats.org/drawingml/2006/main" noGrp="1"/>
          </p:cNvSpPr>
          <p:nvPr/>
        </p:nvSpPr>
        <p:spPr>
          <a:xfrm xmlns:a="http://schemas.openxmlformats.org/drawingml/2006/main">
            <a:off x="11584400" y="381000"/>
            <a:ext cx="137732"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vii</a:t>
            </a:r>
          </a:p>
        </p:txBody>
      </p:sp>
      <p:sp>
        <p:nvSpPr>
          <p:cNvPr id="4" name="editable-text-07-03">
            <a:extLst xmlns:a="http://schemas.openxmlformats.org/drawingml/2006/main">
              <a:ext uri="{FF2B5EF4-FFF2-40B4-BE49-F238E27FC236}">
                <a16:creationId xmlns:a16="http://schemas.microsoft.com/office/drawing/2014/main" id="{688152B1-5B24-4359-A79E-24135C367585}"/>
              </a:ext>
            </a:extLst>
          </p:cNvPr>
          <p:cNvSpPr>
            <a:spLocks xmlns:a="http://schemas.openxmlformats.org/drawingml/2006/main" noGrp="1"/>
          </p:cNvSpPr>
          <p:nvPr/>
        </p:nvSpPr>
        <p:spPr>
          <a:xfrm xmlns:a="http://schemas.openxmlformats.org/drawingml/2006/main">
            <a:off x="6081617" y="2764727"/>
            <a:ext cx="6686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E8C9B6">
                    <a:alpha val="0"/>
                  </a:srgbClr>
                </a:solidFill>
                <a:latin typeface="Cormorant Garamond"/>
                <a:ea typeface="Cormorant Garamond"/>
                <a:cs typeface="Cormorant Garamond"/>
              </a:defRPr>
            </a:pPr>
            <a:r>
              <a:rPr sz="900" b="0">
                <a:solidFill>
                  <a:srgbClr val="E8C9B6">
                    <a:alpha val="0"/>
                  </a:srgbClr>
                </a:solidFill>
                <a:latin typeface="Cormorant Garamond"/>
                <a:ea typeface="Cormorant Garamond"/>
                <a:cs typeface="Cormorant Garamond"/>
              </a:rPr>
              <a:t>"</a:t>
            </a:r>
          </a:p>
        </p:txBody>
      </p:sp>
      <p:sp>
        <p:nvSpPr>
          <p:cNvPr id="5" name="editable-text-07-04">
            <a:extLst xmlns:a="http://schemas.openxmlformats.org/drawingml/2006/main">
              <a:ext uri="{FF2B5EF4-FFF2-40B4-BE49-F238E27FC236}">
                <a16:creationId xmlns:a16="http://schemas.microsoft.com/office/drawing/2014/main" id="{DFCF8ECC-9C01-4051-A694-2F30D3BAAA98}"/>
              </a:ext>
            </a:extLst>
          </p:cNvPr>
          <p:cNvSpPr>
            <a:spLocks xmlns:a="http://schemas.openxmlformats.org/drawingml/2006/main" noGrp="1"/>
          </p:cNvSpPr>
          <p:nvPr/>
        </p:nvSpPr>
        <p:spPr>
          <a:xfrm xmlns:a="http://schemas.openxmlformats.org/drawingml/2006/main">
            <a:off x="5338572" y="2983421"/>
            <a:ext cx="1552861" cy="526637"/>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1073" b="0">
                <a:solidFill>
                  <a:srgbClr val="2A241B">
                    <a:alpha val="0"/>
                  </a:srgbClr>
                </a:solidFill>
                <a:latin typeface="Cormorant Garamond"/>
                <a:ea typeface="Cormorant Garamond"/>
                <a:cs typeface="Cormorant Garamond"/>
              </a:defRPr>
            </a:pPr>
            <a:r>
              <a:rPr sz="1073" b="0">
                <a:solidFill>
                  <a:srgbClr val="2A241B">
                    <a:alpha val="0"/>
                  </a:srgbClr>
                </a:solidFill>
                <a:latin typeface="Cormorant Garamond"/>
                <a:ea typeface="Cormorant Garamond"/>
                <a:cs typeface="Cormorant Garamond"/>
              </a:rPr>
              <a:t>I did not need a better product. I needed it to behave like it remembered me.</a:t>
            </a:r>
          </a:p>
        </p:txBody>
      </p:sp>
      <p:sp>
        <p:nvSpPr>
          <p:cNvPr id="6" name="editable-text-07-05">
            <a:extLst xmlns:a="http://schemas.openxmlformats.org/drawingml/2006/main">
              <a:ext uri="{FF2B5EF4-FFF2-40B4-BE49-F238E27FC236}">
                <a16:creationId xmlns:a16="http://schemas.microsoft.com/office/drawing/2014/main" id="{A5A1A6B4-FD20-4AB7-8121-7487E4DBE9FB}"/>
              </a:ext>
            </a:extLst>
          </p:cNvPr>
          <p:cNvSpPr>
            <a:spLocks xmlns:a="http://schemas.openxmlformats.org/drawingml/2006/main" noGrp="1"/>
          </p:cNvSpPr>
          <p:nvPr/>
        </p:nvSpPr>
        <p:spPr>
          <a:xfrm xmlns:a="http://schemas.openxmlformats.org/drawingml/2006/main">
            <a:off x="5397341" y="3801999"/>
            <a:ext cx="1435418"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Renée, three-year customer</a:t>
            </a:r>
          </a:p>
        </p:txBody>
      </p:sp>
      <p:sp>
        <p:nvSpPr>
          <p:cNvPr id="7" name="editable-text-07-06">
            <a:extLst xmlns:a="http://schemas.openxmlformats.org/drawingml/2006/main">
              <a:ext uri="{FF2B5EF4-FFF2-40B4-BE49-F238E27FC236}">
                <a16:creationId xmlns:a16="http://schemas.microsoft.com/office/drawing/2014/main" id="{6F6EE4BB-D8A0-47EB-A5C9-0478938F31B6}"/>
              </a:ext>
            </a:extLst>
          </p:cNvPr>
          <p:cNvSpPr>
            <a:spLocks xmlns:a="http://schemas.openxmlformats.org/drawingml/2006/main" noGrp="1"/>
          </p:cNvSpPr>
          <p:nvPr/>
        </p:nvSpPr>
        <p:spPr>
          <a:xfrm xmlns:a="http://schemas.openxmlformats.org/drawingml/2006/main">
            <a:off x="5636228" y="3957161"/>
            <a:ext cx="95754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Studio of seven, Lisbon</a:t>
            </a:r>
          </a:p>
        </p:txBody>
      </p:sp>
      <p:sp>
        <p:nvSpPr>
          <p:cNvPr id="8" name="editable-text-07-07">
            <a:extLst xmlns:a="http://schemas.openxmlformats.org/drawingml/2006/main">
              <a:ext uri="{FF2B5EF4-FFF2-40B4-BE49-F238E27FC236}">
                <a16:creationId xmlns:a16="http://schemas.microsoft.com/office/drawing/2014/main" id="{D59090D9-3D51-4D23-90FB-817AEEABBDAA}"/>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9" name="editable-text-07-08">
            <a:extLst xmlns:a="http://schemas.openxmlformats.org/drawingml/2006/main">
              <a:ext uri="{FF2B5EF4-FFF2-40B4-BE49-F238E27FC236}">
                <a16:creationId xmlns:a16="http://schemas.microsoft.com/office/drawing/2014/main" id="{1034E94D-3AF3-422D-8C23-37F8D0585CE1}"/>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2805424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56cd421d2f846d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8-01">
            <a:extLst xmlns:a="http://schemas.openxmlformats.org/drawingml/2006/main">
              <a:ext uri="{FF2B5EF4-FFF2-40B4-BE49-F238E27FC236}">
                <a16:creationId xmlns:a16="http://schemas.microsoft.com/office/drawing/2014/main" id="{41305789-463D-46CA-A137-5DE71C293C9F}"/>
              </a:ext>
            </a:extLst>
          </p:cNvPr>
          <p:cNvSpPr>
            <a:spLocks xmlns:a="http://schemas.openxmlformats.org/drawingml/2006/main" noGrp="1"/>
          </p:cNvSpPr>
          <p:nvPr/>
        </p:nvSpPr>
        <p:spPr>
          <a:xfrm xmlns:a="http://schemas.openxmlformats.org/drawingml/2006/main">
            <a:off x="507968" y="387382"/>
            <a:ext cx="953072"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What we'll do next</a:t>
            </a:r>
          </a:p>
        </p:txBody>
      </p:sp>
      <p:sp>
        <p:nvSpPr>
          <p:cNvPr id="3" name="editable-text-08-02">
            <a:extLst xmlns:a="http://schemas.openxmlformats.org/drawingml/2006/main">
              <a:ext uri="{FF2B5EF4-FFF2-40B4-BE49-F238E27FC236}">
                <a16:creationId xmlns:a16="http://schemas.microsoft.com/office/drawing/2014/main" id="{1D446C4A-CADF-453B-998B-574AF6A6FB91}"/>
              </a:ext>
            </a:extLst>
          </p:cNvPr>
          <p:cNvSpPr>
            <a:spLocks xmlns:a="http://schemas.openxmlformats.org/drawingml/2006/main" noGrp="1"/>
          </p:cNvSpPr>
          <p:nvPr/>
        </p:nvSpPr>
        <p:spPr>
          <a:xfrm xmlns:a="http://schemas.openxmlformats.org/drawingml/2006/main">
            <a:off x="11556587" y="381000"/>
            <a:ext cx="165545"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viii</a:t>
            </a:r>
          </a:p>
        </p:txBody>
      </p:sp>
      <p:sp>
        <p:nvSpPr>
          <p:cNvPr id="4" name="editable-text-08-03">
            <a:extLst xmlns:a="http://schemas.openxmlformats.org/drawingml/2006/main">
              <a:ext uri="{FF2B5EF4-FFF2-40B4-BE49-F238E27FC236}">
                <a16:creationId xmlns:a16="http://schemas.microsoft.com/office/drawing/2014/main" id="{A9DDD5E1-E2CC-4D0E-B379-95BB5E731F86}"/>
              </a:ext>
            </a:extLst>
          </p:cNvPr>
          <p:cNvSpPr>
            <a:spLocks xmlns:a="http://schemas.openxmlformats.org/drawingml/2006/main" noGrp="1"/>
          </p:cNvSpPr>
          <p:nvPr/>
        </p:nvSpPr>
        <p:spPr>
          <a:xfrm xmlns:a="http://schemas.openxmlformats.org/drawingml/2006/main">
            <a:off x="838200" y="1578674"/>
            <a:ext cx="3525584" cy="180003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6975" b="0">
                <a:solidFill>
                  <a:srgbClr val="2A241B">
                    <a:alpha val="0"/>
                  </a:srgbClr>
                </a:solidFill>
                <a:latin typeface="Cormorant Garamond"/>
                <a:ea typeface="Cormorant Garamond"/>
                <a:cs typeface="Cormorant Garamond"/>
              </a:defRPr>
            </a:pPr>
            <a:r>
              <a:rPr sz="6975" b="0">
                <a:solidFill>
                  <a:srgbClr val="2A241B">
                    <a:alpha val="0"/>
                  </a:srgbClr>
                </a:solidFill>
                <a:latin typeface="Cormorant Garamond"/>
                <a:ea typeface="Cormorant Garamond"/>
                <a:cs typeface="Cormorant Garamond"/>
              </a:rPr>
              <a:t>Three small moves,</a:t>
            </a:r>
          </a:p>
        </p:txBody>
      </p:sp>
      <p:sp>
        <p:nvSpPr>
          <p:cNvPr id="5" name="editable-text-08-04">
            <a:extLst xmlns:a="http://schemas.openxmlformats.org/drawingml/2006/main">
              <a:ext uri="{FF2B5EF4-FFF2-40B4-BE49-F238E27FC236}">
                <a16:creationId xmlns:a16="http://schemas.microsoft.com/office/drawing/2014/main" id="{847ABFE8-C0B4-44E7-871D-26EABEF895D8}"/>
              </a:ext>
            </a:extLst>
          </p:cNvPr>
          <p:cNvSpPr>
            <a:spLocks xmlns:a="http://schemas.openxmlformats.org/drawingml/2006/main" noGrp="1"/>
          </p:cNvSpPr>
          <p:nvPr/>
        </p:nvSpPr>
        <p:spPr>
          <a:xfrm xmlns:a="http://schemas.openxmlformats.org/drawingml/2006/main">
            <a:off x="838200" y="3184779"/>
            <a:ext cx="4510564" cy="180003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6975" b="0">
                <a:solidFill>
                  <a:srgbClr val="2A241B">
                    <a:alpha val="0"/>
                  </a:srgbClr>
                </a:solidFill>
                <a:latin typeface="Cormorant Garamond"/>
                <a:ea typeface="Cormorant Garamond"/>
                <a:cs typeface="Cormorant Garamond"/>
              </a:defRPr>
            </a:pPr>
            <a:r>
              <a:rPr sz="6975" b="0">
                <a:solidFill>
                  <a:srgbClr val="2A241B">
                    <a:alpha val="0"/>
                  </a:srgbClr>
                </a:solidFill>
                <a:latin typeface="Cormorant Garamond"/>
                <a:ea typeface="Cormorant Garamond"/>
                <a:cs typeface="Cormorant Garamond"/>
              </a:rPr>
              <a:t>before the next debrief.</a:t>
            </a:r>
          </a:p>
        </p:txBody>
      </p:sp>
      <p:sp>
        <p:nvSpPr>
          <p:cNvPr id="6" name="editable-text-08-05">
            <a:extLst xmlns:a="http://schemas.openxmlformats.org/drawingml/2006/main">
              <a:ext uri="{FF2B5EF4-FFF2-40B4-BE49-F238E27FC236}">
                <a16:creationId xmlns:a16="http://schemas.microsoft.com/office/drawing/2014/main" id="{FF1021AC-B624-4EBC-A7D8-61B40D8F70E9}"/>
              </a:ext>
            </a:extLst>
          </p:cNvPr>
          <p:cNvSpPr>
            <a:spLocks xmlns:a="http://schemas.openxmlformats.org/drawingml/2006/main" noGrp="1"/>
          </p:cNvSpPr>
          <p:nvPr/>
        </p:nvSpPr>
        <p:spPr>
          <a:xfrm xmlns:a="http://schemas.openxmlformats.org/drawingml/2006/main">
            <a:off x="838200" y="5076730"/>
            <a:ext cx="2345055"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Each one is small enough to ship inside a sprint, and structured so we can tell, six weeks from now, whether it moved the dial.</a:t>
            </a:r>
          </a:p>
        </p:txBody>
      </p:sp>
      <p:sp>
        <p:nvSpPr>
          <p:cNvPr id="7" name="editable-text-08-06">
            <a:extLst xmlns:a="http://schemas.openxmlformats.org/drawingml/2006/main">
              <a:ext uri="{FF2B5EF4-FFF2-40B4-BE49-F238E27FC236}">
                <a16:creationId xmlns:a16="http://schemas.microsoft.com/office/drawing/2014/main" id="{29D10994-6C50-49F4-BAD0-BCA091987248}"/>
              </a:ext>
            </a:extLst>
          </p:cNvPr>
          <p:cNvSpPr>
            <a:spLocks xmlns:a="http://schemas.openxmlformats.org/drawingml/2006/main" noGrp="1"/>
          </p:cNvSpPr>
          <p:nvPr/>
        </p:nvSpPr>
        <p:spPr>
          <a:xfrm xmlns:a="http://schemas.openxmlformats.org/drawingml/2006/main">
            <a:off x="6413468" y="1575721"/>
            <a:ext cx="8591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a:t>
            </a:r>
          </a:p>
        </p:txBody>
      </p:sp>
      <p:sp>
        <p:nvSpPr>
          <p:cNvPr id="8" name="editable-text-08-07">
            <a:extLst xmlns:a="http://schemas.openxmlformats.org/drawingml/2006/main">
              <a:ext uri="{FF2B5EF4-FFF2-40B4-BE49-F238E27FC236}">
                <a16:creationId xmlns:a16="http://schemas.microsoft.com/office/drawing/2014/main" id="{27122F46-C176-425A-99AC-0348AD9534CF}"/>
              </a:ext>
            </a:extLst>
          </p:cNvPr>
          <p:cNvSpPr>
            <a:spLocks xmlns:a="http://schemas.openxmlformats.org/drawingml/2006/main" noGrp="1"/>
          </p:cNvSpPr>
          <p:nvPr/>
        </p:nvSpPr>
        <p:spPr>
          <a:xfrm xmlns:a="http://schemas.openxmlformats.org/drawingml/2006/main">
            <a:off x="7048500" y="1397032"/>
            <a:ext cx="2793492" cy="3302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138" b="0">
                <a:solidFill>
                  <a:srgbClr val="2A241B">
                    <a:alpha val="0"/>
                  </a:srgbClr>
                </a:solidFill>
                <a:latin typeface="Cormorant Garamond"/>
                <a:ea typeface="Cormorant Garamond"/>
                <a:cs typeface="Cormorant Garamond"/>
              </a:defRPr>
            </a:pPr>
            <a:r>
              <a:rPr sz="2138" b="0">
                <a:solidFill>
                  <a:srgbClr val="2A241B">
                    <a:alpha val="0"/>
                  </a:srgbClr>
                </a:solidFill>
                <a:latin typeface="Cormorant Garamond"/>
                <a:ea typeface="Cormorant Garamond"/>
                <a:cs typeface="Cormorant Garamond"/>
              </a:rPr>
              <a:t>Rewrite the first three emails</a:t>
            </a:r>
          </a:p>
        </p:txBody>
      </p:sp>
      <p:sp>
        <p:nvSpPr>
          <p:cNvPr id="9" name="editable-text-08-08">
            <a:extLst xmlns:a="http://schemas.openxmlformats.org/drawingml/2006/main">
              <a:ext uri="{FF2B5EF4-FFF2-40B4-BE49-F238E27FC236}">
                <a16:creationId xmlns:a16="http://schemas.microsoft.com/office/drawing/2014/main" id="{AB9135DC-74FB-4A52-AE94-731F28A7BD58}"/>
              </a:ext>
            </a:extLst>
          </p:cNvPr>
          <p:cNvSpPr>
            <a:spLocks xmlns:a="http://schemas.openxmlformats.org/drawingml/2006/main" noGrp="1"/>
          </p:cNvSpPr>
          <p:nvPr/>
        </p:nvSpPr>
        <p:spPr>
          <a:xfrm xmlns:a="http://schemas.openxmlformats.org/drawingml/2006/main">
            <a:off x="7048500" y="1706594"/>
            <a:ext cx="3028569"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From templated to written. Owner: lifecycle. By: May 17.</a:t>
            </a:r>
          </a:p>
        </p:txBody>
      </p:sp>
      <p:sp>
        <p:nvSpPr>
          <p:cNvPr id="10" name="editable-text-08-09">
            <a:extLst xmlns:a="http://schemas.openxmlformats.org/drawingml/2006/main">
              <a:ext uri="{FF2B5EF4-FFF2-40B4-BE49-F238E27FC236}">
                <a16:creationId xmlns:a16="http://schemas.microsoft.com/office/drawing/2014/main" id="{6B5C18AD-9AA5-41D7-A331-7332FC241B85}"/>
              </a:ext>
            </a:extLst>
          </p:cNvPr>
          <p:cNvSpPr>
            <a:spLocks xmlns:a="http://schemas.openxmlformats.org/drawingml/2006/main" noGrp="1"/>
          </p:cNvSpPr>
          <p:nvPr/>
        </p:nvSpPr>
        <p:spPr>
          <a:xfrm xmlns:a="http://schemas.openxmlformats.org/drawingml/2006/main">
            <a:off x="6413468" y="2450211"/>
            <a:ext cx="11363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ii.</a:t>
            </a:r>
          </a:p>
        </p:txBody>
      </p:sp>
      <p:sp>
        <p:nvSpPr>
          <p:cNvPr id="11" name="editable-text-08-10">
            <a:extLst xmlns:a="http://schemas.openxmlformats.org/drawingml/2006/main">
              <a:ext uri="{FF2B5EF4-FFF2-40B4-BE49-F238E27FC236}">
                <a16:creationId xmlns:a16="http://schemas.microsoft.com/office/drawing/2014/main" id="{3DB26EDA-63DB-471A-BD1A-82E0564282DF}"/>
              </a:ext>
            </a:extLst>
          </p:cNvPr>
          <p:cNvSpPr>
            <a:spLocks xmlns:a="http://schemas.openxmlformats.org/drawingml/2006/main" noGrp="1"/>
          </p:cNvSpPr>
          <p:nvPr/>
        </p:nvSpPr>
        <p:spPr>
          <a:xfrm xmlns:a="http://schemas.openxmlformats.org/drawingml/2006/main">
            <a:off x="7048500" y="2271522"/>
            <a:ext cx="2490216" cy="3302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138" b="0">
                <a:solidFill>
                  <a:srgbClr val="2A241B">
                    <a:alpha val="0"/>
                  </a:srgbClr>
                </a:solidFill>
                <a:latin typeface="Cormorant Garamond"/>
                <a:ea typeface="Cormorant Garamond"/>
                <a:cs typeface="Cormorant Garamond"/>
              </a:defRPr>
            </a:pPr>
            <a:r>
              <a:rPr sz="2138" b="0">
                <a:solidFill>
                  <a:srgbClr val="2A241B">
                    <a:alpha val="0"/>
                  </a:srgbClr>
                </a:solidFill>
                <a:latin typeface="Cormorant Garamond"/>
                <a:ea typeface="Cormorant Garamond"/>
                <a:cs typeface="Cormorant Garamond"/>
              </a:rPr>
              <a:t>Quiet upgrades by default</a:t>
            </a:r>
          </a:p>
        </p:txBody>
      </p:sp>
      <p:sp>
        <p:nvSpPr>
          <p:cNvPr id="12" name="editable-text-08-11">
            <a:extLst xmlns:a="http://schemas.openxmlformats.org/drawingml/2006/main">
              <a:ext uri="{FF2B5EF4-FFF2-40B4-BE49-F238E27FC236}">
                <a16:creationId xmlns:a16="http://schemas.microsoft.com/office/drawing/2014/main" id="{5DCCD05A-910D-41F9-8DB6-74A84E8AB3FE}"/>
              </a:ext>
            </a:extLst>
          </p:cNvPr>
          <p:cNvSpPr>
            <a:spLocks xmlns:a="http://schemas.openxmlformats.org/drawingml/2006/main" noGrp="1"/>
          </p:cNvSpPr>
          <p:nvPr/>
        </p:nvSpPr>
        <p:spPr>
          <a:xfrm xmlns:a="http://schemas.openxmlformats.org/drawingml/2006/main">
            <a:off x="7048500" y="2581085"/>
            <a:ext cx="4376833" cy="1714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Opt-in for power users; soft rollout for everyone else. Owner: product. By: June 1.</a:t>
            </a:r>
          </a:p>
        </p:txBody>
      </p:sp>
      <p:sp>
        <p:nvSpPr>
          <p:cNvPr id="13" name="editable-text-08-12">
            <a:extLst xmlns:a="http://schemas.openxmlformats.org/drawingml/2006/main">
              <a:ext uri="{FF2B5EF4-FFF2-40B4-BE49-F238E27FC236}">
                <a16:creationId xmlns:a16="http://schemas.microsoft.com/office/drawing/2014/main" id="{DE579001-8C40-4F19-A25E-F7631799174A}"/>
              </a:ext>
            </a:extLst>
          </p:cNvPr>
          <p:cNvSpPr>
            <a:spLocks xmlns:a="http://schemas.openxmlformats.org/drawingml/2006/main" noGrp="1"/>
          </p:cNvSpPr>
          <p:nvPr/>
        </p:nvSpPr>
        <p:spPr>
          <a:xfrm xmlns:a="http://schemas.openxmlformats.org/drawingml/2006/main">
            <a:off x="6413468" y="3410331"/>
            <a:ext cx="141351"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iii.</a:t>
            </a:r>
          </a:p>
        </p:txBody>
      </p:sp>
      <p:sp>
        <p:nvSpPr>
          <p:cNvPr id="14" name="editable-text-08-13">
            <a:extLst xmlns:a="http://schemas.openxmlformats.org/drawingml/2006/main">
              <a:ext uri="{FF2B5EF4-FFF2-40B4-BE49-F238E27FC236}">
                <a16:creationId xmlns:a16="http://schemas.microsoft.com/office/drawing/2014/main" id="{AB5836FD-9DE4-468F-83E2-EC0C5B7C52DF}"/>
              </a:ext>
            </a:extLst>
          </p:cNvPr>
          <p:cNvSpPr>
            <a:spLocks xmlns:a="http://schemas.openxmlformats.org/drawingml/2006/main" noGrp="1"/>
          </p:cNvSpPr>
          <p:nvPr/>
        </p:nvSpPr>
        <p:spPr>
          <a:xfrm xmlns:a="http://schemas.openxmlformats.org/drawingml/2006/main">
            <a:off x="7048500" y="3146012"/>
            <a:ext cx="2680335" cy="3302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138" b="0">
                <a:solidFill>
                  <a:srgbClr val="2A241B">
                    <a:alpha val="0"/>
                  </a:srgbClr>
                </a:solidFill>
                <a:latin typeface="Cormorant Garamond"/>
                <a:ea typeface="Cormorant Garamond"/>
                <a:cs typeface="Cormorant Garamond"/>
              </a:defRPr>
            </a:pPr>
            <a:r>
              <a:rPr sz="2138" b="0">
                <a:solidFill>
                  <a:srgbClr val="2A241B">
                    <a:alpha val="0"/>
                  </a:srgbClr>
                </a:solidFill>
                <a:latin typeface="Cormorant Garamond"/>
                <a:ea typeface="Cormorant Garamond"/>
                <a:cs typeface="Cormorant Garamond"/>
              </a:rPr>
              <a:t>Make the inbox a search bar</a:t>
            </a:r>
          </a:p>
        </p:txBody>
      </p:sp>
      <p:sp>
        <p:nvSpPr>
          <p:cNvPr id="15" name="editable-text-08-14">
            <a:extLst xmlns:a="http://schemas.openxmlformats.org/drawingml/2006/main">
              <a:ext uri="{FF2B5EF4-FFF2-40B4-BE49-F238E27FC236}">
                <a16:creationId xmlns:a16="http://schemas.microsoft.com/office/drawing/2014/main" id="{F4343845-B66D-4C43-B20F-54640B4A6C41}"/>
              </a:ext>
            </a:extLst>
          </p:cNvPr>
          <p:cNvSpPr>
            <a:spLocks xmlns:a="http://schemas.openxmlformats.org/drawingml/2006/main" noGrp="1"/>
          </p:cNvSpPr>
          <p:nvPr/>
        </p:nvSpPr>
        <p:spPr>
          <a:xfrm xmlns:a="http://schemas.openxmlformats.org/drawingml/2006/main">
            <a:off x="7048500" y="3455575"/>
            <a:ext cx="4139184" cy="34270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2A241B">
                    <a:alpha val="0"/>
                  </a:srgbClr>
                </a:solidFill>
                <a:latin typeface="Work Sans"/>
                <a:ea typeface="Work Sans"/>
                <a:cs typeface="Work Sans"/>
              </a:defRPr>
            </a:pPr>
            <a:r>
              <a:rPr sz="1073" b="0">
                <a:solidFill>
                  <a:srgbClr val="2A241B">
                    <a:alpha val="0"/>
                  </a:srgbClr>
                </a:solidFill>
                <a:latin typeface="Work Sans"/>
                <a:ea typeface="Work Sans"/>
                <a:cs typeface="Work Sans"/>
              </a:rPr>
              <a:t>Surface in-product help when a request matches a feature. Owner: support × product. By: June 14.</a:t>
            </a:r>
          </a:p>
        </p:txBody>
      </p:sp>
      <p:sp>
        <p:nvSpPr>
          <p:cNvPr id="16" name="editable-text-08-15">
            <a:extLst xmlns:a="http://schemas.openxmlformats.org/drawingml/2006/main">
              <a:ext uri="{FF2B5EF4-FFF2-40B4-BE49-F238E27FC236}">
                <a16:creationId xmlns:a16="http://schemas.microsoft.com/office/drawing/2014/main" id="{34475702-7B38-4590-B301-F6BA181F7B42}"/>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17" name="editable-text-08-16">
            <a:extLst xmlns:a="http://schemas.openxmlformats.org/drawingml/2006/main">
              <a:ext uri="{FF2B5EF4-FFF2-40B4-BE49-F238E27FC236}">
                <a16:creationId xmlns:a16="http://schemas.microsoft.com/office/drawing/2014/main" id="{5B700183-5DF9-4EB5-BDAB-26C8A068A735}"/>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410185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3315f3ed80d942a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09-01">
            <a:extLst xmlns:a="http://schemas.openxmlformats.org/drawingml/2006/main">
              <a:ext uri="{FF2B5EF4-FFF2-40B4-BE49-F238E27FC236}">
                <a16:creationId xmlns:a16="http://schemas.microsoft.com/office/drawing/2014/main" id="{8CED72EE-F7FF-4645-93BD-ED31BFE5E171}"/>
              </a:ext>
            </a:extLst>
          </p:cNvPr>
          <p:cNvSpPr>
            <a:spLocks xmlns:a="http://schemas.openxmlformats.org/drawingml/2006/main" noGrp="1"/>
          </p:cNvSpPr>
          <p:nvPr/>
        </p:nvSpPr>
        <p:spPr>
          <a:xfrm xmlns:a="http://schemas.openxmlformats.org/drawingml/2006/main">
            <a:off x="507968" y="387382"/>
            <a:ext cx="823436"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Work Sans"/>
                <a:ea typeface="Work Sans"/>
                <a:cs typeface="Work Sans"/>
              </a:defRPr>
            </a:pPr>
            <a:r>
              <a:rPr sz="900" b="0">
                <a:solidFill>
                  <a:srgbClr val="5C5345">
                    <a:alpha val="0"/>
                  </a:srgbClr>
                </a:solidFill>
                <a:latin typeface="Work Sans"/>
                <a:ea typeface="Work Sans"/>
                <a:cs typeface="Work Sans"/>
              </a:rPr>
              <a:t>Findings · Detail</a:t>
            </a:r>
          </a:p>
        </p:txBody>
      </p:sp>
      <p:sp>
        <p:nvSpPr>
          <p:cNvPr id="3" name="editable-text-09-02">
            <a:extLst xmlns:a="http://schemas.openxmlformats.org/drawingml/2006/main">
              <a:ext uri="{FF2B5EF4-FFF2-40B4-BE49-F238E27FC236}">
                <a16:creationId xmlns:a16="http://schemas.microsoft.com/office/drawing/2014/main" id="{F94F6AAE-4A27-4426-AED7-AFE6916C53D8}"/>
              </a:ext>
            </a:extLst>
          </p:cNvPr>
          <p:cNvSpPr>
            <a:spLocks xmlns:a="http://schemas.openxmlformats.org/drawingml/2006/main" noGrp="1"/>
          </p:cNvSpPr>
          <p:nvPr/>
        </p:nvSpPr>
        <p:spPr>
          <a:xfrm xmlns:a="http://schemas.openxmlformats.org/drawingml/2006/main">
            <a:off x="11611547" y="381000"/>
            <a:ext cx="110490"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ix</a:t>
            </a:r>
          </a:p>
        </p:txBody>
      </p:sp>
      <p:sp>
        <p:nvSpPr>
          <p:cNvPr id="4" name="editable-text-09-03">
            <a:extLst xmlns:a="http://schemas.openxmlformats.org/drawingml/2006/main">
              <a:ext uri="{FF2B5EF4-FFF2-40B4-BE49-F238E27FC236}">
                <a16:creationId xmlns:a16="http://schemas.microsoft.com/office/drawing/2014/main" id="{DD902250-37E4-4116-A434-F425BC6DC049}"/>
              </a:ext>
            </a:extLst>
          </p:cNvPr>
          <p:cNvSpPr>
            <a:spLocks xmlns:a="http://schemas.openxmlformats.org/drawingml/2006/main" noGrp="1"/>
          </p:cNvSpPr>
          <p:nvPr/>
        </p:nvSpPr>
        <p:spPr>
          <a:xfrm xmlns:a="http://schemas.openxmlformats.org/drawingml/2006/main">
            <a:off x="736568" y="1168908"/>
            <a:ext cx="502349"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Action title</a:t>
            </a:r>
          </a:p>
        </p:txBody>
      </p:sp>
      <p:sp>
        <p:nvSpPr>
          <p:cNvPr id="5" name="editable-text-09-04">
            <a:extLst xmlns:a="http://schemas.openxmlformats.org/drawingml/2006/main">
              <a:ext uri="{FF2B5EF4-FFF2-40B4-BE49-F238E27FC236}">
                <a16:creationId xmlns:a16="http://schemas.microsoft.com/office/drawing/2014/main" id="{A294702D-7776-4403-A6B1-19DC221D74CF}"/>
              </a:ext>
            </a:extLst>
          </p:cNvPr>
          <p:cNvSpPr>
            <a:spLocks xmlns:a="http://schemas.openxmlformats.org/drawingml/2006/main" noGrp="1"/>
          </p:cNvSpPr>
          <p:nvPr/>
        </p:nvSpPr>
        <p:spPr>
          <a:xfrm xmlns:a="http://schemas.openxmlformats.org/drawingml/2006/main">
            <a:off x="1511999" y="952500"/>
            <a:ext cx="9846278" cy="60198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2250" b="0">
                <a:solidFill>
                  <a:srgbClr val="2A241B">
                    <a:alpha val="0"/>
                  </a:srgbClr>
                </a:solidFill>
                <a:latin typeface="Cormorant Garamond"/>
                <a:ea typeface="Cormorant Garamond"/>
                <a:cs typeface="Cormorant Garamond"/>
              </a:defRPr>
            </a:pPr>
            <a:r>
              <a:rPr sz="2250" b="0">
                <a:solidFill>
                  <a:srgbClr val="2A241B">
                    <a:alpha val="0"/>
                  </a:srgbClr>
                </a:solidFill>
                <a:latin typeface="Cormorant Garamond"/>
                <a:ea typeface="Cormorant Garamond"/>
                <a:cs typeface="Cormorant Garamond"/>
              </a:rPr>
              <a:t>The trust gap is built in the first 72 hours, not the first 7 days — and the cost compounds for the rest of the lifecycle.</a:t>
            </a:r>
          </a:p>
        </p:txBody>
      </p:sp>
      <p:sp>
        <p:nvSpPr>
          <p:cNvPr id="6" name="editable-text-09-05">
            <a:extLst xmlns:a="http://schemas.openxmlformats.org/drawingml/2006/main">
              <a:ext uri="{FF2B5EF4-FFF2-40B4-BE49-F238E27FC236}">
                <a16:creationId xmlns:a16="http://schemas.microsoft.com/office/drawing/2014/main" id="{78FCDB18-74A1-4B7B-9E42-E1588ABA77B4}"/>
              </a:ext>
            </a:extLst>
          </p:cNvPr>
          <p:cNvSpPr>
            <a:spLocks xmlns:a="http://schemas.openxmlformats.org/drawingml/2006/main" noGrp="1"/>
          </p:cNvSpPr>
          <p:nvPr/>
        </p:nvSpPr>
        <p:spPr>
          <a:xfrm xmlns:a="http://schemas.openxmlformats.org/drawingml/2006/main">
            <a:off x="698468" y="1993868"/>
            <a:ext cx="1268540"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What we found</a:t>
            </a:r>
          </a:p>
        </p:txBody>
      </p:sp>
      <p:sp>
        <p:nvSpPr>
          <p:cNvPr id="7" name="editable-text-09-06">
            <a:extLst xmlns:a="http://schemas.openxmlformats.org/drawingml/2006/main">
              <a:ext uri="{FF2B5EF4-FFF2-40B4-BE49-F238E27FC236}">
                <a16:creationId xmlns:a16="http://schemas.microsoft.com/office/drawing/2014/main" id="{B9811905-9002-43CB-BF15-9EF58ED6BB76}"/>
              </a:ext>
            </a:extLst>
          </p:cNvPr>
          <p:cNvSpPr>
            <a:spLocks xmlns:a="http://schemas.openxmlformats.org/drawingml/2006/main" noGrp="1"/>
          </p:cNvSpPr>
          <p:nvPr/>
        </p:nvSpPr>
        <p:spPr>
          <a:xfrm xmlns:a="http://schemas.openxmlformats.org/drawingml/2006/main">
            <a:off x="698468" y="2442401"/>
            <a:ext cx="1992725"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Three behavioral signals</a:t>
            </a:r>
          </a:p>
        </p:txBody>
      </p:sp>
      <p:sp>
        <p:nvSpPr>
          <p:cNvPr id="8" name="editable-text-09-07">
            <a:extLst xmlns:a="http://schemas.openxmlformats.org/drawingml/2006/main">
              <a:ext uri="{FF2B5EF4-FFF2-40B4-BE49-F238E27FC236}">
                <a16:creationId xmlns:a16="http://schemas.microsoft.com/office/drawing/2014/main" id="{4ED55D7B-AEB1-40FE-81D5-52DEB1C38AB9}"/>
              </a:ext>
            </a:extLst>
          </p:cNvPr>
          <p:cNvSpPr>
            <a:spLocks xmlns:a="http://schemas.openxmlformats.org/drawingml/2006/main" noGrp="1"/>
          </p:cNvSpPr>
          <p:nvPr/>
        </p:nvSpPr>
        <p:spPr>
          <a:xfrm xmlns:a="http://schemas.openxmlformats.org/drawingml/2006/main">
            <a:off x="698468" y="2442401"/>
            <a:ext cx="3486722" cy="69732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in the first 72 hours predict 18-month retention better than any feature-usage metric we tracked.</a:t>
            </a:r>
          </a:p>
        </p:txBody>
      </p:sp>
      <p:sp>
        <p:nvSpPr>
          <p:cNvPr id="9" name="editable-text-09-08">
            <a:extLst xmlns:a="http://schemas.openxmlformats.org/drawingml/2006/main">
              <a:ext uri="{FF2B5EF4-FFF2-40B4-BE49-F238E27FC236}">
                <a16:creationId xmlns:a16="http://schemas.microsoft.com/office/drawing/2014/main" id="{AA0BC488-EB0E-4930-8CD3-2CBCD461AC85}"/>
              </a:ext>
            </a:extLst>
          </p:cNvPr>
          <p:cNvSpPr>
            <a:spLocks xmlns:a="http://schemas.openxmlformats.org/drawingml/2006/main" noGrp="1"/>
          </p:cNvSpPr>
          <p:nvPr/>
        </p:nvSpPr>
        <p:spPr>
          <a:xfrm xmlns:a="http://schemas.openxmlformats.org/drawingml/2006/main">
            <a:off x="812768" y="3247073"/>
            <a:ext cx="1198340"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Email open #2</a:t>
            </a:r>
          </a:p>
        </p:txBody>
      </p:sp>
      <p:sp>
        <p:nvSpPr>
          <p:cNvPr id="10" name="editable-text-09-09">
            <a:extLst xmlns:a="http://schemas.openxmlformats.org/drawingml/2006/main">
              <a:ext uri="{FF2B5EF4-FFF2-40B4-BE49-F238E27FC236}">
                <a16:creationId xmlns:a16="http://schemas.microsoft.com/office/drawing/2014/main" id="{7C665C3C-0F75-4EC5-8D16-56AF2E414133}"/>
              </a:ext>
            </a:extLst>
          </p:cNvPr>
          <p:cNvSpPr>
            <a:spLocks xmlns:a="http://schemas.openxmlformats.org/drawingml/2006/main" noGrp="1"/>
          </p:cNvSpPr>
          <p:nvPr/>
        </p:nvSpPr>
        <p:spPr>
          <a:xfrm xmlns:a="http://schemas.openxmlformats.org/drawingml/2006/main">
            <a:off x="812768" y="3247073"/>
            <a:ext cx="3188875" cy="69732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 opening the second lifecycle email lifts D90 retention by 19 points.</a:t>
            </a:r>
          </a:p>
        </p:txBody>
      </p:sp>
      <p:sp>
        <p:nvSpPr>
          <p:cNvPr id="11" name="editable-text-09-10">
            <a:extLst xmlns:a="http://schemas.openxmlformats.org/drawingml/2006/main">
              <a:ext uri="{FF2B5EF4-FFF2-40B4-BE49-F238E27FC236}">
                <a16:creationId xmlns:a16="http://schemas.microsoft.com/office/drawing/2014/main" id="{5AE7CD0B-7A4E-4A0C-94CA-0F8A5C6AB955}"/>
              </a:ext>
            </a:extLst>
          </p:cNvPr>
          <p:cNvSpPr>
            <a:spLocks xmlns:a="http://schemas.openxmlformats.org/drawingml/2006/main" noGrp="1"/>
          </p:cNvSpPr>
          <p:nvPr/>
        </p:nvSpPr>
        <p:spPr>
          <a:xfrm xmlns:a="http://schemas.openxmlformats.org/drawingml/2006/main">
            <a:off x="812768" y="4000881"/>
            <a:ext cx="1596485"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Personal salutation</a:t>
            </a:r>
          </a:p>
        </p:txBody>
      </p:sp>
      <p:sp>
        <p:nvSpPr>
          <p:cNvPr id="12" name="editable-text-09-11">
            <a:extLst xmlns:a="http://schemas.openxmlformats.org/drawingml/2006/main">
              <a:ext uri="{FF2B5EF4-FFF2-40B4-BE49-F238E27FC236}">
                <a16:creationId xmlns:a16="http://schemas.microsoft.com/office/drawing/2014/main" id="{47D8E3DE-F51E-41BC-A65F-7A2AB35AB07E}"/>
              </a:ext>
            </a:extLst>
          </p:cNvPr>
          <p:cNvSpPr>
            <a:spLocks xmlns:a="http://schemas.openxmlformats.org/drawingml/2006/main" noGrp="1"/>
          </p:cNvSpPr>
          <p:nvPr/>
        </p:nvSpPr>
        <p:spPr>
          <a:xfrm xmlns:a="http://schemas.openxmlformats.org/drawingml/2006/main">
            <a:off x="812768" y="4000881"/>
            <a:ext cx="2996851" cy="69732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 accounts that received a written, non-templated welcome retained 2.4× the cohort.</a:t>
            </a:r>
          </a:p>
        </p:txBody>
      </p:sp>
      <p:sp>
        <p:nvSpPr>
          <p:cNvPr id="13" name="editable-text-09-12">
            <a:extLst xmlns:a="http://schemas.openxmlformats.org/drawingml/2006/main">
              <a:ext uri="{FF2B5EF4-FFF2-40B4-BE49-F238E27FC236}">
                <a16:creationId xmlns:a16="http://schemas.microsoft.com/office/drawing/2014/main" id="{385FE4FA-448C-49CF-A61A-0E20BBD6C1CB}"/>
              </a:ext>
            </a:extLst>
          </p:cNvPr>
          <p:cNvSpPr>
            <a:spLocks xmlns:a="http://schemas.openxmlformats.org/drawingml/2006/main" noGrp="1"/>
          </p:cNvSpPr>
          <p:nvPr/>
        </p:nvSpPr>
        <p:spPr>
          <a:xfrm xmlns:a="http://schemas.openxmlformats.org/drawingml/2006/main">
            <a:off x="812768" y="4754785"/>
            <a:ext cx="1212152"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Reply received</a:t>
            </a:r>
          </a:p>
        </p:txBody>
      </p:sp>
      <p:sp>
        <p:nvSpPr>
          <p:cNvPr id="14" name="editable-text-09-13">
            <a:extLst xmlns:a="http://schemas.openxmlformats.org/drawingml/2006/main">
              <a:ext uri="{FF2B5EF4-FFF2-40B4-BE49-F238E27FC236}">
                <a16:creationId xmlns:a16="http://schemas.microsoft.com/office/drawing/2014/main" id="{60D8DC38-4F3E-4BE5-8493-51F40AB26F07}"/>
              </a:ext>
            </a:extLst>
          </p:cNvPr>
          <p:cNvSpPr>
            <a:spLocks xmlns:a="http://schemas.openxmlformats.org/drawingml/2006/main" noGrp="1"/>
          </p:cNvSpPr>
          <p:nvPr/>
        </p:nvSpPr>
        <p:spPr>
          <a:xfrm xmlns:a="http://schemas.openxmlformats.org/drawingml/2006/main">
            <a:off x="812768" y="4754785"/>
            <a:ext cx="3165443" cy="69732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 a single human reply within 24 hours of signup is the single largest lever we measured.</a:t>
            </a:r>
          </a:p>
        </p:txBody>
      </p:sp>
      <p:sp>
        <p:nvSpPr>
          <p:cNvPr id="15" name="editable-text-09-14">
            <a:extLst xmlns:a="http://schemas.openxmlformats.org/drawingml/2006/main">
              <a:ext uri="{FF2B5EF4-FFF2-40B4-BE49-F238E27FC236}">
                <a16:creationId xmlns:a16="http://schemas.microsoft.com/office/drawing/2014/main" id="{80577B6F-8C9D-46E0-AA98-DCA583D34097}"/>
              </a:ext>
            </a:extLst>
          </p:cNvPr>
          <p:cNvSpPr>
            <a:spLocks xmlns:a="http://schemas.openxmlformats.org/drawingml/2006/main" noGrp="1"/>
          </p:cNvSpPr>
          <p:nvPr/>
        </p:nvSpPr>
        <p:spPr>
          <a:xfrm xmlns:a="http://schemas.openxmlformats.org/drawingml/2006/main">
            <a:off x="698468" y="5680043"/>
            <a:ext cx="3135725" cy="2349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Cormorant Garamond"/>
                <a:ea typeface="Cormorant Garamond"/>
                <a:cs typeface="Cormorant Garamond"/>
              </a:defRPr>
            </a:pPr>
            <a:r>
              <a:rPr sz="1463" b="0">
                <a:solidFill>
                  <a:srgbClr val="5C5345">
                    <a:alpha val="0"/>
                  </a:srgbClr>
                </a:solidFill>
                <a:latin typeface="Cormorant Garamond"/>
                <a:ea typeface="Cormorant Garamond"/>
                <a:cs typeface="Cormorant Garamond"/>
              </a:rPr>
              <a:t>Source: 14,200 cohorted accounts, Jan–Mar 2026.</a:t>
            </a:r>
          </a:p>
        </p:txBody>
      </p:sp>
      <p:sp>
        <p:nvSpPr>
          <p:cNvPr id="16" name="editable-text-09-15">
            <a:extLst xmlns:a="http://schemas.openxmlformats.org/drawingml/2006/main">
              <a:ext uri="{FF2B5EF4-FFF2-40B4-BE49-F238E27FC236}">
                <a16:creationId xmlns:a16="http://schemas.microsoft.com/office/drawing/2014/main" id="{AD7F292A-31BD-40D7-A633-5AAFE8FD0670}"/>
              </a:ext>
            </a:extLst>
          </p:cNvPr>
          <p:cNvSpPr>
            <a:spLocks xmlns:a="http://schemas.openxmlformats.org/drawingml/2006/main" noGrp="1"/>
          </p:cNvSpPr>
          <p:nvPr/>
        </p:nvSpPr>
        <p:spPr>
          <a:xfrm xmlns:a="http://schemas.openxmlformats.org/drawingml/2006/main">
            <a:off x="4715732" y="1993868"/>
            <a:ext cx="1240536"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Why it matters</a:t>
            </a:r>
          </a:p>
        </p:txBody>
      </p:sp>
      <p:sp>
        <p:nvSpPr>
          <p:cNvPr id="17" name="editable-text-09-16">
            <a:extLst xmlns:a="http://schemas.openxmlformats.org/drawingml/2006/main">
              <a:ext uri="{FF2B5EF4-FFF2-40B4-BE49-F238E27FC236}">
                <a16:creationId xmlns:a16="http://schemas.microsoft.com/office/drawing/2014/main" id="{D867C23E-416D-4ED9-BB21-C5E137F3F085}"/>
              </a:ext>
            </a:extLst>
          </p:cNvPr>
          <p:cNvSpPr>
            <a:spLocks xmlns:a="http://schemas.openxmlformats.org/drawingml/2006/main" noGrp="1"/>
          </p:cNvSpPr>
          <p:nvPr/>
        </p:nvSpPr>
        <p:spPr>
          <a:xfrm xmlns:a="http://schemas.openxmlformats.org/drawingml/2006/main">
            <a:off x="4715732" y="2436019"/>
            <a:ext cx="2909602" cy="449771"/>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$4.1M in projected retained ARR, on the current cohort alone.</a:t>
            </a:r>
          </a:p>
        </p:txBody>
      </p:sp>
      <p:sp>
        <p:nvSpPr>
          <p:cNvPr id="18" name="editable-text-09-17">
            <a:extLst xmlns:a="http://schemas.openxmlformats.org/drawingml/2006/main">
              <a:ext uri="{FF2B5EF4-FFF2-40B4-BE49-F238E27FC236}">
                <a16:creationId xmlns:a16="http://schemas.microsoft.com/office/drawing/2014/main" id="{9E9A1FEE-837A-430B-8FDA-4326043B4F1F}"/>
              </a:ext>
            </a:extLst>
          </p:cNvPr>
          <p:cNvSpPr>
            <a:spLocks xmlns:a="http://schemas.openxmlformats.org/drawingml/2006/main" noGrp="1"/>
          </p:cNvSpPr>
          <p:nvPr/>
        </p:nvSpPr>
        <p:spPr>
          <a:xfrm xmlns:a="http://schemas.openxmlformats.org/drawingml/2006/main">
            <a:off x="4715732" y="2986278"/>
            <a:ext cx="3093625" cy="1400366"/>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The first three days are the only window where customers are both paying attention and willing to write back. Every interaction during this window does the work of roughly four interactions in week three.</a:t>
            </a:r>
          </a:p>
        </p:txBody>
      </p:sp>
      <p:sp>
        <p:nvSpPr>
          <p:cNvPr id="19" name="editable-text-09-18">
            <a:extLst xmlns:a="http://schemas.openxmlformats.org/drawingml/2006/main">
              <a:ext uri="{FF2B5EF4-FFF2-40B4-BE49-F238E27FC236}">
                <a16:creationId xmlns:a16="http://schemas.microsoft.com/office/drawing/2014/main" id="{BCBFDE55-361B-4CE5-9E9C-CB5A3720AB8E}"/>
              </a:ext>
            </a:extLst>
          </p:cNvPr>
          <p:cNvSpPr>
            <a:spLocks xmlns:a="http://schemas.openxmlformats.org/drawingml/2006/main" noGrp="1"/>
          </p:cNvSpPr>
          <p:nvPr/>
        </p:nvSpPr>
        <p:spPr>
          <a:xfrm xmlns:a="http://schemas.openxmlformats.org/drawingml/2006/main">
            <a:off x="4715732" y="4493990"/>
            <a:ext cx="2986469" cy="93164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The cost of getting this wrong is not refunds — it is the long, quiet churn of an account that never returns to the inbox.</a:t>
            </a:r>
          </a:p>
        </p:txBody>
      </p:sp>
      <p:sp>
        <p:nvSpPr>
          <p:cNvPr id="20" name="editable-text-09-19">
            <a:extLst xmlns:a="http://schemas.openxmlformats.org/drawingml/2006/main">
              <a:ext uri="{FF2B5EF4-FFF2-40B4-BE49-F238E27FC236}">
                <a16:creationId xmlns:a16="http://schemas.microsoft.com/office/drawing/2014/main" id="{BC09AC8A-001F-4ED5-9D0A-6AC3F135B029}"/>
              </a:ext>
            </a:extLst>
          </p:cNvPr>
          <p:cNvSpPr>
            <a:spLocks xmlns:a="http://schemas.openxmlformats.org/drawingml/2006/main" noGrp="1"/>
          </p:cNvSpPr>
          <p:nvPr/>
        </p:nvSpPr>
        <p:spPr>
          <a:xfrm xmlns:a="http://schemas.openxmlformats.org/drawingml/2006/main">
            <a:off x="4715732" y="5680043"/>
            <a:ext cx="2376011" cy="2349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Cormorant Garamond"/>
                <a:ea typeface="Cormorant Garamond"/>
                <a:cs typeface="Cormorant Garamond"/>
              </a:defRPr>
            </a:pPr>
            <a:r>
              <a:rPr sz="1463" b="0">
                <a:solidFill>
                  <a:srgbClr val="5C5345">
                    <a:alpha val="0"/>
                  </a:srgbClr>
                </a:solidFill>
                <a:latin typeface="Cormorant Garamond"/>
                <a:ea typeface="Cormorant Garamond"/>
                <a:cs typeface="Cormorant Garamond"/>
              </a:rPr>
              <a:t>Modelled on FY24 cohort behaviour.</a:t>
            </a:r>
          </a:p>
        </p:txBody>
      </p:sp>
      <p:sp>
        <p:nvSpPr>
          <p:cNvPr id="21" name="editable-text-09-20">
            <a:extLst xmlns:a="http://schemas.openxmlformats.org/drawingml/2006/main">
              <a:ext uri="{FF2B5EF4-FFF2-40B4-BE49-F238E27FC236}">
                <a16:creationId xmlns:a16="http://schemas.microsoft.com/office/drawing/2014/main" id="{C60A189E-EEBE-49CE-99F2-E47412AC0649}"/>
              </a:ext>
            </a:extLst>
          </p:cNvPr>
          <p:cNvSpPr>
            <a:spLocks xmlns:a="http://schemas.openxmlformats.org/drawingml/2006/main" noGrp="1"/>
          </p:cNvSpPr>
          <p:nvPr/>
        </p:nvSpPr>
        <p:spPr>
          <a:xfrm xmlns:a="http://schemas.openxmlformats.org/drawingml/2006/main">
            <a:off x="8384000" y="1993868"/>
            <a:ext cx="945833"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What to do</a:t>
            </a:r>
          </a:p>
        </p:txBody>
      </p:sp>
      <p:sp>
        <p:nvSpPr>
          <p:cNvPr id="22" name="editable-text-09-21">
            <a:extLst xmlns:a="http://schemas.openxmlformats.org/drawingml/2006/main">
              <a:ext uri="{FF2B5EF4-FFF2-40B4-BE49-F238E27FC236}">
                <a16:creationId xmlns:a16="http://schemas.microsoft.com/office/drawing/2014/main" id="{0F0C9894-60EB-4A63-BBCC-9DBC2362EDB4}"/>
              </a:ext>
            </a:extLst>
          </p:cNvPr>
          <p:cNvSpPr>
            <a:spLocks xmlns:a="http://schemas.openxmlformats.org/drawingml/2006/main" noGrp="1"/>
          </p:cNvSpPr>
          <p:nvPr/>
        </p:nvSpPr>
        <p:spPr>
          <a:xfrm xmlns:a="http://schemas.openxmlformats.org/drawingml/2006/main">
            <a:off x="8498300" y="2442401"/>
            <a:ext cx="1566196"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Rewrite emails 1–3</a:t>
            </a:r>
          </a:p>
        </p:txBody>
      </p:sp>
      <p:sp>
        <p:nvSpPr>
          <p:cNvPr id="23" name="editable-text-09-22">
            <a:extLst xmlns:a="http://schemas.openxmlformats.org/drawingml/2006/main">
              <a:ext uri="{FF2B5EF4-FFF2-40B4-BE49-F238E27FC236}">
                <a16:creationId xmlns:a16="http://schemas.microsoft.com/office/drawing/2014/main" id="{E027EB15-08EC-448A-83CF-B5C2391B7AAD}"/>
              </a:ext>
            </a:extLst>
          </p:cNvPr>
          <p:cNvSpPr>
            <a:spLocks xmlns:a="http://schemas.openxmlformats.org/drawingml/2006/main" noGrp="1"/>
          </p:cNvSpPr>
          <p:nvPr/>
        </p:nvSpPr>
        <p:spPr>
          <a:xfrm xmlns:a="http://schemas.openxmlformats.org/drawingml/2006/main">
            <a:off x="8498300" y="2442401"/>
            <a:ext cx="3007043" cy="69732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in human voice; ship behind a 50/50 holdout. Owner: lifecycle. By: May 17.</a:t>
            </a:r>
          </a:p>
        </p:txBody>
      </p:sp>
      <p:sp>
        <p:nvSpPr>
          <p:cNvPr id="24" name="editable-text-09-23">
            <a:extLst xmlns:a="http://schemas.openxmlformats.org/drawingml/2006/main">
              <a:ext uri="{FF2B5EF4-FFF2-40B4-BE49-F238E27FC236}">
                <a16:creationId xmlns:a16="http://schemas.microsoft.com/office/drawing/2014/main" id="{909685CA-4232-41A6-957C-3522A8A8DF39}"/>
              </a:ext>
            </a:extLst>
          </p:cNvPr>
          <p:cNvSpPr>
            <a:spLocks xmlns:a="http://schemas.openxmlformats.org/drawingml/2006/main" noGrp="1"/>
          </p:cNvSpPr>
          <p:nvPr/>
        </p:nvSpPr>
        <p:spPr>
          <a:xfrm xmlns:a="http://schemas.openxmlformats.org/drawingml/2006/main">
            <a:off x="8498300" y="3196209"/>
            <a:ext cx="1577816"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Route every signup</a:t>
            </a:r>
          </a:p>
        </p:txBody>
      </p:sp>
      <p:sp>
        <p:nvSpPr>
          <p:cNvPr id="25" name="editable-text-09-24">
            <a:extLst xmlns:a="http://schemas.openxmlformats.org/drawingml/2006/main">
              <a:ext uri="{FF2B5EF4-FFF2-40B4-BE49-F238E27FC236}">
                <a16:creationId xmlns:a16="http://schemas.microsoft.com/office/drawing/2014/main" id="{DE25DCA8-6AD9-493F-BFA1-70551263C53C}"/>
              </a:ext>
            </a:extLst>
          </p:cNvPr>
          <p:cNvSpPr>
            <a:spLocks xmlns:a="http://schemas.openxmlformats.org/drawingml/2006/main" noGrp="1"/>
          </p:cNvSpPr>
          <p:nvPr/>
        </p:nvSpPr>
        <p:spPr>
          <a:xfrm xmlns:a="http://schemas.openxmlformats.org/drawingml/2006/main">
            <a:off x="8498300" y="3196209"/>
            <a:ext cx="2971133" cy="1166051"/>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to a named human for one personal reply within 24h, capped at the top 200 accounts/day. Owner: success. By: May 24.</a:t>
            </a:r>
          </a:p>
        </p:txBody>
      </p:sp>
      <p:sp>
        <p:nvSpPr>
          <p:cNvPr id="26" name="editable-text-09-25">
            <a:extLst xmlns:a="http://schemas.openxmlformats.org/drawingml/2006/main">
              <a:ext uri="{FF2B5EF4-FFF2-40B4-BE49-F238E27FC236}">
                <a16:creationId xmlns:a16="http://schemas.microsoft.com/office/drawing/2014/main" id="{1BFE67B1-2C0E-4B8C-871B-8C18F9D69523}"/>
              </a:ext>
            </a:extLst>
          </p:cNvPr>
          <p:cNvSpPr>
            <a:spLocks xmlns:a="http://schemas.openxmlformats.org/drawingml/2006/main" noGrp="1"/>
          </p:cNvSpPr>
          <p:nvPr/>
        </p:nvSpPr>
        <p:spPr>
          <a:xfrm xmlns:a="http://schemas.openxmlformats.org/drawingml/2006/main">
            <a:off x="8498300" y="4418838"/>
            <a:ext cx="2629853" cy="22860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2A241B">
                    <a:alpha val="0"/>
                  </a:srgbClr>
                </a:solidFill>
                <a:latin typeface="Work Sans"/>
                <a:ea typeface="Work Sans"/>
                <a:cs typeface="Work Sans"/>
              </a:defRPr>
            </a:pPr>
            <a:r>
              <a:rPr sz="1463" b="0">
                <a:solidFill>
                  <a:srgbClr val="2A241B">
                    <a:alpha val="0"/>
                  </a:srgbClr>
                </a:solidFill>
                <a:latin typeface="Work Sans"/>
                <a:ea typeface="Work Sans"/>
                <a:cs typeface="Work Sans"/>
              </a:rPr>
              <a:t>Instrument the 72-hour window</a:t>
            </a:r>
          </a:p>
        </p:txBody>
      </p:sp>
      <p:sp>
        <p:nvSpPr>
          <p:cNvPr id="27" name="editable-text-09-26">
            <a:extLst xmlns:a="http://schemas.openxmlformats.org/drawingml/2006/main">
              <a:ext uri="{FF2B5EF4-FFF2-40B4-BE49-F238E27FC236}">
                <a16:creationId xmlns:a16="http://schemas.microsoft.com/office/drawing/2014/main" id="{C4EDD188-60B7-4F22-AE99-0D4164EDA32F}"/>
              </a:ext>
            </a:extLst>
          </p:cNvPr>
          <p:cNvSpPr>
            <a:spLocks xmlns:a="http://schemas.openxmlformats.org/drawingml/2006/main" noGrp="1"/>
          </p:cNvSpPr>
          <p:nvPr/>
        </p:nvSpPr>
        <p:spPr>
          <a:xfrm xmlns:a="http://schemas.openxmlformats.org/drawingml/2006/main">
            <a:off x="8498300" y="4418838"/>
            <a:ext cx="3012662" cy="697325"/>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Work Sans"/>
                <a:ea typeface="Work Sans"/>
                <a:cs typeface="Work Sans"/>
              </a:defRPr>
            </a:pPr>
            <a:r>
              <a:rPr sz="1463" b="0">
                <a:solidFill>
                  <a:srgbClr val="5C5345">
                    <a:alpha val="0"/>
                  </a:srgbClr>
                </a:solidFill>
                <a:latin typeface="Work Sans"/>
                <a:ea typeface="Work Sans"/>
                <a:cs typeface="Work Sans"/>
              </a:rPr>
              <a:t>as a first-class metric in the weekly review. Owner: analytics. By: June 1.</a:t>
            </a:r>
          </a:p>
        </p:txBody>
      </p:sp>
      <p:sp>
        <p:nvSpPr>
          <p:cNvPr id="28" name="editable-text-09-27">
            <a:extLst xmlns:a="http://schemas.openxmlformats.org/drawingml/2006/main">
              <a:ext uri="{FF2B5EF4-FFF2-40B4-BE49-F238E27FC236}">
                <a16:creationId xmlns:a16="http://schemas.microsoft.com/office/drawing/2014/main" id="{594A60EF-4104-4494-9FA7-F04739CFDD26}"/>
              </a:ext>
            </a:extLst>
          </p:cNvPr>
          <p:cNvSpPr>
            <a:spLocks xmlns:a="http://schemas.openxmlformats.org/drawingml/2006/main" noGrp="1"/>
          </p:cNvSpPr>
          <p:nvPr/>
        </p:nvSpPr>
        <p:spPr>
          <a:xfrm xmlns:a="http://schemas.openxmlformats.org/drawingml/2006/main">
            <a:off x="8384000" y="5680043"/>
            <a:ext cx="2869311" cy="2349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463" b="0">
                <a:solidFill>
                  <a:srgbClr val="5C5345">
                    <a:alpha val="0"/>
                  </a:srgbClr>
                </a:solidFill>
                <a:latin typeface="Cormorant Garamond"/>
                <a:ea typeface="Cormorant Garamond"/>
                <a:cs typeface="Cormorant Garamond"/>
              </a:defRPr>
            </a:pPr>
            <a:r>
              <a:rPr sz="1463" b="0">
                <a:solidFill>
                  <a:srgbClr val="5C5345">
                    <a:alpha val="0"/>
                  </a:srgbClr>
                </a:solidFill>
                <a:latin typeface="Cormorant Garamond"/>
                <a:ea typeface="Cormorant Garamond"/>
                <a:cs typeface="Cormorant Garamond"/>
              </a:rPr>
              <a:t>Pilot scope: top-decile signups by ICP score.</a:t>
            </a:r>
          </a:p>
        </p:txBody>
      </p:sp>
      <p:sp>
        <p:nvSpPr>
          <p:cNvPr id="29" name="editable-text-09-28">
            <a:extLst xmlns:a="http://schemas.openxmlformats.org/drawingml/2006/main">
              <a:ext uri="{FF2B5EF4-FFF2-40B4-BE49-F238E27FC236}">
                <a16:creationId xmlns:a16="http://schemas.microsoft.com/office/drawing/2014/main" id="{70661187-080D-4F3F-91A0-968E6348E7C0}"/>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30" name="editable-text-09-29">
            <a:extLst xmlns:a="http://schemas.openxmlformats.org/drawingml/2006/main">
              <a:ext uri="{FF2B5EF4-FFF2-40B4-BE49-F238E27FC236}">
                <a16:creationId xmlns:a16="http://schemas.microsoft.com/office/drawing/2014/main" id="{196C1839-8851-439A-BADD-FCD165A84716}"/>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209465623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458485de9433420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10-01">
            <a:extLst xmlns:a="http://schemas.openxmlformats.org/drawingml/2006/main">
              <a:ext uri="{FF2B5EF4-FFF2-40B4-BE49-F238E27FC236}">
                <a16:creationId xmlns:a16="http://schemas.microsoft.com/office/drawing/2014/main" id="{96A2A663-94F8-4AFF-B3C0-5B5283EF9330}"/>
              </a:ext>
            </a:extLst>
          </p:cNvPr>
          <p:cNvSpPr>
            <a:spLocks xmlns:a="http://schemas.openxmlformats.org/drawingml/2006/main" noGrp="1"/>
          </p:cNvSpPr>
          <p:nvPr/>
        </p:nvSpPr>
        <p:spPr>
          <a:xfrm xmlns:a="http://schemas.openxmlformats.org/drawingml/2006/main">
            <a:off x="507968" y="387382"/>
            <a:ext cx="1038797"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Retention, by cohort</a:t>
            </a:r>
          </a:p>
        </p:txBody>
      </p:sp>
      <p:sp>
        <p:nvSpPr>
          <p:cNvPr id="3" name="editable-text-10-02">
            <a:extLst xmlns:a="http://schemas.openxmlformats.org/drawingml/2006/main">
              <a:ext uri="{FF2B5EF4-FFF2-40B4-BE49-F238E27FC236}">
                <a16:creationId xmlns:a16="http://schemas.microsoft.com/office/drawing/2014/main" id="{4F0E5EF6-B8AB-4883-AAEC-EEC32C2641D7}"/>
              </a:ext>
            </a:extLst>
          </p:cNvPr>
          <p:cNvSpPr>
            <a:spLocks xmlns:a="http://schemas.openxmlformats.org/drawingml/2006/main" noGrp="1"/>
          </p:cNvSpPr>
          <p:nvPr/>
        </p:nvSpPr>
        <p:spPr>
          <a:xfrm xmlns:a="http://schemas.openxmlformats.org/drawingml/2006/main">
            <a:off x="11639360" y="381000"/>
            <a:ext cx="82772"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x</a:t>
            </a:r>
          </a:p>
        </p:txBody>
      </p:sp>
      <p:sp>
        <p:nvSpPr>
          <p:cNvPr id="4" name="editable-text-10-03">
            <a:extLst xmlns:a="http://schemas.openxmlformats.org/drawingml/2006/main">
              <a:ext uri="{FF2B5EF4-FFF2-40B4-BE49-F238E27FC236}">
                <a16:creationId xmlns:a16="http://schemas.microsoft.com/office/drawing/2014/main" id="{D305D2A3-7ED5-4691-BACC-B2974FD48F4C}"/>
              </a:ext>
            </a:extLst>
          </p:cNvPr>
          <p:cNvSpPr>
            <a:spLocks xmlns:a="http://schemas.openxmlformats.org/drawingml/2006/main" noGrp="1"/>
          </p:cNvSpPr>
          <p:nvPr/>
        </p:nvSpPr>
        <p:spPr>
          <a:xfrm xmlns:a="http://schemas.openxmlformats.org/drawingml/2006/main">
            <a:off x="507968" y="1206532"/>
            <a:ext cx="2368010" cy="1402747"/>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5400" b="0">
                <a:solidFill>
                  <a:srgbClr val="2A241B">
                    <a:alpha val="0"/>
                  </a:srgbClr>
                </a:solidFill>
                <a:latin typeface="Cormorant Garamond"/>
                <a:ea typeface="Cormorant Garamond"/>
                <a:cs typeface="Cormorant Garamond"/>
              </a:defRPr>
            </a:pPr>
            <a:r>
              <a:rPr sz="5400" b="0">
                <a:solidFill>
                  <a:srgbClr val="2A241B">
                    <a:alpha val="0"/>
                  </a:srgbClr>
                </a:solidFill>
                <a:latin typeface="Cormorant Garamond"/>
                <a:ea typeface="Cormorant Garamond"/>
                <a:cs typeface="Cormorant Garamond"/>
              </a:rPr>
              <a:t>The curve bends</a:t>
            </a:r>
          </a:p>
        </p:txBody>
      </p:sp>
      <p:sp>
        <p:nvSpPr>
          <p:cNvPr id="5" name="editable-text-10-04">
            <a:extLst xmlns:a="http://schemas.openxmlformats.org/drawingml/2006/main">
              <a:ext uri="{FF2B5EF4-FFF2-40B4-BE49-F238E27FC236}">
                <a16:creationId xmlns:a16="http://schemas.microsoft.com/office/drawing/2014/main" id="{729861E7-8D3A-436C-B02A-1B7186BE8E8C}"/>
              </a:ext>
            </a:extLst>
          </p:cNvPr>
          <p:cNvSpPr>
            <a:spLocks xmlns:a="http://schemas.openxmlformats.org/drawingml/2006/main" noGrp="1"/>
          </p:cNvSpPr>
          <p:nvPr/>
        </p:nvSpPr>
        <p:spPr>
          <a:xfrm xmlns:a="http://schemas.openxmlformats.org/drawingml/2006/main">
            <a:off x="507968" y="2449925"/>
            <a:ext cx="2645283" cy="1402747"/>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5400" b="0">
                <a:solidFill>
                  <a:srgbClr val="2A241B">
                    <a:alpha val="0"/>
                  </a:srgbClr>
                </a:solidFill>
                <a:latin typeface="Cormorant Garamond"/>
                <a:ea typeface="Cormorant Garamond"/>
                <a:cs typeface="Cormorant Garamond"/>
              </a:defRPr>
            </a:pPr>
            <a:r>
              <a:rPr sz="5400" b="0">
                <a:solidFill>
                  <a:srgbClr val="2A241B">
                    <a:alpha val="0"/>
                  </a:srgbClr>
                </a:solidFill>
                <a:latin typeface="Cormorant Garamond"/>
                <a:ea typeface="Cormorant Garamond"/>
                <a:cs typeface="Cormorant Garamond"/>
              </a:rPr>
              <a:t>around day three.</a:t>
            </a:r>
          </a:p>
        </p:txBody>
      </p:sp>
      <p:sp>
        <p:nvSpPr>
          <p:cNvPr id="6" name="editable-text-10-05">
            <a:extLst xmlns:a="http://schemas.openxmlformats.org/drawingml/2006/main">
              <a:ext uri="{FF2B5EF4-FFF2-40B4-BE49-F238E27FC236}">
                <a16:creationId xmlns:a16="http://schemas.microsoft.com/office/drawing/2014/main" id="{F3488686-7829-4629-B052-A884AA8E577B}"/>
              </a:ext>
            </a:extLst>
          </p:cNvPr>
          <p:cNvSpPr>
            <a:spLocks xmlns:a="http://schemas.openxmlformats.org/drawingml/2006/main" noGrp="1"/>
          </p:cNvSpPr>
          <p:nvPr/>
        </p:nvSpPr>
        <p:spPr>
          <a:xfrm xmlns:a="http://schemas.openxmlformats.org/drawingml/2006/main">
            <a:off x="507968" y="3921919"/>
            <a:ext cx="3260788"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Cohorts that received a written welcome and a human reply within 24 hours retain at roughly 2× the rate of the templated cohort, and the gap holds steady for the first ninety days.</a:t>
            </a:r>
          </a:p>
        </p:txBody>
      </p:sp>
      <p:sp>
        <p:nvSpPr>
          <p:cNvPr id="7" name="editable-text-10-06">
            <a:extLst xmlns:a="http://schemas.openxmlformats.org/drawingml/2006/main">
              <a:ext uri="{FF2B5EF4-FFF2-40B4-BE49-F238E27FC236}">
                <a16:creationId xmlns:a16="http://schemas.microsoft.com/office/drawing/2014/main" id="{D44F148A-916F-4F52-83B9-6173EB4E391A}"/>
              </a:ext>
            </a:extLst>
          </p:cNvPr>
          <p:cNvSpPr>
            <a:spLocks xmlns:a="http://schemas.openxmlformats.org/drawingml/2006/main" noGrp="1"/>
          </p:cNvSpPr>
          <p:nvPr/>
        </p:nvSpPr>
        <p:spPr>
          <a:xfrm xmlns:a="http://schemas.openxmlformats.org/drawingml/2006/main">
            <a:off x="774668" y="5509832"/>
            <a:ext cx="1336834" cy="1460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Templated welcome (control)</a:t>
            </a:r>
          </a:p>
        </p:txBody>
      </p:sp>
      <p:sp>
        <p:nvSpPr>
          <p:cNvPr id="8" name="editable-text-10-07">
            <a:extLst xmlns:a="http://schemas.openxmlformats.org/drawingml/2006/main">
              <a:ext uri="{FF2B5EF4-FFF2-40B4-BE49-F238E27FC236}">
                <a16:creationId xmlns:a16="http://schemas.microsoft.com/office/drawing/2014/main" id="{D6F98992-34F3-4032-B267-CCA9B0D6F478}"/>
              </a:ext>
            </a:extLst>
          </p:cNvPr>
          <p:cNvSpPr>
            <a:spLocks xmlns:a="http://schemas.openxmlformats.org/drawingml/2006/main" noGrp="1"/>
          </p:cNvSpPr>
          <p:nvPr/>
        </p:nvSpPr>
        <p:spPr>
          <a:xfrm xmlns:a="http://schemas.openxmlformats.org/drawingml/2006/main">
            <a:off x="774668" y="5709476"/>
            <a:ext cx="787241" cy="1460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Written welcome</a:t>
            </a:r>
          </a:p>
        </p:txBody>
      </p:sp>
      <p:sp>
        <p:nvSpPr>
          <p:cNvPr id="9" name="editable-text-10-08">
            <a:extLst xmlns:a="http://schemas.openxmlformats.org/drawingml/2006/main">
              <a:ext uri="{FF2B5EF4-FFF2-40B4-BE49-F238E27FC236}">
                <a16:creationId xmlns:a16="http://schemas.microsoft.com/office/drawing/2014/main" id="{E7CD0A2A-E1ED-43F2-8FDB-EFF785E44CF5}"/>
              </a:ext>
            </a:extLst>
          </p:cNvPr>
          <p:cNvSpPr>
            <a:spLocks xmlns:a="http://schemas.openxmlformats.org/drawingml/2006/main" noGrp="1"/>
          </p:cNvSpPr>
          <p:nvPr/>
        </p:nvSpPr>
        <p:spPr>
          <a:xfrm xmlns:a="http://schemas.openxmlformats.org/drawingml/2006/main">
            <a:off x="774668" y="5909120"/>
            <a:ext cx="1032986" cy="1460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Written + human reply</a:t>
            </a:r>
          </a:p>
        </p:txBody>
      </p:sp>
      <p:sp>
        <p:nvSpPr>
          <p:cNvPr id="10" name="editable-text-10-09">
            <a:extLst xmlns:a="http://schemas.openxmlformats.org/drawingml/2006/main">
              <a:ext uri="{FF2B5EF4-FFF2-40B4-BE49-F238E27FC236}">
                <a16:creationId xmlns:a16="http://schemas.microsoft.com/office/drawing/2014/main" id="{781E2EC5-ED5B-4F0A-B842-7892F5836BB6}"/>
              </a:ext>
            </a:extLst>
          </p:cNvPr>
          <p:cNvSpPr>
            <a:spLocks xmlns:a="http://schemas.openxmlformats.org/drawingml/2006/main" noGrp="1"/>
          </p:cNvSpPr>
          <p:nvPr/>
        </p:nvSpPr>
        <p:spPr>
          <a:xfrm xmlns:a="http://schemas.openxmlformats.org/drawingml/2006/main">
            <a:off x="4826032" y="1498568"/>
            <a:ext cx="1043654"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 of cohort active, by day</a:t>
            </a:r>
          </a:p>
        </p:txBody>
      </p:sp>
      <p:sp>
        <p:nvSpPr>
          <p:cNvPr id="11" name="editable-text-10-10">
            <a:extLst xmlns:a="http://schemas.openxmlformats.org/drawingml/2006/main">
              <a:ext uri="{FF2B5EF4-FFF2-40B4-BE49-F238E27FC236}">
                <a16:creationId xmlns:a16="http://schemas.microsoft.com/office/drawing/2014/main" id="{D9B6C841-A87A-4FA3-A389-14095AE19CC4}"/>
              </a:ext>
            </a:extLst>
          </p:cNvPr>
          <p:cNvSpPr>
            <a:spLocks xmlns:a="http://schemas.openxmlformats.org/drawingml/2006/main" noGrp="1"/>
          </p:cNvSpPr>
          <p:nvPr/>
        </p:nvSpPr>
        <p:spPr>
          <a:xfrm xmlns:a="http://schemas.openxmlformats.org/drawingml/2006/main">
            <a:off x="4476750" y="1685544"/>
            <a:ext cx="1687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100</a:t>
            </a:r>
          </a:p>
        </p:txBody>
      </p:sp>
      <p:sp>
        <p:nvSpPr>
          <p:cNvPr id="12" name="editable-text-10-11">
            <a:extLst xmlns:a="http://schemas.openxmlformats.org/drawingml/2006/main">
              <a:ext uri="{FF2B5EF4-FFF2-40B4-BE49-F238E27FC236}">
                <a16:creationId xmlns:a16="http://schemas.microsoft.com/office/drawing/2014/main" id="{A0B02757-FF7C-415C-B690-44CD86585CFC}"/>
              </a:ext>
            </a:extLst>
          </p:cNvPr>
          <p:cNvSpPr>
            <a:spLocks xmlns:a="http://schemas.openxmlformats.org/drawingml/2006/main" noGrp="1"/>
          </p:cNvSpPr>
          <p:nvPr/>
        </p:nvSpPr>
        <p:spPr>
          <a:xfrm xmlns:a="http://schemas.openxmlformats.org/drawingml/2006/main">
            <a:off x="4476750" y="2524792"/>
            <a:ext cx="123349"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75</a:t>
            </a:r>
          </a:p>
        </p:txBody>
      </p:sp>
      <p:sp>
        <p:nvSpPr>
          <p:cNvPr id="13" name="editable-text-10-12">
            <a:extLst xmlns:a="http://schemas.openxmlformats.org/drawingml/2006/main">
              <a:ext uri="{FF2B5EF4-FFF2-40B4-BE49-F238E27FC236}">
                <a16:creationId xmlns:a16="http://schemas.microsoft.com/office/drawing/2014/main" id="{9D08F0D8-0111-4BE4-B914-DC16E06F8A92}"/>
              </a:ext>
            </a:extLst>
          </p:cNvPr>
          <p:cNvSpPr>
            <a:spLocks xmlns:a="http://schemas.openxmlformats.org/drawingml/2006/main" noGrp="1"/>
          </p:cNvSpPr>
          <p:nvPr/>
        </p:nvSpPr>
        <p:spPr>
          <a:xfrm xmlns:a="http://schemas.openxmlformats.org/drawingml/2006/main">
            <a:off x="4476750" y="3364135"/>
            <a:ext cx="128207"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50</a:t>
            </a:r>
          </a:p>
        </p:txBody>
      </p:sp>
      <p:sp>
        <p:nvSpPr>
          <p:cNvPr id="14" name="editable-text-10-13">
            <a:extLst xmlns:a="http://schemas.openxmlformats.org/drawingml/2006/main">
              <a:ext uri="{FF2B5EF4-FFF2-40B4-BE49-F238E27FC236}">
                <a16:creationId xmlns:a16="http://schemas.microsoft.com/office/drawing/2014/main" id="{3AFEB307-BA71-49CB-8FD2-8C420D7E84CA}"/>
              </a:ext>
            </a:extLst>
          </p:cNvPr>
          <p:cNvSpPr>
            <a:spLocks xmlns:a="http://schemas.openxmlformats.org/drawingml/2006/main" noGrp="1"/>
          </p:cNvSpPr>
          <p:nvPr/>
        </p:nvSpPr>
        <p:spPr>
          <a:xfrm xmlns:a="http://schemas.openxmlformats.org/drawingml/2006/main">
            <a:off x="4476750" y="4203383"/>
            <a:ext cx="120587"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25</a:t>
            </a:r>
          </a:p>
        </p:txBody>
      </p:sp>
      <p:sp>
        <p:nvSpPr>
          <p:cNvPr id="15" name="editable-text-10-14">
            <a:extLst xmlns:a="http://schemas.openxmlformats.org/drawingml/2006/main">
              <a:ext uri="{FF2B5EF4-FFF2-40B4-BE49-F238E27FC236}">
                <a16:creationId xmlns:a16="http://schemas.microsoft.com/office/drawing/2014/main" id="{F9550251-9E99-46EC-A1EE-B74B54949263}"/>
              </a:ext>
            </a:extLst>
          </p:cNvPr>
          <p:cNvSpPr>
            <a:spLocks xmlns:a="http://schemas.openxmlformats.org/drawingml/2006/main" noGrp="1"/>
          </p:cNvSpPr>
          <p:nvPr/>
        </p:nvSpPr>
        <p:spPr>
          <a:xfrm xmlns:a="http://schemas.openxmlformats.org/drawingml/2006/main">
            <a:off x="4476750" y="5042726"/>
            <a:ext cx="86582"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0</a:t>
            </a:r>
          </a:p>
        </p:txBody>
      </p:sp>
      <p:sp>
        <p:nvSpPr>
          <p:cNvPr id="16" name="editable-text-10-15">
            <a:extLst xmlns:a="http://schemas.openxmlformats.org/drawingml/2006/main">
              <a:ext uri="{FF2B5EF4-FFF2-40B4-BE49-F238E27FC236}">
                <a16:creationId xmlns:a16="http://schemas.microsoft.com/office/drawing/2014/main" id="{1AA0B1E6-FCC1-4E13-B197-75803239C917}"/>
              </a:ext>
            </a:extLst>
          </p:cNvPr>
          <p:cNvSpPr>
            <a:spLocks xmlns:a="http://schemas.openxmlformats.org/drawingml/2006/main" noGrp="1"/>
          </p:cNvSpPr>
          <p:nvPr/>
        </p:nvSpPr>
        <p:spPr>
          <a:xfrm xmlns:a="http://schemas.openxmlformats.org/drawingml/2006/main">
            <a:off x="4826032" y="5261420"/>
            <a:ext cx="15668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D0</a:t>
            </a:r>
          </a:p>
        </p:txBody>
      </p:sp>
      <p:sp>
        <p:nvSpPr>
          <p:cNvPr id="17" name="editable-text-10-16">
            <a:extLst xmlns:a="http://schemas.openxmlformats.org/drawingml/2006/main">
              <a:ext uri="{FF2B5EF4-FFF2-40B4-BE49-F238E27FC236}">
                <a16:creationId xmlns:a16="http://schemas.microsoft.com/office/drawing/2014/main" id="{9A5CB9F2-319B-4C10-96AF-DF8E4B533A32}"/>
              </a:ext>
            </a:extLst>
          </p:cNvPr>
          <p:cNvSpPr>
            <a:spLocks xmlns:a="http://schemas.openxmlformats.org/drawingml/2006/main" noGrp="1"/>
          </p:cNvSpPr>
          <p:nvPr/>
        </p:nvSpPr>
        <p:spPr>
          <a:xfrm xmlns:a="http://schemas.openxmlformats.org/drawingml/2006/main">
            <a:off x="5873782" y="5261420"/>
            <a:ext cx="151924"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D7</a:t>
            </a:r>
          </a:p>
        </p:txBody>
      </p:sp>
      <p:sp>
        <p:nvSpPr>
          <p:cNvPr id="18" name="editable-text-10-17">
            <a:extLst xmlns:a="http://schemas.openxmlformats.org/drawingml/2006/main">
              <a:ext uri="{FF2B5EF4-FFF2-40B4-BE49-F238E27FC236}">
                <a16:creationId xmlns:a16="http://schemas.microsoft.com/office/drawing/2014/main" id="{FE7E2EB7-6D8A-49C5-A557-647002676633}"/>
              </a:ext>
            </a:extLst>
          </p:cNvPr>
          <p:cNvSpPr>
            <a:spLocks xmlns:a="http://schemas.openxmlformats.org/drawingml/2006/main" noGrp="1"/>
          </p:cNvSpPr>
          <p:nvPr/>
        </p:nvSpPr>
        <p:spPr>
          <a:xfrm xmlns:a="http://schemas.openxmlformats.org/drawingml/2006/main">
            <a:off x="6916769" y="5261420"/>
            <a:ext cx="18792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D14</a:t>
            </a:r>
          </a:p>
        </p:txBody>
      </p:sp>
      <p:sp>
        <p:nvSpPr>
          <p:cNvPr id="19" name="editable-text-10-18">
            <a:extLst xmlns:a="http://schemas.openxmlformats.org/drawingml/2006/main">
              <a:ext uri="{FF2B5EF4-FFF2-40B4-BE49-F238E27FC236}">
                <a16:creationId xmlns:a16="http://schemas.microsoft.com/office/drawing/2014/main" id="{6601DE97-DA76-4ECD-B394-DA9CC8702E0C}"/>
              </a:ext>
            </a:extLst>
          </p:cNvPr>
          <p:cNvSpPr>
            <a:spLocks xmlns:a="http://schemas.openxmlformats.org/drawingml/2006/main" noGrp="1"/>
          </p:cNvSpPr>
          <p:nvPr/>
        </p:nvSpPr>
        <p:spPr>
          <a:xfrm xmlns:a="http://schemas.openxmlformats.org/drawingml/2006/main">
            <a:off x="7995761" y="5261420"/>
            <a:ext cx="196310"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D30</a:t>
            </a:r>
          </a:p>
        </p:txBody>
      </p:sp>
      <p:sp>
        <p:nvSpPr>
          <p:cNvPr id="20" name="editable-text-10-19">
            <a:extLst xmlns:a="http://schemas.openxmlformats.org/drawingml/2006/main">
              <a:ext uri="{FF2B5EF4-FFF2-40B4-BE49-F238E27FC236}">
                <a16:creationId xmlns:a16="http://schemas.microsoft.com/office/drawing/2014/main" id="{FF77D256-AD07-4867-9495-382A587A433F}"/>
              </a:ext>
            </a:extLst>
          </p:cNvPr>
          <p:cNvSpPr>
            <a:spLocks xmlns:a="http://schemas.openxmlformats.org/drawingml/2006/main" noGrp="1"/>
          </p:cNvSpPr>
          <p:nvPr/>
        </p:nvSpPr>
        <p:spPr>
          <a:xfrm xmlns:a="http://schemas.openxmlformats.org/drawingml/2006/main">
            <a:off x="9083040" y="5261420"/>
            <a:ext cx="194691"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D45</a:t>
            </a:r>
          </a:p>
        </p:txBody>
      </p:sp>
      <p:sp>
        <p:nvSpPr>
          <p:cNvPr id="21" name="editable-text-10-20">
            <a:extLst xmlns:a="http://schemas.openxmlformats.org/drawingml/2006/main">
              <a:ext uri="{FF2B5EF4-FFF2-40B4-BE49-F238E27FC236}">
                <a16:creationId xmlns:a16="http://schemas.microsoft.com/office/drawing/2014/main" id="{65EF19E6-E4D9-4231-92D0-B02DA3DDA9CA}"/>
              </a:ext>
            </a:extLst>
          </p:cNvPr>
          <p:cNvSpPr>
            <a:spLocks xmlns:a="http://schemas.openxmlformats.org/drawingml/2006/main" noGrp="1"/>
          </p:cNvSpPr>
          <p:nvPr/>
        </p:nvSpPr>
        <p:spPr>
          <a:xfrm xmlns:a="http://schemas.openxmlformats.org/drawingml/2006/main">
            <a:off x="10168795" y="5261420"/>
            <a:ext cx="204121"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D60</a:t>
            </a:r>
          </a:p>
        </p:txBody>
      </p:sp>
      <p:sp>
        <p:nvSpPr>
          <p:cNvPr id="22" name="editable-text-10-21">
            <a:extLst xmlns:a="http://schemas.openxmlformats.org/drawingml/2006/main">
              <a:ext uri="{FF2B5EF4-FFF2-40B4-BE49-F238E27FC236}">
                <a16:creationId xmlns:a16="http://schemas.microsoft.com/office/drawing/2014/main" id="{530A6325-9948-40B3-85B7-063A2DD944BE}"/>
              </a:ext>
            </a:extLst>
          </p:cNvPr>
          <p:cNvSpPr>
            <a:spLocks xmlns:a="http://schemas.openxmlformats.org/drawingml/2006/main" noGrp="1"/>
          </p:cNvSpPr>
          <p:nvPr/>
        </p:nvSpPr>
        <p:spPr>
          <a:xfrm xmlns:a="http://schemas.openxmlformats.org/drawingml/2006/main">
            <a:off x="11263979" y="5261420"/>
            <a:ext cx="204121"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D90</a:t>
            </a:r>
          </a:p>
        </p:txBody>
      </p:sp>
      <p:sp>
        <p:nvSpPr>
          <p:cNvPr id="23" name="editable-text-10-22">
            <a:extLst xmlns:a="http://schemas.openxmlformats.org/drawingml/2006/main">
              <a:ext uri="{FF2B5EF4-FFF2-40B4-BE49-F238E27FC236}">
                <a16:creationId xmlns:a16="http://schemas.microsoft.com/office/drawing/2014/main" id="{190EB146-F1EF-48E4-9FEE-2A9C933D6CFF}"/>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24" name="editable-text-10-23">
            <a:extLst xmlns:a="http://schemas.openxmlformats.org/drawingml/2006/main">
              <a:ext uri="{FF2B5EF4-FFF2-40B4-BE49-F238E27FC236}">
                <a16:creationId xmlns:a16="http://schemas.microsoft.com/office/drawing/2014/main" id="{ACE10F5A-51B6-48F0-B557-34C5AD9AC093}"/>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98935673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57339f0757ee4e4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11-01">
            <a:extLst xmlns:a="http://schemas.openxmlformats.org/drawingml/2006/main">
              <a:ext uri="{FF2B5EF4-FFF2-40B4-BE49-F238E27FC236}">
                <a16:creationId xmlns:a16="http://schemas.microsoft.com/office/drawing/2014/main" id="{0D6531E6-96C3-42AA-A799-58CDC7979E49}"/>
              </a:ext>
            </a:extLst>
          </p:cNvPr>
          <p:cNvSpPr>
            <a:spLocks xmlns:a="http://schemas.openxmlformats.org/drawingml/2006/main" noGrp="1"/>
          </p:cNvSpPr>
          <p:nvPr/>
        </p:nvSpPr>
        <p:spPr>
          <a:xfrm xmlns:a="http://schemas.openxmlformats.org/drawingml/2006/main">
            <a:off x="507968" y="387382"/>
            <a:ext cx="777812"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How we'll work</a:t>
            </a:r>
          </a:p>
        </p:txBody>
      </p:sp>
      <p:sp>
        <p:nvSpPr>
          <p:cNvPr id="3" name="editable-text-11-02">
            <a:extLst xmlns:a="http://schemas.openxmlformats.org/drawingml/2006/main">
              <a:ext uri="{FF2B5EF4-FFF2-40B4-BE49-F238E27FC236}">
                <a16:creationId xmlns:a16="http://schemas.microsoft.com/office/drawing/2014/main" id="{5039E9D2-18C3-4F3E-98B5-F501D703DEC7}"/>
              </a:ext>
            </a:extLst>
          </p:cNvPr>
          <p:cNvSpPr>
            <a:spLocks xmlns:a="http://schemas.openxmlformats.org/drawingml/2006/main" noGrp="1"/>
          </p:cNvSpPr>
          <p:nvPr/>
        </p:nvSpPr>
        <p:spPr>
          <a:xfrm xmlns:a="http://schemas.openxmlformats.org/drawingml/2006/main">
            <a:off x="11611547" y="381000"/>
            <a:ext cx="110490"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xi</a:t>
            </a:r>
          </a:p>
        </p:txBody>
      </p:sp>
      <p:sp>
        <p:nvSpPr>
          <p:cNvPr id="4" name="editable-text-11-03">
            <a:extLst xmlns:a="http://schemas.openxmlformats.org/drawingml/2006/main">
              <a:ext uri="{FF2B5EF4-FFF2-40B4-BE49-F238E27FC236}">
                <a16:creationId xmlns:a16="http://schemas.microsoft.com/office/drawing/2014/main" id="{EF7EF9F3-8538-4A25-AB01-86BF012CFF80}"/>
              </a:ext>
            </a:extLst>
          </p:cNvPr>
          <p:cNvSpPr>
            <a:spLocks xmlns:a="http://schemas.openxmlformats.org/drawingml/2006/main" noGrp="1"/>
          </p:cNvSpPr>
          <p:nvPr/>
        </p:nvSpPr>
        <p:spPr>
          <a:xfrm xmlns:a="http://schemas.openxmlformats.org/drawingml/2006/main">
            <a:off x="507968" y="768382"/>
            <a:ext cx="2786825" cy="7112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950" b="0">
                <a:solidFill>
                  <a:srgbClr val="2A241B">
                    <a:alpha val="0"/>
                  </a:srgbClr>
                </a:solidFill>
                <a:latin typeface="Cormorant Garamond"/>
                <a:ea typeface="Cormorant Garamond"/>
                <a:cs typeface="Cormorant Garamond"/>
              </a:defRPr>
            </a:pPr>
            <a:r>
              <a:rPr sz="4950" b="0">
                <a:solidFill>
                  <a:srgbClr val="2A241B">
                    <a:alpha val="0"/>
                  </a:srgbClr>
                </a:solidFill>
                <a:latin typeface="Cormorant Garamond"/>
                <a:ea typeface="Cormorant Garamond"/>
                <a:cs typeface="Cormorant Garamond"/>
              </a:rPr>
              <a:t>From insight</a:t>
            </a:r>
          </a:p>
        </p:txBody>
      </p:sp>
      <p:sp>
        <p:nvSpPr>
          <p:cNvPr id="5" name="editable-text-11-04">
            <a:extLst xmlns:a="http://schemas.openxmlformats.org/drawingml/2006/main">
              <a:ext uri="{FF2B5EF4-FFF2-40B4-BE49-F238E27FC236}">
                <a16:creationId xmlns:a16="http://schemas.microsoft.com/office/drawing/2014/main" id="{2BE2D035-49BF-457F-B8E5-C53E828313BE}"/>
              </a:ext>
            </a:extLst>
          </p:cNvPr>
          <p:cNvSpPr>
            <a:spLocks xmlns:a="http://schemas.openxmlformats.org/drawingml/2006/main" noGrp="1"/>
          </p:cNvSpPr>
          <p:nvPr/>
        </p:nvSpPr>
        <p:spPr>
          <a:xfrm xmlns:a="http://schemas.openxmlformats.org/drawingml/2006/main">
            <a:off x="507968" y="1338263"/>
            <a:ext cx="3983260" cy="71123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950" b="0">
                <a:solidFill>
                  <a:srgbClr val="2A241B">
                    <a:alpha val="0"/>
                  </a:srgbClr>
                </a:solidFill>
                <a:latin typeface="Cormorant Garamond"/>
                <a:ea typeface="Cormorant Garamond"/>
                <a:cs typeface="Cormorant Garamond"/>
              </a:defRPr>
            </a:pPr>
            <a:r>
              <a:rPr sz="4950" b="0">
                <a:solidFill>
                  <a:srgbClr val="2A241B">
                    <a:alpha val="0"/>
                  </a:srgbClr>
                </a:solidFill>
                <a:latin typeface="Cormorant Garamond"/>
                <a:ea typeface="Cormorant Garamond"/>
                <a:cs typeface="Cormorant Garamond"/>
              </a:rPr>
              <a:t>to shipped change.</a:t>
            </a:r>
          </a:p>
        </p:txBody>
      </p:sp>
      <p:sp>
        <p:nvSpPr>
          <p:cNvPr id="6" name="editable-text-11-05">
            <a:extLst xmlns:a="http://schemas.openxmlformats.org/drawingml/2006/main">
              <a:ext uri="{FF2B5EF4-FFF2-40B4-BE49-F238E27FC236}">
                <a16:creationId xmlns:a16="http://schemas.microsoft.com/office/drawing/2014/main" id="{0683CF47-96C6-42AD-8CBB-FD81F2BB8E2F}"/>
              </a:ext>
            </a:extLst>
          </p:cNvPr>
          <p:cNvSpPr>
            <a:spLocks xmlns:a="http://schemas.openxmlformats.org/drawingml/2006/main" noGrp="1"/>
          </p:cNvSpPr>
          <p:nvPr/>
        </p:nvSpPr>
        <p:spPr>
          <a:xfrm xmlns:a="http://schemas.openxmlformats.org/drawingml/2006/main">
            <a:off x="10135648" y="1187482"/>
            <a:ext cx="1586389" cy="43738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 five-step path each pilot follows, end to end, before it is allowed to graduate to the default experience.</a:t>
            </a:r>
          </a:p>
        </p:txBody>
      </p:sp>
      <p:sp>
        <p:nvSpPr>
          <p:cNvPr id="7" name="editable-text-11-06">
            <a:extLst xmlns:a="http://schemas.openxmlformats.org/drawingml/2006/main">
              <a:ext uri="{FF2B5EF4-FFF2-40B4-BE49-F238E27FC236}">
                <a16:creationId xmlns:a16="http://schemas.microsoft.com/office/drawing/2014/main" id="{3ACAD629-CB8C-464F-B09A-4B75BA53D46D}"/>
              </a:ext>
            </a:extLst>
          </p:cNvPr>
          <p:cNvSpPr>
            <a:spLocks xmlns:a="http://schemas.openxmlformats.org/drawingml/2006/main" noGrp="1"/>
          </p:cNvSpPr>
          <p:nvPr/>
        </p:nvSpPr>
        <p:spPr>
          <a:xfrm xmlns:a="http://schemas.openxmlformats.org/drawingml/2006/main">
            <a:off x="660368" y="2197132"/>
            <a:ext cx="8591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a:t>
            </a:r>
          </a:p>
        </p:txBody>
      </p:sp>
      <p:sp>
        <p:nvSpPr>
          <p:cNvPr id="8" name="editable-text-11-07">
            <a:extLst xmlns:a="http://schemas.openxmlformats.org/drawingml/2006/main">
              <a:ext uri="{FF2B5EF4-FFF2-40B4-BE49-F238E27FC236}">
                <a16:creationId xmlns:a16="http://schemas.microsoft.com/office/drawing/2014/main" id="{1B614632-814B-4746-9775-9C6BEDB310C0}"/>
              </a:ext>
            </a:extLst>
          </p:cNvPr>
          <p:cNvSpPr>
            <a:spLocks xmlns:a="http://schemas.openxmlformats.org/drawingml/2006/main" noGrp="1"/>
          </p:cNvSpPr>
          <p:nvPr/>
        </p:nvSpPr>
        <p:spPr>
          <a:xfrm xmlns:a="http://schemas.openxmlformats.org/drawingml/2006/main">
            <a:off x="660368" y="2371344"/>
            <a:ext cx="539115"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Frame</a:t>
            </a:r>
          </a:p>
        </p:txBody>
      </p:sp>
      <p:sp>
        <p:nvSpPr>
          <p:cNvPr id="9" name="editable-text-11-08">
            <a:extLst xmlns:a="http://schemas.openxmlformats.org/drawingml/2006/main">
              <a:ext uri="{FF2B5EF4-FFF2-40B4-BE49-F238E27FC236}">
                <a16:creationId xmlns:a16="http://schemas.microsoft.com/office/drawing/2014/main" id="{73FD9EFE-AD86-44A2-A350-7AE48AE2C9D0}"/>
              </a:ext>
            </a:extLst>
          </p:cNvPr>
          <p:cNvSpPr>
            <a:spLocks xmlns:a="http://schemas.openxmlformats.org/drawingml/2006/main" noGrp="1"/>
          </p:cNvSpPr>
          <p:nvPr/>
        </p:nvSpPr>
        <p:spPr>
          <a:xfrm xmlns:a="http://schemas.openxmlformats.org/drawingml/2006/main">
            <a:off x="660368" y="2680145"/>
            <a:ext cx="1797558"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Translate the insight into a single behavioural hypothesis we can falsify.</a:t>
            </a:r>
          </a:p>
        </p:txBody>
      </p:sp>
      <p:sp>
        <p:nvSpPr>
          <p:cNvPr id="10" name="editable-text-11-09">
            <a:extLst xmlns:a="http://schemas.openxmlformats.org/drawingml/2006/main">
              <a:ext uri="{FF2B5EF4-FFF2-40B4-BE49-F238E27FC236}">
                <a16:creationId xmlns:a16="http://schemas.microsoft.com/office/drawing/2014/main" id="{6631C181-78F2-4BD2-ABB7-FC20762168FC}"/>
              </a:ext>
            </a:extLst>
          </p:cNvPr>
          <p:cNvSpPr>
            <a:spLocks xmlns:a="http://schemas.openxmlformats.org/drawingml/2006/main" noGrp="1"/>
          </p:cNvSpPr>
          <p:nvPr/>
        </p:nvSpPr>
        <p:spPr>
          <a:xfrm xmlns:a="http://schemas.openxmlformats.org/drawingml/2006/main">
            <a:off x="2926080" y="2197132"/>
            <a:ext cx="11363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ii.</a:t>
            </a:r>
          </a:p>
        </p:txBody>
      </p:sp>
      <p:sp>
        <p:nvSpPr>
          <p:cNvPr id="11" name="editable-text-11-10">
            <a:extLst xmlns:a="http://schemas.openxmlformats.org/drawingml/2006/main">
              <a:ext uri="{FF2B5EF4-FFF2-40B4-BE49-F238E27FC236}">
                <a16:creationId xmlns:a16="http://schemas.microsoft.com/office/drawing/2014/main" id="{13F6A46D-B70E-41C5-B161-349EB3A961DF}"/>
              </a:ext>
            </a:extLst>
          </p:cNvPr>
          <p:cNvSpPr>
            <a:spLocks xmlns:a="http://schemas.openxmlformats.org/drawingml/2006/main" noGrp="1"/>
          </p:cNvSpPr>
          <p:nvPr/>
        </p:nvSpPr>
        <p:spPr>
          <a:xfrm xmlns:a="http://schemas.openxmlformats.org/drawingml/2006/main">
            <a:off x="2926080" y="2371344"/>
            <a:ext cx="582644"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Design</a:t>
            </a:r>
          </a:p>
        </p:txBody>
      </p:sp>
      <p:sp>
        <p:nvSpPr>
          <p:cNvPr id="12" name="editable-text-11-11">
            <a:extLst xmlns:a="http://schemas.openxmlformats.org/drawingml/2006/main">
              <a:ext uri="{FF2B5EF4-FFF2-40B4-BE49-F238E27FC236}">
                <a16:creationId xmlns:a16="http://schemas.microsoft.com/office/drawing/2014/main" id="{A54238BF-06C6-41E5-AF42-770BFF7A7025}"/>
              </a:ext>
            </a:extLst>
          </p:cNvPr>
          <p:cNvSpPr>
            <a:spLocks xmlns:a="http://schemas.openxmlformats.org/drawingml/2006/main" noGrp="1"/>
          </p:cNvSpPr>
          <p:nvPr/>
        </p:nvSpPr>
        <p:spPr>
          <a:xfrm xmlns:a="http://schemas.openxmlformats.org/drawingml/2006/main">
            <a:off x="2926080" y="2680145"/>
            <a:ext cx="1701641"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Sketch the smallest end-to-end change that lets the hypothesis be tested in one sprint.</a:t>
            </a:r>
          </a:p>
        </p:txBody>
      </p:sp>
      <p:sp>
        <p:nvSpPr>
          <p:cNvPr id="13" name="editable-text-11-12">
            <a:extLst xmlns:a="http://schemas.openxmlformats.org/drawingml/2006/main">
              <a:ext uri="{FF2B5EF4-FFF2-40B4-BE49-F238E27FC236}">
                <a16:creationId xmlns:a16="http://schemas.microsoft.com/office/drawing/2014/main" id="{2D9E5669-D5E8-48F3-B9A8-02CD9724E59A}"/>
              </a:ext>
            </a:extLst>
          </p:cNvPr>
          <p:cNvSpPr>
            <a:spLocks xmlns:a="http://schemas.openxmlformats.org/drawingml/2006/main" noGrp="1"/>
          </p:cNvSpPr>
          <p:nvPr/>
        </p:nvSpPr>
        <p:spPr>
          <a:xfrm xmlns:a="http://schemas.openxmlformats.org/drawingml/2006/main">
            <a:off x="5191696" y="2197132"/>
            <a:ext cx="141351"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iii.</a:t>
            </a:r>
          </a:p>
        </p:txBody>
      </p:sp>
      <p:sp>
        <p:nvSpPr>
          <p:cNvPr id="14" name="editable-text-11-13">
            <a:extLst xmlns:a="http://schemas.openxmlformats.org/drawingml/2006/main">
              <a:ext uri="{FF2B5EF4-FFF2-40B4-BE49-F238E27FC236}">
                <a16:creationId xmlns:a16="http://schemas.microsoft.com/office/drawing/2014/main" id="{B3950C44-7B0B-4390-8A60-94A769B888AC}"/>
              </a:ext>
            </a:extLst>
          </p:cNvPr>
          <p:cNvSpPr>
            <a:spLocks xmlns:a="http://schemas.openxmlformats.org/drawingml/2006/main" noGrp="1"/>
          </p:cNvSpPr>
          <p:nvPr/>
        </p:nvSpPr>
        <p:spPr>
          <a:xfrm xmlns:a="http://schemas.openxmlformats.org/drawingml/2006/main">
            <a:off x="5191696" y="2371344"/>
            <a:ext cx="423672"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Pilot</a:t>
            </a:r>
          </a:p>
        </p:txBody>
      </p:sp>
      <p:sp>
        <p:nvSpPr>
          <p:cNvPr id="15" name="editable-text-11-14">
            <a:extLst xmlns:a="http://schemas.openxmlformats.org/drawingml/2006/main">
              <a:ext uri="{FF2B5EF4-FFF2-40B4-BE49-F238E27FC236}">
                <a16:creationId xmlns:a16="http://schemas.microsoft.com/office/drawing/2014/main" id="{9E362C7E-675F-47CE-8F4E-51778E50811C}"/>
              </a:ext>
            </a:extLst>
          </p:cNvPr>
          <p:cNvSpPr>
            <a:spLocks xmlns:a="http://schemas.openxmlformats.org/drawingml/2006/main" noGrp="1"/>
          </p:cNvSpPr>
          <p:nvPr/>
        </p:nvSpPr>
        <p:spPr>
          <a:xfrm xmlns:a="http://schemas.openxmlformats.org/drawingml/2006/main">
            <a:off x="5191696" y="2680145"/>
            <a:ext cx="1761744"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Ship to a 50/50 holdout in a single segment. Hold the line for two full cycles.</a:t>
            </a:r>
          </a:p>
        </p:txBody>
      </p:sp>
      <p:sp>
        <p:nvSpPr>
          <p:cNvPr id="16" name="editable-text-11-15">
            <a:extLst xmlns:a="http://schemas.openxmlformats.org/drawingml/2006/main">
              <a:ext uri="{FF2B5EF4-FFF2-40B4-BE49-F238E27FC236}">
                <a16:creationId xmlns:a16="http://schemas.microsoft.com/office/drawing/2014/main" id="{4CED33F8-7225-4A40-8D54-D04225175C36}"/>
              </a:ext>
            </a:extLst>
          </p:cNvPr>
          <p:cNvSpPr>
            <a:spLocks xmlns:a="http://schemas.openxmlformats.org/drawingml/2006/main" noGrp="1"/>
          </p:cNvSpPr>
          <p:nvPr/>
        </p:nvSpPr>
        <p:spPr>
          <a:xfrm xmlns:a="http://schemas.openxmlformats.org/drawingml/2006/main">
            <a:off x="7457408" y="2197132"/>
            <a:ext cx="125254"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iv.</a:t>
            </a:r>
          </a:p>
        </p:txBody>
      </p:sp>
      <p:sp>
        <p:nvSpPr>
          <p:cNvPr id="17" name="editable-text-11-16">
            <a:extLst xmlns:a="http://schemas.openxmlformats.org/drawingml/2006/main">
              <a:ext uri="{FF2B5EF4-FFF2-40B4-BE49-F238E27FC236}">
                <a16:creationId xmlns:a16="http://schemas.microsoft.com/office/drawing/2014/main" id="{27585138-B4DB-4257-B791-05744876D352}"/>
              </a:ext>
            </a:extLst>
          </p:cNvPr>
          <p:cNvSpPr>
            <a:spLocks xmlns:a="http://schemas.openxmlformats.org/drawingml/2006/main" noGrp="1"/>
          </p:cNvSpPr>
          <p:nvPr/>
        </p:nvSpPr>
        <p:spPr>
          <a:xfrm xmlns:a="http://schemas.openxmlformats.org/drawingml/2006/main">
            <a:off x="7457408" y="2371344"/>
            <a:ext cx="444913"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Read</a:t>
            </a:r>
          </a:p>
        </p:txBody>
      </p:sp>
      <p:sp>
        <p:nvSpPr>
          <p:cNvPr id="18" name="editable-text-11-17">
            <a:extLst xmlns:a="http://schemas.openxmlformats.org/drawingml/2006/main">
              <a:ext uri="{FF2B5EF4-FFF2-40B4-BE49-F238E27FC236}">
                <a16:creationId xmlns:a16="http://schemas.microsoft.com/office/drawing/2014/main" id="{7154CD33-0578-463D-88D8-9A57A18437F7}"/>
              </a:ext>
            </a:extLst>
          </p:cNvPr>
          <p:cNvSpPr>
            <a:spLocks xmlns:a="http://schemas.openxmlformats.org/drawingml/2006/main" noGrp="1"/>
          </p:cNvSpPr>
          <p:nvPr/>
        </p:nvSpPr>
        <p:spPr>
          <a:xfrm xmlns:a="http://schemas.openxmlformats.org/drawingml/2006/main">
            <a:off x="7457408" y="2680145"/>
            <a:ext cx="1674400"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Review the cohort against pre-registered metrics. Decide kill, scale, or extend.</a:t>
            </a:r>
          </a:p>
        </p:txBody>
      </p:sp>
      <p:sp>
        <p:nvSpPr>
          <p:cNvPr id="19" name="editable-text-11-18">
            <a:extLst xmlns:a="http://schemas.openxmlformats.org/drawingml/2006/main">
              <a:ext uri="{FF2B5EF4-FFF2-40B4-BE49-F238E27FC236}">
                <a16:creationId xmlns:a16="http://schemas.microsoft.com/office/drawing/2014/main" id="{D1F98D21-5EC9-4F47-803C-46C591C5BD20}"/>
              </a:ext>
            </a:extLst>
          </p:cNvPr>
          <p:cNvSpPr>
            <a:spLocks xmlns:a="http://schemas.openxmlformats.org/drawingml/2006/main" noGrp="1"/>
          </p:cNvSpPr>
          <p:nvPr/>
        </p:nvSpPr>
        <p:spPr>
          <a:xfrm xmlns:a="http://schemas.openxmlformats.org/drawingml/2006/main">
            <a:off x="9723025" y="2197132"/>
            <a:ext cx="9753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v.</a:t>
            </a:r>
          </a:p>
        </p:txBody>
      </p:sp>
      <p:sp>
        <p:nvSpPr>
          <p:cNvPr id="20" name="editable-text-11-19">
            <a:extLst xmlns:a="http://schemas.openxmlformats.org/drawingml/2006/main">
              <a:ext uri="{FF2B5EF4-FFF2-40B4-BE49-F238E27FC236}">
                <a16:creationId xmlns:a16="http://schemas.microsoft.com/office/drawing/2014/main" id="{2EC3AE0A-5665-4025-BD01-BDE7FC50F848}"/>
              </a:ext>
            </a:extLst>
          </p:cNvPr>
          <p:cNvSpPr>
            <a:spLocks xmlns:a="http://schemas.openxmlformats.org/drawingml/2006/main" noGrp="1"/>
          </p:cNvSpPr>
          <p:nvPr/>
        </p:nvSpPr>
        <p:spPr>
          <a:xfrm xmlns:a="http://schemas.openxmlformats.org/drawingml/2006/main">
            <a:off x="9723025" y="2371344"/>
            <a:ext cx="632651" cy="2857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A241B">
                    <a:alpha val="0"/>
                  </a:srgbClr>
                </a:solidFill>
                <a:latin typeface="Cormorant Garamond"/>
                <a:ea typeface="Cormorant Garamond"/>
                <a:cs typeface="Cormorant Garamond"/>
              </a:defRPr>
            </a:pPr>
            <a:r>
              <a:rPr sz="1800" b="0">
                <a:solidFill>
                  <a:srgbClr val="2A241B">
                    <a:alpha val="0"/>
                  </a:srgbClr>
                </a:solidFill>
                <a:latin typeface="Cormorant Garamond"/>
                <a:ea typeface="Cormorant Garamond"/>
                <a:cs typeface="Cormorant Garamond"/>
              </a:rPr>
              <a:t>Default</a:t>
            </a:r>
          </a:p>
        </p:txBody>
      </p:sp>
      <p:sp>
        <p:nvSpPr>
          <p:cNvPr id="21" name="editable-text-11-20">
            <a:extLst xmlns:a="http://schemas.openxmlformats.org/drawingml/2006/main">
              <a:ext uri="{FF2B5EF4-FFF2-40B4-BE49-F238E27FC236}">
                <a16:creationId xmlns:a16="http://schemas.microsoft.com/office/drawing/2014/main" id="{A482D526-F3E9-421B-9016-335FAFE34026}"/>
              </a:ext>
            </a:extLst>
          </p:cNvPr>
          <p:cNvSpPr>
            <a:spLocks xmlns:a="http://schemas.openxmlformats.org/drawingml/2006/main" noGrp="1"/>
          </p:cNvSpPr>
          <p:nvPr/>
        </p:nvSpPr>
        <p:spPr>
          <a:xfrm xmlns:a="http://schemas.openxmlformats.org/drawingml/2006/main">
            <a:off x="9723025" y="2680145"/>
            <a:ext cx="1801940" cy="513969"/>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073" b="0">
                <a:solidFill>
                  <a:srgbClr val="5C5345">
                    <a:alpha val="0"/>
                  </a:srgbClr>
                </a:solidFill>
                <a:latin typeface="Work Sans"/>
                <a:ea typeface="Work Sans"/>
                <a:cs typeface="Work Sans"/>
              </a:defRPr>
            </a:pPr>
            <a:r>
              <a:rPr sz="1073" b="0">
                <a:solidFill>
                  <a:srgbClr val="5C5345">
                    <a:alpha val="0"/>
                  </a:srgbClr>
                </a:solidFill>
                <a:latin typeface="Work Sans"/>
                <a:ea typeface="Work Sans"/>
                <a:cs typeface="Work Sans"/>
              </a:rPr>
              <a:t>Graduate the change to the default surface. Retire the legacy path inside the same release.</a:t>
            </a:r>
          </a:p>
        </p:txBody>
      </p:sp>
      <p:sp>
        <p:nvSpPr>
          <p:cNvPr id="22" name="editable-text-11-21">
            <a:extLst xmlns:a="http://schemas.openxmlformats.org/drawingml/2006/main">
              <a:ext uri="{FF2B5EF4-FFF2-40B4-BE49-F238E27FC236}">
                <a16:creationId xmlns:a16="http://schemas.microsoft.com/office/drawing/2014/main" id="{CC648563-01F9-4996-812C-6D2CD43618A0}"/>
              </a:ext>
            </a:extLst>
          </p:cNvPr>
          <p:cNvSpPr>
            <a:spLocks xmlns:a="http://schemas.openxmlformats.org/drawingml/2006/main" noGrp="1"/>
          </p:cNvSpPr>
          <p:nvPr/>
        </p:nvSpPr>
        <p:spPr>
          <a:xfrm xmlns:a="http://schemas.openxmlformats.org/drawingml/2006/main">
            <a:off x="685800" y="5621560"/>
            <a:ext cx="315182"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Week 1</a:t>
            </a:r>
          </a:p>
        </p:txBody>
      </p:sp>
      <p:sp>
        <p:nvSpPr>
          <p:cNvPr id="23" name="editable-text-11-22">
            <a:extLst xmlns:a="http://schemas.openxmlformats.org/drawingml/2006/main">
              <a:ext uri="{FF2B5EF4-FFF2-40B4-BE49-F238E27FC236}">
                <a16:creationId xmlns:a16="http://schemas.microsoft.com/office/drawing/2014/main" id="{6BC1E708-E8F4-4C2C-AE49-540E80BB4BD2}"/>
              </a:ext>
            </a:extLst>
          </p:cNvPr>
          <p:cNvSpPr>
            <a:spLocks xmlns:a="http://schemas.openxmlformats.org/drawingml/2006/main" noGrp="1"/>
          </p:cNvSpPr>
          <p:nvPr/>
        </p:nvSpPr>
        <p:spPr>
          <a:xfrm xmlns:a="http://schemas.openxmlformats.org/drawingml/2006/main">
            <a:off x="3246977" y="5621560"/>
            <a:ext cx="448437"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Weeks 2–3</a:t>
            </a:r>
          </a:p>
        </p:txBody>
      </p:sp>
      <p:sp>
        <p:nvSpPr>
          <p:cNvPr id="24" name="editable-text-11-23">
            <a:extLst xmlns:a="http://schemas.openxmlformats.org/drawingml/2006/main">
              <a:ext uri="{FF2B5EF4-FFF2-40B4-BE49-F238E27FC236}">
                <a16:creationId xmlns:a16="http://schemas.microsoft.com/office/drawing/2014/main" id="{A8723949-0291-4DF8-9323-20B5AF05BC40}"/>
              </a:ext>
            </a:extLst>
          </p:cNvPr>
          <p:cNvSpPr>
            <a:spLocks xmlns:a="http://schemas.openxmlformats.org/drawingml/2006/main" noGrp="1"/>
          </p:cNvSpPr>
          <p:nvPr/>
        </p:nvSpPr>
        <p:spPr>
          <a:xfrm xmlns:a="http://schemas.openxmlformats.org/drawingml/2006/main">
            <a:off x="5941314" y="5621560"/>
            <a:ext cx="454914"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Weeks 3–6</a:t>
            </a:r>
          </a:p>
        </p:txBody>
      </p:sp>
      <p:sp>
        <p:nvSpPr>
          <p:cNvPr id="25" name="editable-text-11-24">
            <a:extLst xmlns:a="http://schemas.openxmlformats.org/drawingml/2006/main">
              <a:ext uri="{FF2B5EF4-FFF2-40B4-BE49-F238E27FC236}">
                <a16:creationId xmlns:a16="http://schemas.microsoft.com/office/drawing/2014/main" id="{3FE19DC1-70AB-4288-8F7F-4E225E47F6D7}"/>
              </a:ext>
            </a:extLst>
          </p:cNvPr>
          <p:cNvSpPr>
            <a:spLocks xmlns:a="http://schemas.openxmlformats.org/drawingml/2006/main" noGrp="1"/>
          </p:cNvSpPr>
          <p:nvPr/>
        </p:nvSpPr>
        <p:spPr>
          <a:xfrm xmlns:a="http://schemas.openxmlformats.org/drawingml/2006/main">
            <a:off x="8642128" y="5621560"/>
            <a:ext cx="32508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Week 7</a:t>
            </a:r>
          </a:p>
        </p:txBody>
      </p:sp>
      <p:sp>
        <p:nvSpPr>
          <p:cNvPr id="26" name="editable-text-11-25">
            <a:extLst xmlns:a="http://schemas.openxmlformats.org/drawingml/2006/main">
              <a:ext uri="{FF2B5EF4-FFF2-40B4-BE49-F238E27FC236}">
                <a16:creationId xmlns:a16="http://schemas.microsoft.com/office/drawing/2014/main" id="{D554142A-48B5-417C-9802-C96CED06BCF6}"/>
              </a:ext>
            </a:extLst>
          </p:cNvPr>
          <p:cNvSpPr>
            <a:spLocks xmlns:a="http://schemas.openxmlformats.org/drawingml/2006/main" noGrp="1"/>
          </p:cNvSpPr>
          <p:nvPr/>
        </p:nvSpPr>
        <p:spPr>
          <a:xfrm xmlns:a="http://schemas.openxmlformats.org/drawingml/2006/main">
            <a:off x="11213116" y="5621560"/>
            <a:ext cx="331184"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Week 8</a:t>
            </a:r>
          </a:p>
        </p:txBody>
      </p:sp>
      <p:sp>
        <p:nvSpPr>
          <p:cNvPr id="27" name="editable-text-11-26">
            <a:extLst xmlns:a="http://schemas.openxmlformats.org/drawingml/2006/main">
              <a:ext uri="{FF2B5EF4-FFF2-40B4-BE49-F238E27FC236}">
                <a16:creationId xmlns:a16="http://schemas.microsoft.com/office/drawing/2014/main" id="{29559019-F96A-447A-B7F8-8E29517F4385}"/>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28" name="editable-text-11-27">
            <a:extLst xmlns:a="http://schemas.openxmlformats.org/drawingml/2006/main">
              <a:ext uri="{FF2B5EF4-FFF2-40B4-BE49-F238E27FC236}">
                <a16:creationId xmlns:a16="http://schemas.microsoft.com/office/drawing/2014/main" id="{65EE9809-6656-45C1-9D26-280A2779FC3A}"/>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9672453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599ba958c969455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editable-text-12-01">
            <a:extLst xmlns:a="http://schemas.openxmlformats.org/drawingml/2006/main">
              <a:ext uri="{FF2B5EF4-FFF2-40B4-BE49-F238E27FC236}">
                <a16:creationId xmlns:a16="http://schemas.microsoft.com/office/drawing/2014/main" id="{0A4CB57B-42EB-4B43-972E-58E4545C7AE6}"/>
              </a:ext>
            </a:extLst>
          </p:cNvPr>
          <p:cNvSpPr>
            <a:spLocks xmlns:a="http://schemas.openxmlformats.org/drawingml/2006/main" noGrp="1"/>
          </p:cNvSpPr>
          <p:nvPr/>
        </p:nvSpPr>
        <p:spPr>
          <a:xfrm xmlns:a="http://schemas.openxmlformats.org/drawingml/2006/main">
            <a:off x="507968" y="387382"/>
            <a:ext cx="1460278" cy="158782"/>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Work Sans"/>
                <a:ea typeface="Work Sans"/>
                <a:cs typeface="Work Sans"/>
              </a:defRPr>
            </a:pPr>
            <a:r>
              <a:rPr sz="900" b="0">
                <a:solidFill>
                  <a:srgbClr val="2A241B">
                    <a:alpha val="0"/>
                  </a:srgbClr>
                </a:solidFill>
                <a:latin typeface="Work Sans"/>
                <a:ea typeface="Work Sans"/>
                <a:cs typeface="Work Sans"/>
              </a:rPr>
              <a:t>The three pilots, side by side</a:t>
            </a:r>
          </a:p>
        </p:txBody>
      </p:sp>
      <p:sp>
        <p:nvSpPr>
          <p:cNvPr id="3" name="editable-text-12-02">
            <a:extLst xmlns:a="http://schemas.openxmlformats.org/drawingml/2006/main">
              <a:ext uri="{FF2B5EF4-FFF2-40B4-BE49-F238E27FC236}">
                <a16:creationId xmlns:a16="http://schemas.microsoft.com/office/drawing/2014/main" id="{F4B33F52-1BBA-4EF8-B5FC-808AE1EFB10F}"/>
              </a:ext>
            </a:extLst>
          </p:cNvPr>
          <p:cNvSpPr>
            <a:spLocks xmlns:a="http://schemas.openxmlformats.org/drawingml/2006/main" noGrp="1"/>
          </p:cNvSpPr>
          <p:nvPr/>
        </p:nvSpPr>
        <p:spPr>
          <a:xfrm xmlns:a="http://schemas.openxmlformats.org/drawingml/2006/main">
            <a:off x="11583924" y="381000"/>
            <a:ext cx="13820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xii</a:t>
            </a:r>
          </a:p>
        </p:txBody>
      </p:sp>
      <p:sp>
        <p:nvSpPr>
          <p:cNvPr id="4" name="editable-text-12-03">
            <a:extLst xmlns:a="http://schemas.openxmlformats.org/drawingml/2006/main">
              <a:ext uri="{FF2B5EF4-FFF2-40B4-BE49-F238E27FC236}">
                <a16:creationId xmlns:a16="http://schemas.microsoft.com/office/drawing/2014/main" id="{64AB4B31-7BA0-4580-9D95-D249AF7D6070}"/>
              </a:ext>
            </a:extLst>
          </p:cNvPr>
          <p:cNvSpPr>
            <a:spLocks xmlns:a="http://schemas.openxmlformats.org/drawingml/2006/main" noGrp="1"/>
          </p:cNvSpPr>
          <p:nvPr/>
        </p:nvSpPr>
        <p:spPr>
          <a:xfrm xmlns:a="http://schemas.openxmlformats.org/drawingml/2006/main">
            <a:off x="507968" y="774668"/>
            <a:ext cx="3184588" cy="6222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0">
                <a:solidFill>
                  <a:srgbClr val="2A241B">
                    <a:alpha val="0"/>
                  </a:srgbClr>
                </a:solidFill>
                <a:latin typeface="Cormorant Garamond"/>
                <a:ea typeface="Cormorant Garamond"/>
                <a:cs typeface="Cormorant Garamond"/>
              </a:defRPr>
            </a:pPr>
            <a:r>
              <a:rPr sz="4275" b="0">
                <a:solidFill>
                  <a:srgbClr val="2A241B">
                    <a:alpha val="0"/>
                  </a:srgbClr>
                </a:solidFill>
                <a:latin typeface="Cormorant Garamond"/>
                <a:ea typeface="Cormorant Garamond"/>
                <a:cs typeface="Cormorant Garamond"/>
              </a:rPr>
              <a:t>Where each pilot</a:t>
            </a:r>
          </a:p>
        </p:txBody>
      </p:sp>
      <p:sp>
        <p:nvSpPr>
          <p:cNvPr id="5" name="editable-text-12-04">
            <a:extLst xmlns:a="http://schemas.openxmlformats.org/drawingml/2006/main">
              <a:ext uri="{FF2B5EF4-FFF2-40B4-BE49-F238E27FC236}">
                <a16:creationId xmlns:a16="http://schemas.microsoft.com/office/drawing/2014/main" id="{20654A27-5654-482C-A6F4-6FB4608B3FDC}"/>
              </a:ext>
            </a:extLst>
          </p:cNvPr>
          <p:cNvSpPr>
            <a:spLocks xmlns:a="http://schemas.openxmlformats.org/drawingml/2006/main" noGrp="1"/>
          </p:cNvSpPr>
          <p:nvPr/>
        </p:nvSpPr>
        <p:spPr>
          <a:xfrm xmlns:a="http://schemas.openxmlformats.org/drawingml/2006/main">
            <a:off x="507968" y="1266920"/>
            <a:ext cx="2604516" cy="6222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4275" b="0">
                <a:solidFill>
                  <a:srgbClr val="2A241B">
                    <a:alpha val="0"/>
                  </a:srgbClr>
                </a:solidFill>
                <a:latin typeface="Cormorant Garamond"/>
                <a:ea typeface="Cormorant Garamond"/>
                <a:cs typeface="Cormorant Garamond"/>
              </a:defRPr>
            </a:pPr>
            <a:r>
              <a:rPr sz="4275" b="0">
                <a:solidFill>
                  <a:srgbClr val="2A241B">
                    <a:alpha val="0"/>
                  </a:srgbClr>
                </a:solidFill>
                <a:latin typeface="Cormorant Garamond"/>
                <a:ea typeface="Cormorant Garamond"/>
                <a:cs typeface="Cormorant Garamond"/>
              </a:rPr>
              <a:t>earns its keep.</a:t>
            </a:r>
          </a:p>
        </p:txBody>
      </p:sp>
      <p:sp>
        <p:nvSpPr>
          <p:cNvPr id="6" name="editable-text-12-05">
            <a:extLst xmlns:a="http://schemas.openxmlformats.org/drawingml/2006/main">
              <a:ext uri="{FF2B5EF4-FFF2-40B4-BE49-F238E27FC236}">
                <a16:creationId xmlns:a16="http://schemas.microsoft.com/office/drawing/2014/main" id="{BBA7A3FC-B68D-4E9B-A214-9FA628FB9248}"/>
              </a:ext>
            </a:extLst>
          </p:cNvPr>
          <p:cNvSpPr>
            <a:spLocks xmlns:a="http://schemas.openxmlformats.org/drawingml/2006/main" noGrp="1"/>
          </p:cNvSpPr>
          <p:nvPr/>
        </p:nvSpPr>
        <p:spPr>
          <a:xfrm xmlns:a="http://schemas.openxmlformats.org/drawingml/2006/main">
            <a:off x="9995535" y="876300"/>
            <a:ext cx="1726597" cy="43738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Scored against the four levers that matter most this cycle. We will only carry forward bets that win on at least two.</a:t>
            </a:r>
          </a:p>
        </p:txBody>
      </p:sp>
      <p:sp>
        <p:nvSpPr>
          <p:cNvPr id="7" name="editable-text-12-06">
            <a:extLst xmlns:a="http://schemas.openxmlformats.org/drawingml/2006/main">
              <a:ext uri="{FF2B5EF4-FFF2-40B4-BE49-F238E27FC236}">
                <a16:creationId xmlns:a16="http://schemas.microsoft.com/office/drawing/2014/main" id="{B67412CE-6F67-4514-A1CC-3CB1E24D46D8}"/>
              </a:ext>
            </a:extLst>
          </p:cNvPr>
          <p:cNvSpPr>
            <a:spLocks xmlns:a="http://schemas.openxmlformats.org/drawingml/2006/main" noGrp="1"/>
          </p:cNvSpPr>
          <p:nvPr/>
        </p:nvSpPr>
        <p:spPr>
          <a:xfrm xmlns:a="http://schemas.openxmlformats.org/drawingml/2006/main">
            <a:off x="711232" y="2401348"/>
            <a:ext cx="25631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Lever</a:t>
            </a:r>
          </a:p>
        </p:txBody>
      </p:sp>
      <p:sp>
        <p:nvSpPr>
          <p:cNvPr id="8" name="editable-text-12-07">
            <a:extLst xmlns:a="http://schemas.openxmlformats.org/drawingml/2006/main">
              <a:ext uri="{FF2B5EF4-FFF2-40B4-BE49-F238E27FC236}">
                <a16:creationId xmlns:a16="http://schemas.microsoft.com/office/drawing/2014/main" id="{52C38EDF-9FF7-4915-90E8-501672BF0D58}"/>
              </a:ext>
            </a:extLst>
          </p:cNvPr>
          <p:cNvSpPr>
            <a:spLocks xmlns:a="http://schemas.openxmlformats.org/drawingml/2006/main" noGrp="1"/>
          </p:cNvSpPr>
          <p:nvPr/>
        </p:nvSpPr>
        <p:spPr>
          <a:xfrm xmlns:a="http://schemas.openxmlformats.org/drawingml/2006/main">
            <a:off x="4234815" y="2401348"/>
            <a:ext cx="72323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Rewrite welcome</a:t>
            </a:r>
          </a:p>
        </p:txBody>
      </p:sp>
      <p:sp>
        <p:nvSpPr>
          <p:cNvPr id="9" name="editable-text-12-08">
            <a:extLst xmlns:a="http://schemas.openxmlformats.org/drawingml/2006/main">
              <a:ext uri="{FF2B5EF4-FFF2-40B4-BE49-F238E27FC236}">
                <a16:creationId xmlns:a16="http://schemas.microsoft.com/office/drawing/2014/main" id="{2A77E7E9-4859-4B38-9FE0-6A5B6FF0C100}"/>
              </a:ext>
            </a:extLst>
          </p:cNvPr>
          <p:cNvSpPr>
            <a:spLocks xmlns:a="http://schemas.openxmlformats.org/drawingml/2006/main" noGrp="1"/>
          </p:cNvSpPr>
          <p:nvPr/>
        </p:nvSpPr>
        <p:spPr>
          <a:xfrm xmlns:a="http://schemas.openxmlformats.org/drawingml/2006/main">
            <a:off x="6751701" y="2401348"/>
            <a:ext cx="64617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Quiet upgrades</a:t>
            </a:r>
          </a:p>
        </p:txBody>
      </p:sp>
      <p:sp>
        <p:nvSpPr>
          <p:cNvPr id="10" name="editable-text-12-09">
            <a:extLst xmlns:a="http://schemas.openxmlformats.org/drawingml/2006/main">
              <a:ext uri="{FF2B5EF4-FFF2-40B4-BE49-F238E27FC236}">
                <a16:creationId xmlns:a16="http://schemas.microsoft.com/office/drawing/2014/main" id="{1302D287-DA98-4161-8B3C-DE7EDF6750F7}"/>
              </a:ext>
            </a:extLst>
          </p:cNvPr>
          <p:cNvSpPr>
            <a:spLocks xmlns:a="http://schemas.openxmlformats.org/drawingml/2006/main" noGrp="1"/>
          </p:cNvSpPr>
          <p:nvPr/>
        </p:nvSpPr>
        <p:spPr>
          <a:xfrm xmlns:a="http://schemas.openxmlformats.org/drawingml/2006/main">
            <a:off x="9268587" y="2401348"/>
            <a:ext cx="658082"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Inbox-as-search</a:t>
            </a:r>
          </a:p>
        </p:txBody>
      </p:sp>
      <p:sp>
        <p:nvSpPr>
          <p:cNvPr id="11" name="editable-text-12-10">
            <a:extLst xmlns:a="http://schemas.openxmlformats.org/drawingml/2006/main">
              <a:ext uri="{FF2B5EF4-FFF2-40B4-BE49-F238E27FC236}">
                <a16:creationId xmlns:a16="http://schemas.microsoft.com/office/drawing/2014/main" id="{68090F96-E948-43DC-893E-7C437C624759}"/>
              </a:ext>
            </a:extLst>
          </p:cNvPr>
          <p:cNvSpPr>
            <a:spLocks xmlns:a="http://schemas.openxmlformats.org/drawingml/2006/main" noGrp="1"/>
          </p:cNvSpPr>
          <p:nvPr/>
        </p:nvSpPr>
        <p:spPr>
          <a:xfrm xmlns:a="http://schemas.openxmlformats.org/drawingml/2006/main">
            <a:off x="711232" y="3181160"/>
            <a:ext cx="675608"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Time-to-impact</a:t>
            </a:r>
          </a:p>
        </p:txBody>
      </p:sp>
      <p:sp>
        <p:nvSpPr>
          <p:cNvPr id="12" name="editable-text-12-11">
            <a:extLst xmlns:a="http://schemas.openxmlformats.org/drawingml/2006/main">
              <a:ext uri="{FF2B5EF4-FFF2-40B4-BE49-F238E27FC236}">
                <a16:creationId xmlns:a16="http://schemas.microsoft.com/office/drawing/2014/main" id="{20B66F37-FDEF-44E0-8264-4583E643E33C}"/>
              </a:ext>
            </a:extLst>
          </p:cNvPr>
          <p:cNvSpPr>
            <a:spLocks xmlns:a="http://schemas.openxmlformats.org/drawingml/2006/main" noGrp="1"/>
          </p:cNvSpPr>
          <p:nvPr/>
        </p:nvSpPr>
        <p:spPr>
          <a:xfrm xmlns:a="http://schemas.openxmlformats.org/drawingml/2006/main">
            <a:off x="4323779" y="3040380"/>
            <a:ext cx="723233"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 4 weeks</a:t>
            </a:r>
          </a:p>
        </p:txBody>
      </p:sp>
      <p:sp>
        <p:nvSpPr>
          <p:cNvPr id="13" name="editable-text-12-12">
            <a:extLst xmlns:a="http://schemas.openxmlformats.org/drawingml/2006/main">
              <a:ext uri="{FF2B5EF4-FFF2-40B4-BE49-F238E27FC236}">
                <a16:creationId xmlns:a16="http://schemas.microsoft.com/office/drawing/2014/main" id="{D18B7DF3-EE0E-4806-A9C0-69D2838E7134}"/>
              </a:ext>
            </a:extLst>
          </p:cNvPr>
          <p:cNvSpPr>
            <a:spLocks xmlns:a="http://schemas.openxmlformats.org/drawingml/2006/main" noGrp="1"/>
          </p:cNvSpPr>
          <p:nvPr/>
        </p:nvSpPr>
        <p:spPr>
          <a:xfrm xmlns:a="http://schemas.openxmlformats.org/drawingml/2006/main">
            <a:off x="6840664" y="3040380"/>
            <a:ext cx="766763"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6–8 weeks</a:t>
            </a:r>
          </a:p>
        </p:txBody>
      </p:sp>
      <p:sp>
        <p:nvSpPr>
          <p:cNvPr id="14" name="editable-text-12-13">
            <a:extLst xmlns:a="http://schemas.openxmlformats.org/drawingml/2006/main">
              <a:ext uri="{FF2B5EF4-FFF2-40B4-BE49-F238E27FC236}">
                <a16:creationId xmlns:a16="http://schemas.microsoft.com/office/drawing/2014/main" id="{01EE451F-7942-40B9-A308-4A783B540177}"/>
              </a:ext>
            </a:extLst>
          </p:cNvPr>
          <p:cNvSpPr>
            <a:spLocks xmlns:a="http://schemas.openxmlformats.org/drawingml/2006/main" noGrp="1"/>
          </p:cNvSpPr>
          <p:nvPr/>
        </p:nvSpPr>
        <p:spPr>
          <a:xfrm xmlns:a="http://schemas.openxmlformats.org/drawingml/2006/main">
            <a:off x="9357551" y="3040380"/>
            <a:ext cx="723233"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 4 weeks</a:t>
            </a:r>
          </a:p>
        </p:txBody>
      </p:sp>
      <p:sp>
        <p:nvSpPr>
          <p:cNvPr id="15" name="editable-text-12-14">
            <a:extLst xmlns:a="http://schemas.openxmlformats.org/drawingml/2006/main">
              <a:ext uri="{FF2B5EF4-FFF2-40B4-BE49-F238E27FC236}">
                <a16:creationId xmlns:a16="http://schemas.microsoft.com/office/drawing/2014/main" id="{19CF8130-9138-4070-A80A-EE86591C7F9F}"/>
              </a:ext>
            </a:extLst>
          </p:cNvPr>
          <p:cNvSpPr>
            <a:spLocks xmlns:a="http://schemas.openxmlformats.org/drawingml/2006/main" noGrp="1"/>
          </p:cNvSpPr>
          <p:nvPr/>
        </p:nvSpPr>
        <p:spPr>
          <a:xfrm xmlns:a="http://schemas.openxmlformats.org/drawingml/2006/main">
            <a:off x="711232" y="3960876"/>
            <a:ext cx="4354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Build cost</a:t>
            </a:r>
          </a:p>
        </p:txBody>
      </p:sp>
      <p:sp>
        <p:nvSpPr>
          <p:cNvPr id="16" name="editable-text-12-15">
            <a:extLst xmlns:a="http://schemas.openxmlformats.org/drawingml/2006/main">
              <a:ext uri="{FF2B5EF4-FFF2-40B4-BE49-F238E27FC236}">
                <a16:creationId xmlns:a16="http://schemas.microsoft.com/office/drawing/2014/main" id="{CCA48C49-D4E5-4C7D-B404-36248102EBE6}"/>
              </a:ext>
            </a:extLst>
          </p:cNvPr>
          <p:cNvSpPr>
            <a:spLocks xmlns:a="http://schemas.openxmlformats.org/drawingml/2006/main" noGrp="1"/>
          </p:cNvSpPr>
          <p:nvPr/>
        </p:nvSpPr>
        <p:spPr>
          <a:xfrm xmlns:a="http://schemas.openxmlformats.org/drawingml/2006/main">
            <a:off x="4323779" y="3820097"/>
            <a:ext cx="317659"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Low</a:t>
            </a:r>
          </a:p>
        </p:txBody>
      </p:sp>
      <p:sp>
        <p:nvSpPr>
          <p:cNvPr id="17" name="editable-text-12-16">
            <a:extLst xmlns:a="http://schemas.openxmlformats.org/drawingml/2006/main">
              <a:ext uri="{FF2B5EF4-FFF2-40B4-BE49-F238E27FC236}">
                <a16:creationId xmlns:a16="http://schemas.microsoft.com/office/drawing/2014/main" id="{3AE8B68F-2A22-4FE2-92AC-C9FD61AD749A}"/>
              </a:ext>
            </a:extLst>
          </p:cNvPr>
          <p:cNvSpPr>
            <a:spLocks xmlns:a="http://schemas.openxmlformats.org/drawingml/2006/main" noGrp="1"/>
          </p:cNvSpPr>
          <p:nvPr/>
        </p:nvSpPr>
        <p:spPr>
          <a:xfrm xmlns:a="http://schemas.openxmlformats.org/drawingml/2006/main">
            <a:off x="6840664" y="3820097"/>
            <a:ext cx="580168"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Medium</a:t>
            </a:r>
          </a:p>
        </p:txBody>
      </p:sp>
      <p:sp>
        <p:nvSpPr>
          <p:cNvPr id="18" name="editable-text-12-17">
            <a:extLst xmlns:a="http://schemas.openxmlformats.org/drawingml/2006/main">
              <a:ext uri="{FF2B5EF4-FFF2-40B4-BE49-F238E27FC236}">
                <a16:creationId xmlns:a16="http://schemas.microsoft.com/office/drawing/2014/main" id="{1E316D16-533C-42E6-AF9E-185274E8F0CD}"/>
              </a:ext>
            </a:extLst>
          </p:cNvPr>
          <p:cNvSpPr>
            <a:spLocks xmlns:a="http://schemas.openxmlformats.org/drawingml/2006/main" noGrp="1"/>
          </p:cNvSpPr>
          <p:nvPr/>
        </p:nvSpPr>
        <p:spPr>
          <a:xfrm xmlns:a="http://schemas.openxmlformats.org/drawingml/2006/main">
            <a:off x="9357551" y="3820097"/>
            <a:ext cx="317659"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Low</a:t>
            </a:r>
          </a:p>
        </p:txBody>
      </p:sp>
      <p:sp>
        <p:nvSpPr>
          <p:cNvPr id="19" name="editable-text-12-18">
            <a:extLst xmlns:a="http://schemas.openxmlformats.org/drawingml/2006/main">
              <a:ext uri="{FF2B5EF4-FFF2-40B4-BE49-F238E27FC236}">
                <a16:creationId xmlns:a16="http://schemas.microsoft.com/office/drawing/2014/main" id="{7FC4EB07-0DEF-45C0-9134-B5432BA12562}"/>
              </a:ext>
            </a:extLst>
          </p:cNvPr>
          <p:cNvSpPr>
            <a:spLocks xmlns:a="http://schemas.openxmlformats.org/drawingml/2006/main" noGrp="1"/>
          </p:cNvSpPr>
          <p:nvPr/>
        </p:nvSpPr>
        <p:spPr>
          <a:xfrm xmlns:a="http://schemas.openxmlformats.org/drawingml/2006/main">
            <a:off x="711232" y="4740688"/>
            <a:ext cx="914876"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Retention lift (model)</a:t>
            </a:r>
          </a:p>
        </p:txBody>
      </p:sp>
      <p:sp>
        <p:nvSpPr>
          <p:cNvPr id="20" name="editable-text-12-19">
            <a:extLst xmlns:a="http://schemas.openxmlformats.org/drawingml/2006/main">
              <a:ext uri="{FF2B5EF4-FFF2-40B4-BE49-F238E27FC236}">
                <a16:creationId xmlns:a16="http://schemas.microsoft.com/office/drawing/2014/main" id="{CEBD0FBC-0B03-4949-804F-90C5E5414278}"/>
              </a:ext>
            </a:extLst>
          </p:cNvPr>
          <p:cNvSpPr>
            <a:spLocks xmlns:a="http://schemas.openxmlformats.org/drawingml/2006/main" noGrp="1"/>
          </p:cNvSpPr>
          <p:nvPr/>
        </p:nvSpPr>
        <p:spPr>
          <a:xfrm xmlns:a="http://schemas.openxmlformats.org/drawingml/2006/main">
            <a:off x="4323779" y="4599908"/>
            <a:ext cx="864203"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+19 pts D90</a:t>
            </a:r>
          </a:p>
        </p:txBody>
      </p:sp>
      <p:sp>
        <p:nvSpPr>
          <p:cNvPr id="21" name="editable-text-12-20">
            <a:extLst xmlns:a="http://schemas.openxmlformats.org/drawingml/2006/main">
              <a:ext uri="{FF2B5EF4-FFF2-40B4-BE49-F238E27FC236}">
                <a16:creationId xmlns:a16="http://schemas.microsoft.com/office/drawing/2014/main" id="{0C9AB557-28B1-467B-811E-201C960E6BC8}"/>
              </a:ext>
            </a:extLst>
          </p:cNvPr>
          <p:cNvSpPr>
            <a:spLocks xmlns:a="http://schemas.openxmlformats.org/drawingml/2006/main" noGrp="1"/>
          </p:cNvSpPr>
          <p:nvPr/>
        </p:nvSpPr>
        <p:spPr>
          <a:xfrm xmlns:a="http://schemas.openxmlformats.org/drawingml/2006/main">
            <a:off x="6840664" y="4599908"/>
            <a:ext cx="779431"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+7 pts D90</a:t>
            </a:r>
          </a:p>
        </p:txBody>
      </p:sp>
      <p:sp>
        <p:nvSpPr>
          <p:cNvPr id="22" name="editable-text-12-21">
            <a:extLst xmlns:a="http://schemas.openxmlformats.org/drawingml/2006/main">
              <a:ext uri="{FF2B5EF4-FFF2-40B4-BE49-F238E27FC236}">
                <a16:creationId xmlns:a16="http://schemas.microsoft.com/office/drawing/2014/main" id="{B597C48A-B090-4041-9A55-EB7F4D9CE5FB}"/>
              </a:ext>
            </a:extLst>
          </p:cNvPr>
          <p:cNvSpPr>
            <a:spLocks xmlns:a="http://schemas.openxmlformats.org/drawingml/2006/main" noGrp="1"/>
          </p:cNvSpPr>
          <p:nvPr/>
        </p:nvSpPr>
        <p:spPr>
          <a:xfrm xmlns:a="http://schemas.openxmlformats.org/drawingml/2006/main">
            <a:off x="9357551" y="4599908"/>
            <a:ext cx="779431"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+5 pts D90</a:t>
            </a:r>
          </a:p>
        </p:txBody>
      </p:sp>
      <p:sp>
        <p:nvSpPr>
          <p:cNvPr id="23" name="editable-text-12-22">
            <a:extLst xmlns:a="http://schemas.openxmlformats.org/drawingml/2006/main">
              <a:ext uri="{FF2B5EF4-FFF2-40B4-BE49-F238E27FC236}">
                <a16:creationId xmlns:a16="http://schemas.microsoft.com/office/drawing/2014/main" id="{A45C9C8A-B1A6-488F-A111-F0ABD8908171}"/>
              </a:ext>
            </a:extLst>
          </p:cNvPr>
          <p:cNvSpPr>
            <a:spLocks xmlns:a="http://schemas.openxmlformats.org/drawingml/2006/main" noGrp="1"/>
          </p:cNvSpPr>
          <p:nvPr/>
        </p:nvSpPr>
        <p:spPr>
          <a:xfrm xmlns:a="http://schemas.openxmlformats.org/drawingml/2006/main">
            <a:off x="711232" y="5523738"/>
            <a:ext cx="820769"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A241B">
                    <a:alpha val="0"/>
                  </a:srgbClr>
                </a:solidFill>
                <a:latin typeface="Cormorant Garamond"/>
                <a:ea typeface="Cormorant Garamond"/>
                <a:cs typeface="Cormorant Garamond"/>
              </a:defRPr>
            </a:pPr>
            <a:r>
              <a:rPr sz="900" b="0">
                <a:solidFill>
                  <a:srgbClr val="2A241B">
                    <a:alpha val="0"/>
                  </a:srgbClr>
                </a:solidFill>
                <a:latin typeface="Cormorant Garamond"/>
                <a:ea typeface="Cormorant Garamond"/>
                <a:cs typeface="Cormorant Garamond"/>
              </a:rPr>
              <a:t>Risk to power users</a:t>
            </a:r>
          </a:p>
        </p:txBody>
      </p:sp>
      <p:sp>
        <p:nvSpPr>
          <p:cNvPr id="24" name="editable-text-12-23">
            <a:extLst xmlns:a="http://schemas.openxmlformats.org/drawingml/2006/main">
              <a:ext uri="{FF2B5EF4-FFF2-40B4-BE49-F238E27FC236}">
                <a16:creationId xmlns:a16="http://schemas.microsoft.com/office/drawing/2014/main" id="{96D2A211-0860-4825-9876-82E4672FFC3B}"/>
              </a:ext>
            </a:extLst>
          </p:cNvPr>
          <p:cNvSpPr>
            <a:spLocks xmlns:a="http://schemas.openxmlformats.org/drawingml/2006/main" noGrp="1"/>
          </p:cNvSpPr>
          <p:nvPr/>
        </p:nvSpPr>
        <p:spPr>
          <a:xfrm xmlns:a="http://schemas.openxmlformats.org/drawingml/2006/main">
            <a:off x="4323779" y="5379625"/>
            <a:ext cx="402431"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None</a:t>
            </a:r>
          </a:p>
        </p:txBody>
      </p:sp>
      <p:sp>
        <p:nvSpPr>
          <p:cNvPr id="25" name="editable-text-12-24">
            <a:extLst xmlns:a="http://schemas.openxmlformats.org/drawingml/2006/main">
              <a:ext uri="{FF2B5EF4-FFF2-40B4-BE49-F238E27FC236}">
                <a16:creationId xmlns:a16="http://schemas.microsoft.com/office/drawing/2014/main" id="{F1F4AA46-AD2A-48EA-A78D-25ED8BC5009E}"/>
              </a:ext>
            </a:extLst>
          </p:cNvPr>
          <p:cNvSpPr>
            <a:spLocks xmlns:a="http://schemas.openxmlformats.org/drawingml/2006/main" noGrp="1"/>
          </p:cNvSpPr>
          <p:nvPr/>
        </p:nvSpPr>
        <p:spPr>
          <a:xfrm xmlns:a="http://schemas.openxmlformats.org/drawingml/2006/main">
            <a:off x="6840664" y="5379625"/>
            <a:ext cx="580168" cy="209550"/>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A241B">
                    <a:alpha val="0"/>
                  </a:srgbClr>
                </a:solidFill>
                <a:latin typeface="Work Sans"/>
                <a:ea typeface="Work Sans"/>
                <a:cs typeface="Work Sans"/>
              </a:defRPr>
            </a:pPr>
            <a:r>
              <a:rPr sz="1350" b="0">
                <a:solidFill>
                  <a:srgbClr val="2A241B">
                    <a:alpha val="0"/>
                  </a:srgbClr>
                </a:solidFill>
                <a:latin typeface="Work Sans"/>
                <a:ea typeface="Work Sans"/>
                <a:cs typeface="Work Sans"/>
              </a:rPr>
              <a:t>Material</a:t>
            </a:r>
          </a:p>
        </p:txBody>
      </p:sp>
      <p:sp>
        <p:nvSpPr>
          <p:cNvPr id="26" name="editable-text-12-25">
            <a:extLst xmlns:a="http://schemas.openxmlformats.org/drawingml/2006/main">
              <a:ext uri="{FF2B5EF4-FFF2-40B4-BE49-F238E27FC236}">
                <a16:creationId xmlns:a16="http://schemas.microsoft.com/office/drawing/2014/main" id="{CBFBDA61-5474-4475-A59D-CB8FA98D0306}"/>
              </a:ext>
            </a:extLst>
          </p:cNvPr>
          <p:cNvSpPr>
            <a:spLocks xmlns:a="http://schemas.openxmlformats.org/drawingml/2006/main" noGrp="1"/>
          </p:cNvSpPr>
          <p:nvPr/>
        </p:nvSpPr>
        <p:spPr>
          <a:xfrm xmlns:a="http://schemas.openxmlformats.org/drawingml/2006/main">
            <a:off x="9363837" y="5379625"/>
            <a:ext cx="922306" cy="22221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5345">
                    <a:alpha val="0"/>
                  </a:srgbClr>
                </a:solidFill>
                <a:latin typeface="Cormorant Garamond"/>
                <a:ea typeface="Cormorant Garamond"/>
                <a:cs typeface="Cormorant Garamond"/>
              </a:defRPr>
            </a:pPr>
            <a:r>
              <a:rPr sz="1350" b="0">
                <a:solidFill>
                  <a:srgbClr val="5C5345">
                    <a:alpha val="0"/>
                  </a:srgbClr>
                </a:solidFill>
                <a:latin typeface="Cormorant Garamond"/>
                <a:ea typeface="Cormorant Garamond"/>
                <a:cs typeface="Cormorant Garamond"/>
              </a:rPr>
              <a:t>Soft, reversible</a:t>
            </a:r>
          </a:p>
        </p:txBody>
      </p:sp>
      <p:sp>
        <p:nvSpPr>
          <p:cNvPr id="27" name="editable-text-12-26">
            <a:extLst xmlns:a="http://schemas.openxmlformats.org/drawingml/2006/main">
              <a:ext uri="{FF2B5EF4-FFF2-40B4-BE49-F238E27FC236}">
                <a16:creationId xmlns:a16="http://schemas.microsoft.com/office/drawing/2014/main" id="{2BF2DABF-5479-4E7D-8167-0F5C2A7CDBF8}"/>
              </a:ext>
            </a:extLst>
          </p:cNvPr>
          <p:cNvSpPr>
            <a:spLocks xmlns:a="http://schemas.openxmlformats.org/drawingml/2006/main" noGrp="1"/>
          </p:cNvSpPr>
          <p:nvPr/>
        </p:nvSpPr>
        <p:spPr>
          <a:xfrm xmlns:a="http://schemas.openxmlformats.org/drawingml/2006/main">
            <a:off x="507968" y="6404420"/>
            <a:ext cx="58788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April 29, 2026</a:t>
            </a:r>
          </a:p>
        </p:txBody>
      </p:sp>
      <p:sp>
        <p:nvSpPr>
          <p:cNvPr id="28" name="editable-text-12-27">
            <a:extLst xmlns:a="http://schemas.openxmlformats.org/drawingml/2006/main">
              <a:ext uri="{FF2B5EF4-FFF2-40B4-BE49-F238E27FC236}">
                <a16:creationId xmlns:a16="http://schemas.microsoft.com/office/drawing/2014/main" id="{82A3D573-E179-476E-B6E9-0AC4C3D221E7}"/>
              </a:ext>
            </a:extLst>
          </p:cNvPr>
          <p:cNvSpPr>
            <a:spLocks xmlns:a="http://schemas.openxmlformats.org/drawingml/2006/main" noGrp="1"/>
          </p:cNvSpPr>
          <p:nvPr/>
        </p:nvSpPr>
        <p:spPr>
          <a:xfrm xmlns:a="http://schemas.openxmlformats.org/drawingml/2006/main">
            <a:off x="10880693" y="6404420"/>
            <a:ext cx="841343" cy="165068"/>
          </a:xfrm>
          <a:prstGeom xmlns:a="http://schemas.openxmlformats.org/drawingml/2006/main" prst="rect">
            <a:avLst/>
          </a:prstGeom>
          <a:ln xmlns:a="http://schemas.openxmlformats.org/drawingml/2006/main">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5345">
                    <a:alpha val="0"/>
                  </a:srgbClr>
                </a:solidFill>
                <a:latin typeface="Cormorant Garamond"/>
                <a:ea typeface="Cormorant Garamond"/>
                <a:cs typeface="Cormorant Garamond"/>
              </a:defRPr>
            </a:pPr>
            <a:r>
              <a:rPr sz="900" b="0">
                <a:solidFill>
                  <a:srgbClr val="5C5345">
                    <a:alpha val="0"/>
                  </a:srgbClr>
                </a:solidFill>
                <a:latin typeface="Cormorant Garamond"/>
                <a:ea typeface="Cormorant Garamond"/>
                <a:cs typeface="Cormorant Garamond"/>
              </a:rPr>
              <a:t>Field Notes · Vol. III</a:t>
            </a:r>
          </a:p>
        </p:txBody>
      </p:sp>
    </p:spTree>
    <p:extLst>
      <p:ext uri="{BB962C8B-B14F-4D97-AF65-F5344CB8AC3E}">
        <p14:creationId xmlns:p14="http://schemas.microsoft.com/office/powerpoint/2010/main" val="6791670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2026-06-08T04:06:39.3800000Z</dcterms:created>
  <dcterms:modified xsi:type="dcterms:W3CDTF">2026-06-08T04:06:39.3800000Z</dcterms:modified>
</coreProperties>
</file>